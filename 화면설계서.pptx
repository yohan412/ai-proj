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60" r:id="rId3"/>
    <p:sldId id="261" r:id="rId4"/>
    <p:sldId id="262" r:id="rId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903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900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45217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8938" y="2705100"/>
            <a:ext cx="13078462" cy="6057899"/>
          </a:xfrm>
          <a:prstGeom prst="rect">
            <a:avLst/>
          </a:prstGeom>
        </p:spPr>
      </p:pic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71500" y="419100"/>
          <a:ext cx="16979900" cy="1231900"/>
        </p:xfrm>
        <a:graphic>
          <a:graphicData uri="http://schemas.openxmlformats.org/drawingml/2006/table">
            <a:tbl>
              <a:tblGrid>
                <a:gridCol w="2616200"/>
                <a:gridCol w="5168900"/>
                <a:gridCol w="1447800"/>
                <a:gridCol w="3975100"/>
                <a:gridCol w="1790700"/>
                <a:gridCol w="1981200"/>
              </a:tblGrid>
              <a:tr h="609600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프로젝트명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AI-agent 와 RAG를 활용한 교육 영상 분석 및 학습 관리 플랫폼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메인 </a:t>
                      </a:r>
                      <a:r>
                        <a:rPr 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페이지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페이지</a:t>
                      </a: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#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en-US" alt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1</a:t>
                      </a:r>
                      <a:endParaRPr lang="en-US" altLang="ko-KR" sz="20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화면경로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 gridSpan="5"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메인 </a:t>
                      </a:r>
                      <a:r>
                        <a:rPr 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페이지</a:t>
                      </a:r>
                      <a:endParaRPr lang="ko-KR" sz="20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3792200" y="1968503"/>
          <a:ext cx="3780472" cy="7848981"/>
        </p:xfrm>
        <a:graphic>
          <a:graphicData uri="http://schemas.openxmlformats.org/drawingml/2006/table">
            <a:tbl>
              <a:tblGrid>
                <a:gridCol w="878291"/>
                <a:gridCol w="2902181"/>
              </a:tblGrid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Description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시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메뉴창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열기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787878"/>
                        </a:solidFill>
                        <a:latin typeface="S-Core Dream 5 Medium"/>
                      </a:endParaRPr>
                    </a:p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재클릭시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닫기</a:t>
                      </a:r>
                      <a:endParaRPr 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클릭시 열리는 사이드메뉴창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메인페이지로 이동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영상관리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페이지로이동</a:t>
                      </a:r>
                      <a:endParaRPr 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 시청 페이지로 이동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화원가입 팝업창 오픈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로그인 팝업창 오픈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8</a:t>
                      </a:r>
                      <a:endParaRPr lang="en-US" altLang="ko-KR" sz="1900" b="0" i="0" u="none" strike="noStrike">
                        <a:solidFill>
                          <a:srgbClr val="787878"/>
                        </a:solidFill>
                        <a:latin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스크롤이 아래로 내려가며 해당 서비스에 대한 설명란으로 이동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8" name="Group 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1" name="Group 11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7" name="Group 17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3" name="Group 23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6" name="Group 26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50708" y="3086100"/>
            <a:ext cx="2736691" cy="6234717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740571" y="3031066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②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178971" y="27051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①</a:t>
            </a:r>
            <a:endParaRPr 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569700" y="33274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③</a:t>
            </a:r>
            <a:endParaRPr 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798300" y="36195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④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11807371" y="3945466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⑤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2" name="TextBox 19"/>
          <p:cNvSpPr txBox="1"/>
          <p:nvPr/>
        </p:nvSpPr>
        <p:spPr>
          <a:xfrm>
            <a:off x="11658600" y="4250266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⑥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11506200" y="46101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⑦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4" name="TextBox 16"/>
          <p:cNvSpPr txBox="1"/>
          <p:nvPr/>
        </p:nvSpPr>
        <p:spPr>
          <a:xfrm>
            <a:off x="6244771" y="6155266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③</a:t>
            </a:r>
            <a:endParaRPr 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5" name="TextBox 16"/>
          <p:cNvSpPr txBox="1"/>
          <p:nvPr/>
        </p:nvSpPr>
        <p:spPr>
          <a:xfrm>
            <a:off x="6096000" y="78105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⑧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7777968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1390" y="2552700"/>
            <a:ext cx="12796010" cy="6057757"/>
          </a:xfrm>
          <a:prstGeom prst="rect">
            <a:avLst/>
          </a:prstGeom>
        </p:spPr>
      </p:pic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71500" y="419100"/>
          <a:ext cx="16979900" cy="1231900"/>
        </p:xfrm>
        <a:graphic>
          <a:graphicData uri="http://schemas.openxmlformats.org/drawingml/2006/table">
            <a:tbl>
              <a:tblGrid>
                <a:gridCol w="2616200"/>
                <a:gridCol w="5168900"/>
                <a:gridCol w="1447800"/>
                <a:gridCol w="3975100"/>
                <a:gridCol w="1790700"/>
                <a:gridCol w="1981200"/>
              </a:tblGrid>
              <a:tr h="609600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프로젝트명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AI-agent 와 RAG를 활용한 교육 영상 분석 및 학습 관리 플랫폼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영상관리</a:t>
                      </a:r>
                      <a:r>
                        <a:rPr lang="en-US" alt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분석</a:t>
                      </a:r>
                      <a:endParaRPr lang="ko-KR" sz="20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페이지</a:t>
                      </a: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#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en-US" alt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2</a:t>
                      </a:r>
                      <a:endParaRPr lang="en-US" altLang="ko-KR" sz="20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화면경로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 gridSpan="5"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영상관리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페이지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3792200" y="1968503"/>
          <a:ext cx="3780472" cy="7848981"/>
        </p:xfrm>
        <a:graphic>
          <a:graphicData uri="http://schemas.openxmlformats.org/drawingml/2006/table">
            <a:tbl>
              <a:tblGrid>
                <a:gridCol w="878291"/>
                <a:gridCol w="2902181"/>
              </a:tblGrid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Description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시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메뉴창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열기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787878"/>
                        </a:solidFill>
                        <a:latin typeface="S-Core Dream 5 Medium"/>
                      </a:endParaRPr>
                    </a:p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재클릭시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닫기</a:t>
                      </a:r>
                      <a:endParaRPr 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클릭시 업로드 영상 리스트 사이드창을 여는 버튼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클릭시 영상 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‘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열기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’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창 오픈 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-&gt;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영상 불러오기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 분석후 소주제 단위별 자동 구간 분류 기능 버튼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 저장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업로드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기능 버튼 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: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분류된 구간들에 대한 정보도 저장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분류된 구간 썸네일 리스트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클릭시 시점 이동기능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분류된 구간 리스트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주제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구간시점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요약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8</a:t>
                      </a:r>
                      <a:endParaRPr lang="en-US" altLang="ko-KR" sz="1900" b="0" i="0" u="none" strike="noStrike">
                        <a:solidFill>
                          <a:srgbClr val="787878"/>
                        </a:solidFill>
                        <a:latin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업로드 완료된 영상 리스트 사이드창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조회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검색기능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8" name="Group 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1" name="Group 11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7" name="Group 17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3" name="Group 23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6" name="Group 26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sp>
        <p:nvSpPr>
          <p:cNvPr id="7" name="TextBox 7"/>
          <p:cNvSpPr txBox="1"/>
          <p:nvPr/>
        </p:nvSpPr>
        <p:spPr>
          <a:xfrm>
            <a:off x="13178971" y="27051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①</a:t>
            </a:r>
            <a:endParaRPr 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418591" y="7353300"/>
            <a:ext cx="5430008" cy="118126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1707" y="3009900"/>
            <a:ext cx="2669692" cy="629658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62000" y="51435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②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492171" y="4963584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③</a:t>
            </a:r>
            <a:endParaRPr 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848600" y="3412066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④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8835571" y="33909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⑤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2" name="TextBox 19"/>
          <p:cNvSpPr txBox="1"/>
          <p:nvPr/>
        </p:nvSpPr>
        <p:spPr>
          <a:xfrm>
            <a:off x="4572000" y="77343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⑥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69266" y="3924300"/>
            <a:ext cx="3741734" cy="4648201"/>
          </a:xfrm>
          <a:prstGeom prst="rect">
            <a:avLst/>
          </a:prstGeom>
        </p:spPr>
      </p:pic>
      <p:sp>
        <p:nvSpPr>
          <p:cNvPr id="33" name="TextBox 19"/>
          <p:cNvSpPr txBox="1"/>
          <p:nvPr/>
        </p:nvSpPr>
        <p:spPr>
          <a:xfrm>
            <a:off x="9677400" y="53721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⑦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5" name="TextBox 16"/>
          <p:cNvSpPr txBox="1"/>
          <p:nvPr/>
        </p:nvSpPr>
        <p:spPr>
          <a:xfrm>
            <a:off x="2057400" y="3107266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⑧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68525601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5800" y="2590943"/>
            <a:ext cx="12774544" cy="6057757"/>
          </a:xfrm>
          <a:prstGeom prst="rect">
            <a:avLst/>
          </a:prstGeom>
        </p:spPr>
      </p:pic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71500" y="419100"/>
          <a:ext cx="16979900" cy="1231900"/>
        </p:xfrm>
        <a:graphic>
          <a:graphicData uri="http://schemas.openxmlformats.org/drawingml/2006/table">
            <a:tbl>
              <a:tblGrid>
                <a:gridCol w="2616200"/>
                <a:gridCol w="5168900"/>
                <a:gridCol w="1447800"/>
                <a:gridCol w="3975100"/>
                <a:gridCol w="1790700"/>
                <a:gridCol w="1981200"/>
              </a:tblGrid>
              <a:tr h="609600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프로젝트명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AI-agent 와 RAG를 활용한 교육 영상 분석 및 학습 관리 플랫폼</a:t>
                      </a:r>
                      <a:endParaRPr lang="en-US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설명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교육 영상 시청 및 학습</a:t>
                      </a:r>
                      <a:endParaRPr lang="ko-KR" altLang="en-US" sz="20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페이지</a:t>
                      </a: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#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en-US" altLang="ko-KR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3</a:t>
                      </a:r>
                      <a:endParaRPr lang="en-US" altLang="ko-KR" sz="20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sz="2000" b="0" i="0" u="none" strike="noStrike">
                          <a:solidFill>
                            <a:srgbClr val="595959"/>
                          </a:solidFill>
                          <a:ea typeface="S-Core Dream 5 Medium"/>
                        </a:rPr>
                        <a:t>화면경로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 gridSpan="5"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 </a:t>
                      </a:r>
                      <a:r>
                        <a:rPr lang="ko-KR" altLang="en-US" sz="20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 시청 페이지</a:t>
                      </a:r>
                      <a:endParaRPr lang="ko-KR" altLang="en-US" sz="20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anchor="t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3792200" y="1968503"/>
          <a:ext cx="3773891" cy="7910322"/>
        </p:xfrm>
        <a:graphic>
          <a:graphicData uri="http://schemas.openxmlformats.org/drawingml/2006/table">
            <a:tbl>
              <a:tblGrid>
                <a:gridCol w="878291"/>
                <a:gridCol w="2895600"/>
              </a:tblGrid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595959"/>
                          </a:solidFill>
                          <a:latin typeface="S-Core Dream 5 Medium"/>
                        </a:rPr>
                        <a:t>Description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2c2c2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시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메뉴창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열기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787878"/>
                        </a:solidFill>
                        <a:latin typeface="S-Core Dream 5 Medium"/>
                      </a:endParaRPr>
                    </a:p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재클릭시</a:t>
                      </a:r>
                      <a:r>
                        <a:rPr lang="en-US" sz="16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닫기</a:t>
                      </a:r>
                      <a:endParaRPr 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클릭시 업로드 영상 리스트 사이드창을 여는 버튼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3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영상 제어 영역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재생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일시정지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소리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전체화면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4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AI 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챗봇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온오픈 버튼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5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AI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챗봇 팝업창 검색시 외부검색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위키피디아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을 활용해 상세설명을 해주며 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RAG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를 활용해 영상상의 출처 띄워줌</a:t>
                      </a:r>
                      <a:endParaRPr lang="ko-KR" altLang="en-US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6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분류된 구간 썸네일 리스트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클릭시 시점 이동기능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7</a:t>
                      </a:r>
                      <a:endParaRPr lang="en-US" sz="1100"/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분류된 구간 리스트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주제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구간시점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요약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상세설명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72109"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900" b="0" i="0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8</a:t>
                      </a:r>
                      <a:endParaRPr lang="en-US" altLang="ko-KR" sz="1900" b="0" i="0" u="none" strike="noStrike">
                        <a:solidFill>
                          <a:srgbClr val="787878"/>
                        </a:solidFill>
                        <a:latin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lIns="19050" tIns="19050" rIns="19050" bIns="19050" anchor="ctr" anchorCtr="0"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업로드 완료된 영상 리스트 사이드창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조회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,</a:t>
                      </a:r>
                      <a:r>
                        <a:rPr lang="ko-KR" altLang="en-US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 검색기능</a:t>
                      </a:r>
                      <a:r>
                        <a:rPr lang="en-US" altLang="ko-KR" sz="1600" b="0" i="0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)</a:t>
                      </a:r>
                      <a:endParaRPr lang="en-US" altLang="ko-KR" sz="1600" b="0" i="0" u="none" strike="noStrike">
                        <a:solidFill>
                          <a:srgbClr val="787878"/>
                        </a:solidFill>
                        <a:ea typeface="S-Core Dream 5 Medium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49" cap="flat" cmpd="sng" algn="ctr">
                      <a:solidFill>
                        <a:srgbClr val="787878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8" name="Group 8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1" name="Group 11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17" name="Group 17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3" name="Group 23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grpSp>
        <p:nvGrpSpPr>
          <p:cNvPr id="26" name="Group 26"/>
          <p:cNvGrpSpPr/>
          <p:nvPr/>
        </p:nvGrpSpPr>
        <p:grpSpPr>
          <a:xfrm rot="0">
            <a:off x="2147483648" y="2147483648"/>
            <a:ext cx="2147483648" cy="2147483648"/>
            <a:chOff x="0" y="0"/>
            <a:chExt cx="914400" cy="914400"/>
          </a:xfrm>
        </p:grpSpPr>
      </p:grpSp>
      <p:sp>
        <p:nvSpPr>
          <p:cNvPr id="7" name="TextBox 7"/>
          <p:cNvSpPr txBox="1"/>
          <p:nvPr/>
        </p:nvSpPr>
        <p:spPr>
          <a:xfrm>
            <a:off x="13178971" y="27051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①</a:t>
            </a:r>
            <a:endParaRPr 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120571" y="51435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②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492171" y="4963584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③</a:t>
            </a:r>
            <a:endParaRPr 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573000" y="78867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④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2" name="TextBox 19"/>
          <p:cNvSpPr txBox="1"/>
          <p:nvPr/>
        </p:nvSpPr>
        <p:spPr>
          <a:xfrm>
            <a:off x="4572000" y="77343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⑥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9677400" y="53721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⑦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sp>
        <p:nvSpPr>
          <p:cNvPr id="35" name="TextBox 16"/>
          <p:cNvSpPr txBox="1"/>
          <p:nvPr/>
        </p:nvSpPr>
        <p:spPr>
          <a:xfrm>
            <a:off x="2057400" y="3107266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⑧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988604" y="4457700"/>
            <a:ext cx="2193995" cy="3310335"/>
          </a:xfrm>
          <a:prstGeom prst="rect">
            <a:avLst/>
          </a:prstGeom>
        </p:spPr>
      </p:pic>
      <p:sp>
        <p:nvSpPr>
          <p:cNvPr id="31" name="TextBox 19"/>
          <p:cNvSpPr txBox="1"/>
          <p:nvPr/>
        </p:nvSpPr>
        <p:spPr>
          <a:xfrm>
            <a:off x="11811000" y="5981700"/>
            <a:ext cx="308428" cy="359833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24499"/>
              </a:lnSpc>
              <a:defRPr/>
            </a:pPr>
            <a:r>
              <a:rPr lang="ko-KR" altLang="en-US" sz="2500" b="1" i="0" u="none" strike="noStrike" spc="-100">
                <a:solidFill>
                  <a:srgbClr val="ffffff"/>
                </a:solidFill>
                <a:latin typeface="Noto Sans CJK KR Regular"/>
              </a:rPr>
              <a:t>⑤</a:t>
            </a:r>
            <a:endParaRPr lang="ko-KR" altLang="en-US" sz="2500" b="1" i="0" u="none" strike="noStrike" spc="-100">
              <a:solidFill>
                <a:srgbClr val="ffffff"/>
              </a:solidFill>
              <a:latin typeface="Noto Sans CJK K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3873847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</ep:Words>
  <ep:PresentationFormat>On-screen Show (4:3)</ep:PresentationFormat>
  <ep:Paragraphs>25</ep:Paragraphs>
  <ep:Slides>3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Theme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user</cp:lastModifiedBy>
  <dcterms:modified xsi:type="dcterms:W3CDTF">2025-10-12T14:51:57.210</dcterms:modified>
  <cp:revision>13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