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48" r:id="rId1"/>
  </p:sldMasterIdLst>
  <p:notesMasterIdLst>
    <p:notesMasterId r:id="rId2"/>
  </p:notesMasterIdLst>
  <p:sldIdLst>
    <p:sldId id="256" r:id="rId3"/>
    <p:sldId id="257" r:id="rId4"/>
    <p:sldId id="258" r:id="rId5"/>
    <p:sldId id="287" r:id="rId6"/>
    <p:sldId id="266" r:id="rId7"/>
    <p:sldId id="267" r:id="rId8"/>
    <p:sldId id="268" r:id="rId9"/>
    <p:sldId id="270" r:id="rId10"/>
    <p:sldId id="290" r:id="rId11"/>
    <p:sldId id="291" r:id="rId12"/>
    <p:sldId id="269" r:id="rId13"/>
    <p:sldId id="271" r:id="rId14"/>
    <p:sldId id="284" r:id="rId15"/>
    <p:sldId id="285" r:id="rId16"/>
    <p:sldId id="272" r:id="rId17"/>
    <p:sldId id="273" r:id="rId18"/>
    <p:sldId id="274" r:id="rId19"/>
    <p:sldId id="277" r:id="rId20"/>
    <p:sldId id="275" r:id="rId21"/>
    <p:sldId id="278" r:id="rId22"/>
    <p:sldId id="280" r:id="rId23"/>
    <p:sldId id="279" r:id="rId24"/>
    <p:sldId id="281" r:id="rId25"/>
    <p:sldId id="282" r:id="rId26"/>
    <p:sldId id="289" r:id="rId27"/>
    <p:sldId id="276" r:id="rId28"/>
    <p:sldId id="283" r:id="rId29"/>
    <p:sldId id="286" r:id="rId30"/>
    <p:sldId id="288" r:id="rId3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20" autoAdjust="0"/>
    <p:restoredTop sz="94481" autoAdjust="0"/>
  </p:normalViewPr>
  <p:slideViewPr>
    <p:cSldViewPr>
      <p:cViewPr>
        <p:scale>
          <a:sx n="60" d="100"/>
          <a:sy n="60" d="100"/>
        </p:scale>
        <p:origin x="-1092" y="-90"/>
      </p:cViewPr>
      <p:guideLst>
        <p:guide orient="horz" pos="3239"/>
        <p:guide pos="575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presProps" Target="presProps.xml"  /><Relationship Id="rId33" Type="http://schemas.openxmlformats.org/officeDocument/2006/relationships/viewProps" Target="viewProps.xml"  /><Relationship Id="rId34" Type="http://schemas.openxmlformats.org/officeDocument/2006/relationships/theme" Target="theme/theme1.xml"  /><Relationship Id="rId35"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7200"/>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a:lstStyle>
            <a:lvl1pPr algn="r">
              <a:defRPr sz="1200"/>
            </a:lvl1pPr>
          </a:lstStyle>
          <a:p>
            <a:pPr lvl="0">
              <a:defRPr/>
            </a:pPr>
            <a:fld id="{E2B2BC9D-A816-4D0A-858B-1D023B3A8ACA}" type="datetime1">
              <a:rPr lang="ko-KR" altLang="en-US"/>
              <a:pPr lvl="0">
                <a:defRPr/>
              </a:pPr>
              <a:t>2025-10-12</a:t>
            </a:fld>
            <a:endParaRPr lang="ko-KR" altLang="en-US"/>
          </a:p>
        </p:txBody>
      </p:sp>
      <p:sp>
        <p:nvSpPr>
          <p:cNvPr id="4" name="슬라이드 이미지 개체 틀 3"/>
          <p:cNvSpPr>
            <a:spLocks noGrp="1" noRot="1" noChangeAspect="1" noTextEdi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no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09F4262C-968C-4EE9-8164-CE16364706B3}" type="slidenum">
              <a:rPr lang="ko-KR" altLang="en-US"/>
              <a:pPr lvl="0">
                <a:defRPr/>
              </a:pPr>
              <a:t>‹#›</a:t>
            </a:fld>
            <a:endParaRPr lang="ko-KR" altLang="en-US"/>
          </a:p>
        </p:txBody>
      </p:sp>
    </p:spTree>
    <p:extLst>
      <p:ext uri="{BB962C8B-B14F-4D97-AF65-F5344CB8AC3E}">
        <p14:creationId xmlns:p14="http://schemas.microsoft.com/office/powerpoint/2010/main" val="1235590200"/>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j-lt"/>
        <a:ea typeface="+mj-ea"/>
        <a:cs typeface="+mj-cs"/>
      </a:defRPr>
    </a:lvl1pPr>
    <a:lvl2pPr marL="457200" algn="l" defTabSz="914400" rtl="0" eaLnBrk="1" latinLnBrk="1" hangingPunct="1">
      <a:defRPr sz="1200" kern="1200">
        <a:solidFill>
          <a:schemeClr val="tx1"/>
        </a:solidFill>
        <a:latin typeface="+mj-lt"/>
        <a:ea typeface="+mj-ea"/>
        <a:cs typeface="+mj-cs"/>
      </a:defRPr>
    </a:lvl2pPr>
    <a:lvl3pPr marL="914400" algn="l" defTabSz="914400" rtl="0" eaLnBrk="1" latinLnBrk="1" hangingPunct="1">
      <a:defRPr sz="1200" kern="1200">
        <a:solidFill>
          <a:schemeClr val="tx1"/>
        </a:solidFill>
        <a:latin typeface="+mj-lt"/>
        <a:ea typeface="+mj-ea"/>
        <a:cs typeface="+mj-cs"/>
      </a:defRPr>
    </a:lvl3pPr>
    <a:lvl4pPr marL="1371600" algn="l" defTabSz="914400" rtl="0" eaLnBrk="1" latinLnBrk="1" hangingPunct="1">
      <a:defRPr sz="1200" kern="1200">
        <a:solidFill>
          <a:schemeClr val="tx1"/>
        </a:solidFill>
        <a:latin typeface="+mj-lt"/>
        <a:ea typeface="+mj-ea"/>
        <a:cs typeface="+mj-cs"/>
      </a:defRPr>
    </a:lvl4pPr>
    <a:lvl5pPr marL="1828800" algn="l" defTabSz="914400" rtl="0" eaLnBrk="1" latinLnBrk="1" hangingPunct="1">
      <a:defRPr sz="1200" kern="1200">
        <a:solidFill>
          <a:schemeClr val="tx1"/>
        </a:solidFill>
        <a:latin typeface="+mj-lt"/>
        <a:ea typeface="+mj-ea"/>
        <a:cs typeface="+mj-cs"/>
      </a:defRPr>
    </a:lvl5pPr>
    <a:lvl6pPr marL="2286000" algn="l" defTabSz="914400" rtl="0" eaLnBrk="1" latinLnBrk="1" hangingPunct="1">
      <a:defRPr sz="1200" kern="1200">
        <a:solidFill>
          <a:schemeClr val="tx1"/>
        </a:solidFill>
        <a:latin typeface="+mj-lt"/>
        <a:ea typeface="+mj-ea"/>
        <a:cs typeface="+mj-cs"/>
      </a:defRPr>
    </a:lvl6pPr>
    <a:lvl7pPr marL="2743200" algn="l" defTabSz="914400" rtl="0" eaLnBrk="1" latinLnBrk="1" hangingPunct="1">
      <a:defRPr sz="1200" kern="1200">
        <a:solidFill>
          <a:schemeClr val="tx1"/>
        </a:solidFill>
        <a:latin typeface="+mj-lt"/>
        <a:ea typeface="+mj-ea"/>
        <a:cs typeface="+mj-cs"/>
      </a:defRPr>
    </a:lvl7pPr>
    <a:lvl8pPr marL="3200400" algn="l" defTabSz="914400" rtl="0" eaLnBrk="1" latinLnBrk="1" hangingPunct="1">
      <a:defRPr sz="1200" kern="1200">
        <a:solidFill>
          <a:schemeClr val="tx1"/>
        </a:solidFill>
        <a:latin typeface="+mj-lt"/>
        <a:ea typeface="+mj-ea"/>
        <a:cs typeface="+mj-cs"/>
      </a:defRPr>
    </a:lvl8pPr>
    <a:lvl9pPr marL="3657600" algn="l" defTabSz="914400" rtl="0" eaLnBrk="1" latinLnBrk="1" hangingPunct="1">
      <a:defRPr sz="1200" kern="1200">
        <a:solidFill>
          <a:schemeClr val="tx1"/>
        </a:solidFill>
        <a:latin typeface="+mj-lt"/>
        <a:ea typeface="+mj-ea"/>
        <a:cs typeface="+mj-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3</a:t>
            </a:fld>
            <a:endParaRPr lang="ko-KR" altLang="en-US"/>
          </a:p>
        </p:txBody>
      </p:sp>
    </p:spTree>
    <p:extLst>
      <p:ext uri="{BB962C8B-B14F-4D97-AF65-F5344CB8AC3E}">
        <p14:creationId xmlns:p14="http://schemas.microsoft.com/office/powerpoint/2010/main" val="627077758"/>
      </p:ext>
    </p:extLst>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4</a:t>
            </a:fld>
            <a:endParaRPr lang="ko-KR" altLang="en-US"/>
          </a:p>
        </p:txBody>
      </p:sp>
    </p:spTree>
    <p:extLst>
      <p:ext uri="{BB962C8B-B14F-4D97-AF65-F5344CB8AC3E}">
        <p14:creationId xmlns:p14="http://schemas.microsoft.com/office/powerpoint/2010/main" val="4065279887"/>
      </p:ext>
    </p:extLst>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4</a:t>
            </a:fld>
            <a:endParaRPr lang="ko-KR" altLang="en-US"/>
          </a:p>
        </p:txBody>
      </p:sp>
    </p:spTree>
    <p:extLst>
      <p:ext uri="{BB962C8B-B14F-4D97-AF65-F5344CB8AC3E}">
        <p14:creationId xmlns:p14="http://schemas.microsoft.com/office/powerpoint/2010/main" val="2296920245"/>
      </p:ext>
    </p:extLst>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5</a:t>
            </a:fld>
            <a:endParaRPr lang="ko-KR" altLang="en-US"/>
          </a:p>
        </p:txBody>
      </p:sp>
    </p:spTree>
    <p:extLst>
      <p:ext uri="{BB962C8B-B14F-4D97-AF65-F5344CB8AC3E}">
        <p14:creationId xmlns:p14="http://schemas.microsoft.com/office/powerpoint/2010/main" val="891749193"/>
      </p:ext>
    </p:extLst>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6</a:t>
            </a:fld>
            <a:endParaRPr lang="ko-KR" altLang="en-US"/>
          </a:p>
        </p:txBody>
      </p:sp>
    </p:spTree>
    <p:extLst>
      <p:ext uri="{BB962C8B-B14F-4D97-AF65-F5344CB8AC3E}">
        <p14:creationId xmlns:p14="http://schemas.microsoft.com/office/powerpoint/2010/main" val="1424227771"/>
      </p:ext>
    </p:extLst>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8</a:t>
            </a:fld>
            <a:endParaRPr lang="ko-KR" altLang="en-US"/>
          </a:p>
        </p:txBody>
      </p:sp>
    </p:spTree>
    <p:extLst>
      <p:ext uri="{BB962C8B-B14F-4D97-AF65-F5344CB8AC3E}">
        <p14:creationId xmlns:p14="http://schemas.microsoft.com/office/powerpoint/2010/main" val="3338970728"/>
      </p:ext>
    </p:extLst>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9</a:t>
            </a:fld>
            <a:endParaRPr lang="ko-KR" altLang="en-US"/>
          </a:p>
        </p:txBody>
      </p:sp>
    </p:spTree>
    <p:extLst>
      <p:ext uri="{BB962C8B-B14F-4D97-AF65-F5344CB8AC3E}">
        <p14:creationId xmlns:p14="http://schemas.microsoft.com/office/powerpoint/2010/main" val="405669451"/>
      </p:ext>
    </p:extLst>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10</a:t>
            </a:fld>
            <a:endParaRPr lang="ko-KR" altLang="en-US"/>
          </a:p>
        </p:txBody>
      </p:sp>
    </p:spTree>
    <p:extLst>
      <p:ext uri="{BB962C8B-B14F-4D97-AF65-F5344CB8AC3E}">
        <p14:creationId xmlns:p14="http://schemas.microsoft.com/office/powerpoint/2010/main" val="1016817287"/>
      </p:ext>
    </p:extLst>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7</a:t>
            </a:fld>
            <a:endParaRPr lang="ko-KR" altLang="en-US"/>
          </a:p>
        </p:txBody>
      </p:sp>
    </p:spTree>
    <p:extLst>
      <p:ext uri="{BB962C8B-B14F-4D97-AF65-F5344CB8AC3E}">
        <p14:creationId xmlns:p14="http://schemas.microsoft.com/office/powerpoint/2010/main" val="2745996567"/>
      </p:ext>
    </p:extLst>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9</a:t>
            </a:fld>
            <a:endParaRPr lang="ko-KR" altLang="en-US"/>
          </a:p>
        </p:txBody>
      </p:sp>
    </p:spTree>
    <p:extLst>
      <p:ext uri="{BB962C8B-B14F-4D97-AF65-F5344CB8AC3E}">
        <p14:creationId xmlns:p14="http://schemas.microsoft.com/office/powerpoint/2010/main" val="1572991850"/>
      </p:ext>
    </p:extLst>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10</a:t>
            </a:fld>
            <a:endParaRPr lang="ko-KR" altLang="en-US"/>
          </a:p>
        </p:txBody>
      </p:sp>
    </p:spTree>
    <p:extLst>
      <p:ext uri="{BB962C8B-B14F-4D97-AF65-F5344CB8AC3E}">
        <p14:creationId xmlns:p14="http://schemas.microsoft.com/office/powerpoint/2010/main" val="3225860366"/>
      </p:ext>
    </p:extLst>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11</a:t>
            </a:fld>
            <a:endParaRPr lang="ko-KR" altLang="en-US"/>
          </a:p>
        </p:txBody>
      </p:sp>
    </p:spTree>
    <p:extLst>
      <p:ext uri="{BB962C8B-B14F-4D97-AF65-F5344CB8AC3E}">
        <p14:creationId xmlns:p14="http://schemas.microsoft.com/office/powerpoint/2010/main" val="1599691728"/>
      </p:ext>
    </p:extLst>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10</a:t>
            </a:fld>
            <a:endParaRPr lang="ko-KR" altLang="en-US"/>
          </a:p>
        </p:txBody>
      </p:sp>
    </p:spTree>
    <p:extLst>
      <p:ext uri="{BB962C8B-B14F-4D97-AF65-F5344CB8AC3E}">
        <p14:creationId xmlns:p14="http://schemas.microsoft.com/office/powerpoint/2010/main" val="1286136505"/>
      </p:ext>
    </p:extLst>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11</a:t>
            </a:fld>
            <a:endParaRPr lang="ko-KR" altLang="en-US"/>
          </a:p>
        </p:txBody>
      </p:sp>
    </p:spTree>
    <p:extLst>
      <p:ext uri="{BB962C8B-B14F-4D97-AF65-F5344CB8AC3E}">
        <p14:creationId xmlns:p14="http://schemas.microsoft.com/office/powerpoint/2010/main" val="1954004797"/>
      </p:ext>
    </p:extLst>
  </p:cSld>
  <p:clrMapOvr>
    <a:masterClrMapping/>
  </p:clrMapOvr>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12</a:t>
            </a:fld>
            <a:endParaRPr lang="ko-KR" altLang="en-US"/>
          </a:p>
        </p:txBody>
      </p:sp>
    </p:spTree>
    <p:extLst>
      <p:ext uri="{BB962C8B-B14F-4D97-AF65-F5344CB8AC3E}">
        <p14:creationId xmlns:p14="http://schemas.microsoft.com/office/powerpoint/2010/main" val="1629168784"/>
      </p:ext>
    </p:extLst>
  </p:cSld>
  <p:clrMapOvr>
    <a:masterClrMapping/>
  </p:clrMapOvr>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13</a:t>
            </a:fld>
            <a:endParaRPr lang="ko-KR" altLang="en-US"/>
          </a:p>
        </p:txBody>
      </p:sp>
    </p:spTree>
    <p:extLst>
      <p:ext uri="{BB962C8B-B14F-4D97-AF65-F5344CB8AC3E}">
        <p14:creationId xmlns:p14="http://schemas.microsoft.com/office/powerpoint/2010/main" val="1461584172"/>
      </p:ext>
    </p:extLst>
  </p:cSld>
  <p:clrMapOvr>
    <a:masterClrMapping/>
  </p:clrMapOvr>
</p:notes>
</file>

<file path=ppt/notesSlides/notesSlide1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14</a:t>
            </a:fld>
            <a:endParaRPr lang="ko-KR" altLang="en-US"/>
          </a:p>
        </p:txBody>
      </p:sp>
    </p:spTree>
    <p:extLst>
      <p:ext uri="{BB962C8B-B14F-4D97-AF65-F5344CB8AC3E}">
        <p14:creationId xmlns:p14="http://schemas.microsoft.com/office/powerpoint/2010/main" val="3895115671"/>
      </p:ext>
    </p:extLst>
  </p:cSld>
  <p:clrMapOvr>
    <a:masterClrMapping/>
  </p:clrMapOvr>
</p:notes>
</file>

<file path=ppt/notesSlides/notesSlide1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15</a:t>
            </a:fld>
            <a:endParaRPr lang="ko-KR" altLang="en-US"/>
          </a:p>
        </p:txBody>
      </p:sp>
    </p:spTree>
    <p:extLst>
      <p:ext uri="{BB962C8B-B14F-4D97-AF65-F5344CB8AC3E}">
        <p14:creationId xmlns:p14="http://schemas.microsoft.com/office/powerpoint/2010/main" val="2625614275"/>
      </p:ext>
    </p:extLst>
  </p:cSld>
  <p:clrMapOvr>
    <a:masterClrMapping/>
  </p:clrMapOvr>
</p:notes>
</file>

<file path=ppt/notesSlides/notesSlide1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16</a:t>
            </a:fld>
            <a:endParaRPr lang="ko-KR" altLang="en-US"/>
          </a:p>
        </p:txBody>
      </p:sp>
    </p:spTree>
    <p:extLst>
      <p:ext uri="{BB962C8B-B14F-4D97-AF65-F5344CB8AC3E}">
        <p14:creationId xmlns:p14="http://schemas.microsoft.com/office/powerpoint/2010/main" val="3041985438"/>
      </p:ext>
    </p:extLst>
  </p:cSld>
  <p:clrMapOvr>
    <a:masterClrMapping/>
  </p:clrMapOvr>
</p:notes>
</file>

<file path=ppt/notesSlides/notesSlide2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17</a:t>
            </a:fld>
            <a:endParaRPr lang="ko-KR" altLang="en-US"/>
          </a:p>
        </p:txBody>
      </p:sp>
    </p:spTree>
    <p:extLst>
      <p:ext uri="{BB962C8B-B14F-4D97-AF65-F5344CB8AC3E}">
        <p14:creationId xmlns:p14="http://schemas.microsoft.com/office/powerpoint/2010/main" val="2198347061"/>
      </p:ext>
    </p:extLst>
  </p:cSld>
  <p:clrMapOvr>
    <a:masterClrMapping/>
  </p:clrMapOvr>
</p:notes>
</file>

<file path=ppt/notesSlides/notesSlide2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18</a:t>
            </a:fld>
            <a:endParaRPr lang="ko-KR" altLang="en-US"/>
          </a:p>
        </p:txBody>
      </p:sp>
    </p:spTree>
    <p:extLst>
      <p:ext uri="{BB962C8B-B14F-4D97-AF65-F5344CB8AC3E}">
        <p14:creationId xmlns:p14="http://schemas.microsoft.com/office/powerpoint/2010/main" val="3771317382"/>
      </p:ext>
    </p:extLst>
  </p:cSld>
  <p:clrMapOvr>
    <a:masterClrMapping/>
  </p:clrMapOvr>
</p:notes>
</file>

<file path=ppt/notesSlides/notesSlide2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19</a:t>
            </a:fld>
            <a:endParaRPr lang="ko-KR" altLang="en-US"/>
          </a:p>
        </p:txBody>
      </p:sp>
    </p:spTree>
    <p:extLst>
      <p:ext uri="{BB962C8B-B14F-4D97-AF65-F5344CB8AC3E}">
        <p14:creationId xmlns:p14="http://schemas.microsoft.com/office/powerpoint/2010/main" val="1237742441"/>
      </p:ext>
    </p:extLst>
  </p:cSld>
  <p:clrMapOvr>
    <a:masterClrMapping/>
  </p:clrMapOvr>
</p:notes>
</file>

<file path=ppt/notesSlides/notesSlide2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23</a:t>
            </a:fld>
            <a:endParaRPr lang="ko-KR" altLang="en-US"/>
          </a:p>
        </p:txBody>
      </p:sp>
    </p:spTree>
    <p:extLst>
      <p:ext uri="{BB962C8B-B14F-4D97-AF65-F5344CB8AC3E}">
        <p14:creationId xmlns:p14="http://schemas.microsoft.com/office/powerpoint/2010/main" val="1027391805"/>
      </p:ext>
    </p:extLst>
  </p:cSld>
  <p:clrMapOvr>
    <a:masterClrMapping/>
  </p:clrMapOvr>
</p:notes>
</file>

<file path=ppt/notesSlides/notesSlide2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16</a:t>
            </a:fld>
            <a:endParaRPr lang="ko-KR" altLang="en-US"/>
          </a:p>
        </p:txBody>
      </p:sp>
    </p:spTree>
    <p:extLst>
      <p:ext uri="{BB962C8B-B14F-4D97-AF65-F5344CB8AC3E}">
        <p14:creationId xmlns:p14="http://schemas.microsoft.com/office/powerpoint/2010/main" val="4010250665"/>
      </p:ext>
    </p:extLst>
  </p:cSld>
  <p:clrMapOvr>
    <a:masterClrMapping/>
  </p:clrMapOvr>
</p:notes>
</file>

<file path=ppt/notesSlides/notesSlide2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21</a:t>
            </a:fld>
            <a:endParaRPr lang="ko-KR" altLang="en-US"/>
          </a:p>
        </p:txBody>
      </p:sp>
    </p:spTree>
    <p:extLst>
      <p:ext uri="{BB962C8B-B14F-4D97-AF65-F5344CB8AC3E}">
        <p14:creationId xmlns:p14="http://schemas.microsoft.com/office/powerpoint/2010/main" val="1516076831"/>
      </p:ext>
    </p:extLst>
  </p:cSld>
  <p:clrMapOvr>
    <a:masterClrMapping/>
  </p:clrMapOvr>
</p:notes>
</file>

<file path=ppt/notesSlides/notesSlide2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25</a:t>
            </a:fld>
            <a:endParaRPr lang="ko-KR" altLang="en-US"/>
          </a:p>
        </p:txBody>
      </p:sp>
    </p:spTree>
    <p:extLst>
      <p:ext uri="{BB962C8B-B14F-4D97-AF65-F5344CB8AC3E}">
        <p14:creationId xmlns:p14="http://schemas.microsoft.com/office/powerpoint/2010/main" val="1642410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3.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4.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5.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6.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9.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10.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Layouts/slideLayout1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xmlns:mc="http://schemas.openxmlformats.org/markup-compatibility/2006" xmlns:hp="http://schemas.haansoft.com/office/presentation/8.0" mc:Ignorable="hp" hp:hslDur="5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image" Target="../media/image2.sv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image" Target="../media/image2.svg"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7.xml"  /><Relationship Id="rId3" Type="http://schemas.openxmlformats.org/officeDocument/2006/relationships/image" Target="../media/image1.png"  /><Relationship Id="rId4" Type="http://schemas.openxmlformats.org/officeDocument/2006/relationships/image" Target="../media/image2.svg"  /><Relationship Id="rId5" Type="http://schemas.openxmlformats.org/officeDocument/2006/relationships/image" Target="../media/image3.png"  /><Relationship Id="rId6" Type="http://schemas.openxmlformats.org/officeDocument/2006/relationships/image" Target="../media/image4.png"  /><Relationship Id="rId7" Type="http://schemas.openxmlformats.org/officeDocument/2006/relationships/image" Target="../media/image5.png"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7.png"  /><Relationship Id="rId5" Type="http://schemas.openxmlformats.org/officeDocument/2006/relationships/image" Target="../media/image8.png"  /><Relationship Id="rId6" Type="http://schemas.openxmlformats.org/officeDocument/2006/relationships/image" Target="../media/image9.png"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7.xml"  /><Relationship Id="rId3" Type="http://schemas.openxmlformats.org/officeDocument/2006/relationships/image" Target="../media/image6.png"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7.xml"  /><Relationship Id="rId3" Type="http://schemas.openxmlformats.org/officeDocument/2006/relationships/image" Target="../media/image6.png"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0.png"  /><Relationship Id="rId5" Type="http://schemas.openxmlformats.org/officeDocument/2006/relationships/image" Target="../media/image11.png"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7.xml"  /><Relationship Id="rId3" Type="http://schemas.openxmlformats.org/officeDocument/2006/relationships/image" Target="../media/image12.png"  /><Relationship Id="rId4" Type="http://schemas.openxmlformats.org/officeDocument/2006/relationships/image" Target="../media/image6.png"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7.xml"  /><Relationship Id="rId3" Type="http://schemas.openxmlformats.org/officeDocument/2006/relationships/image" Target="../media/image13.png"  /><Relationship Id="rId4" Type="http://schemas.openxmlformats.org/officeDocument/2006/relationships/image" Target="../media/image6.png"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7.xml"  /><Relationship Id="rId3" Type="http://schemas.openxmlformats.org/officeDocument/2006/relationships/image" Target="../media/image14.png"  /><Relationship Id="rId4" Type="http://schemas.openxmlformats.org/officeDocument/2006/relationships/image" Target="../media/image6.png"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9.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5.png"  /><Relationship Id="rId5" Type="http://schemas.openxmlformats.org/officeDocument/2006/relationships/image" Target="../media/image16.png"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0.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7.png"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1.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8.png"  /></Relationships>
</file>

<file path=ppt/slides/_rels/slide14.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9.png"  /></Relationships>
</file>

<file path=ppt/slides/_rels/slide15.xml.rels><?xml version="1.0" encoding="UTF-8" standalone="yes" ?><Relationships xmlns="http://schemas.openxmlformats.org/package/2006/relationships"><Relationship Id="rId1" Type="http://schemas.openxmlformats.org/officeDocument/2006/relationships/notesSlide" Target="../notesSlides/notesSlide13.xml"  /><Relationship Id="rId10" Type="http://schemas.openxmlformats.org/officeDocument/2006/relationships/image" Target="../media/image25.png"  /><Relationship Id="rId11" Type="http://schemas.openxmlformats.org/officeDocument/2006/relationships/image" Target="../media/image21.png"  /><Relationship Id="rId2" Type="http://schemas.openxmlformats.org/officeDocument/2006/relationships/slideLayout" Target="../slideLayouts/slideLayout7.xml"  /><Relationship Id="rId3" Type="http://schemas.openxmlformats.org/officeDocument/2006/relationships/image" Target="../media/image20.png"  /><Relationship Id="rId4" Type="http://schemas.openxmlformats.org/officeDocument/2006/relationships/image" Target="../media/image6.png"  /><Relationship Id="rId5" Type="http://schemas.openxmlformats.org/officeDocument/2006/relationships/image" Target="../media/image21.png"  /><Relationship Id="rId6" Type="http://schemas.openxmlformats.org/officeDocument/2006/relationships/image" Target="../media/image22.png"  /><Relationship Id="rId7" Type="http://schemas.openxmlformats.org/officeDocument/2006/relationships/image" Target="../media/image23.png"  /><Relationship Id="rId8" Type="http://schemas.openxmlformats.org/officeDocument/2006/relationships/image" Target="../media/image21.png"  /><Relationship Id="rId9" Type="http://schemas.openxmlformats.org/officeDocument/2006/relationships/image" Target="../media/image24.png"  /></Relationships>
</file>

<file path=ppt/slides/_rels/slide16.xml.rels><?xml version="1.0" encoding="UTF-8" standalone="yes" ?><Relationships xmlns="http://schemas.openxmlformats.org/package/2006/relationships"><Relationship Id="rId1" Type="http://schemas.openxmlformats.org/officeDocument/2006/relationships/notesSlide" Target="../notesSlides/notesSlide14.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26.png"  /></Relationships>
</file>

<file path=ppt/slides/_rels/slide17.xml.rels><?xml version="1.0" encoding="UTF-8" standalone="yes" ?><Relationships xmlns="http://schemas.openxmlformats.org/package/2006/relationships"><Relationship Id="rId1" Type="http://schemas.openxmlformats.org/officeDocument/2006/relationships/notesSlide" Target="../notesSlides/notesSlide15.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27.png"  /></Relationships>
</file>

<file path=ppt/slides/_rels/slide18.xml.rels><?xml version="1.0" encoding="UTF-8" standalone="yes" ?><Relationships xmlns="http://schemas.openxmlformats.org/package/2006/relationships"><Relationship Id="rId1" Type="http://schemas.openxmlformats.org/officeDocument/2006/relationships/notesSlide" Target="../notesSlides/notesSlide16.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28.png"  /></Relationships>
</file>

<file path=ppt/slides/_rels/slide19.xml.rels><?xml version="1.0" encoding="UTF-8" standalone="yes" ?><Relationships xmlns="http://schemas.openxmlformats.org/package/2006/relationships"><Relationship Id="rId1" Type="http://schemas.openxmlformats.org/officeDocument/2006/relationships/notesSlide" Target="../notesSlides/notesSlide17.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29.png"  /><Relationship Id="rId5" Type="http://schemas.openxmlformats.org/officeDocument/2006/relationships/image" Target="../media/image30.png"  /><Relationship Id="rId6" Type="http://schemas.openxmlformats.org/officeDocument/2006/relationships/image" Target="../media/image31.png"  /></Relationships>
</file>

<file path=ppt/slides/_rels/slide20.xml.rels><?xml version="1.0" encoding="UTF-8" standalone="yes" ?><Relationships xmlns="http://schemas.openxmlformats.org/package/2006/relationships"><Relationship Id="rId1" Type="http://schemas.openxmlformats.org/officeDocument/2006/relationships/notesSlide" Target="../notesSlides/notesSlide18.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32.png"  /><Relationship Id="rId5" Type="http://schemas.openxmlformats.org/officeDocument/2006/relationships/image" Target="../media/image33.png"  /></Relationships>
</file>

<file path=ppt/slides/_rels/slide21.xml.rels><?xml version="1.0" encoding="UTF-8" standalone="yes" ?><Relationships xmlns="http://schemas.openxmlformats.org/package/2006/relationships"><Relationship Id="rId1" Type="http://schemas.openxmlformats.org/officeDocument/2006/relationships/notesSlide" Target="../notesSlides/notesSlide19.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34.png"  /></Relationships>
</file>

<file path=ppt/slides/_rels/slide22.xml.rels><?xml version="1.0" encoding="UTF-8" standalone="yes" ?><Relationships xmlns="http://schemas.openxmlformats.org/package/2006/relationships"><Relationship Id="rId1" Type="http://schemas.openxmlformats.org/officeDocument/2006/relationships/notesSlide" Target="../notesSlides/notesSlide20.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35.png"  /><Relationship Id="rId5" Type="http://schemas.openxmlformats.org/officeDocument/2006/relationships/image" Target="../media/image36.png"  /></Relationships>
</file>

<file path=ppt/slides/_rels/slide23.xml.rels><?xml version="1.0" encoding="UTF-8" standalone="yes" ?><Relationships xmlns="http://schemas.openxmlformats.org/package/2006/relationships"><Relationship Id="rId1" Type="http://schemas.openxmlformats.org/officeDocument/2006/relationships/notesSlide" Target="../notesSlides/notesSlide21.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37.png"  /><Relationship Id="rId5" Type="http://schemas.openxmlformats.org/officeDocument/2006/relationships/image" Target="../media/image38.png"  /><Relationship Id="rId6" Type="http://schemas.openxmlformats.org/officeDocument/2006/relationships/image" Target="../media/image39.png"  /></Relationships>
</file>

<file path=ppt/slides/_rels/slide24.xml.rels><?xml version="1.0" encoding="UTF-8" standalone="yes" ?><Relationships xmlns="http://schemas.openxmlformats.org/package/2006/relationships"><Relationship Id="rId1" Type="http://schemas.openxmlformats.org/officeDocument/2006/relationships/notesSlide" Target="../notesSlides/notesSlide22.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40.png"  /><Relationship Id="rId5" Type="http://schemas.openxmlformats.org/officeDocument/2006/relationships/image" Target="../media/image41.png"  /><Relationship Id="rId6" Type="http://schemas.openxmlformats.org/officeDocument/2006/relationships/image" Target="../media/image42.png"  /></Relationships>
</file>

<file path=ppt/slides/_rels/slide25.xml.rels><?xml version="1.0" encoding="UTF-8" standalone="yes" ?><Relationships xmlns="http://schemas.openxmlformats.org/package/2006/relationships"><Relationship Id="rId1" Type="http://schemas.openxmlformats.org/officeDocument/2006/relationships/notesSlide" Target="../notesSlides/notesSlide23.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43.png"  /><Relationship Id="rId5" Type="http://schemas.openxmlformats.org/officeDocument/2006/relationships/image" Target="../media/image44.png"  /></Relationships>
</file>

<file path=ppt/slides/_rels/slide26.xml.rels><?xml version="1.0" encoding="UTF-8" standalone="yes" ?><Relationships xmlns="http://schemas.openxmlformats.org/package/2006/relationships"><Relationship Id="rId1" Type="http://schemas.openxmlformats.org/officeDocument/2006/relationships/notesSlide" Target="../notesSlides/notesSlide24.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45.png"  /></Relationships>
</file>

<file path=ppt/slides/_rels/slide27.xml.rels><?xml version="1.0" encoding="UTF-8" standalone="yes" ?><Relationships xmlns="http://schemas.openxmlformats.org/package/2006/relationships"><Relationship Id="rId1" Type="http://schemas.openxmlformats.org/officeDocument/2006/relationships/notesSlide" Target="../notesSlides/notesSlide25.xml"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46.png"  /><Relationship Id="rId5" Type="http://schemas.openxmlformats.org/officeDocument/2006/relationships/image" Target="../media/image47.png"  /><Relationship Id="rId6" Type="http://schemas.openxmlformats.org/officeDocument/2006/relationships/image" Target="../media/image48.png"  /></Relationships>
</file>

<file path=ppt/slides/_rels/slide28.xml.rels><?xml version="1.0" encoding="UTF-8" standalone="yes" ?><Relationships xmlns="http://schemas.openxmlformats.org/package/2006/relationships"><Relationship Id="rId1" Type="http://schemas.openxmlformats.org/officeDocument/2006/relationships/notesSlide" Target="../notesSlides/notesSlide26.xml"  /><Relationship Id="rId2" Type="http://schemas.openxmlformats.org/officeDocument/2006/relationships/slideLayout" Target="../slideLayouts/slideLayout7.xml"  /><Relationship Id="rId3" Type="http://schemas.openxmlformats.org/officeDocument/2006/relationships/image" Target="../media/image6.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2" name="Group 2"/>
          <p:cNvGrpSpPr/>
          <p:nvPr/>
        </p:nvGrpSpPr>
        <p:grpSpPr>
          <a:xfrm rot="0">
            <a:off x="16295847" y="7423337"/>
            <a:ext cx="2863663" cy="2863663"/>
            <a:chOff x="0" y="0"/>
            <a:chExt cx="812800" cy="812800"/>
          </a:xfrm>
        </p:grpSpPr>
        <p:sp>
          <p:nvSpPr>
            <p:cNvPr id="3" name="Freeform 3"/>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grpSp>
        <p:nvGrpSpPr>
          <p:cNvPr id="5" name="Group 5"/>
          <p:cNvGrpSpPr/>
          <p:nvPr/>
        </p:nvGrpSpPr>
        <p:grpSpPr>
          <a:xfrm rot="0">
            <a:off x="0" y="9258300"/>
            <a:ext cx="18288000" cy="1028700"/>
            <a:chOff x="0" y="0"/>
            <a:chExt cx="4816593" cy="270933"/>
          </a:xfrm>
        </p:grpSpPr>
        <p:sp>
          <p:nvSpPr>
            <p:cNvPr id="6" name="Freeform 6"/>
            <p:cNvSpPr/>
            <p:nvPr/>
          </p:nvSpPr>
          <p:spPr>
            <a:xfrm>
              <a:off x="0" y="0"/>
              <a:ext cx="4816592" cy="270933"/>
            </a:xfrm>
            <a:custGeom>
              <a:avLst/>
              <a:gdLst/>
              <a:rect l="l" t="t" r="r" b="b"/>
              <a:pathLst>
                <a:path w="4816592" h="270933">
                  <a:moveTo>
                    <a:pt x="0" y="0"/>
                  </a:moveTo>
                  <a:lnTo>
                    <a:pt x="4816592" y="0"/>
                  </a:lnTo>
                  <a:lnTo>
                    <a:pt x="4816592" y="270933"/>
                  </a:lnTo>
                  <a:lnTo>
                    <a:pt x="0" y="270933"/>
                  </a:lnTo>
                  <a:close/>
                </a:path>
              </a:pathLst>
            </a:custGeom>
            <a:solidFill>
              <a:srgbClr val="19319d"/>
            </a:solidFill>
            <a:ln cap="sq">
              <a:noFill/>
              <a:prstDash val="solid"/>
              <a:miter/>
            </a:ln>
          </p:spPr>
        </p:sp>
        <p:sp>
          <p:nvSpPr>
            <p:cNvPr id="7" name="TextBox 7"/>
            <p:cNvSpPr txBox="1"/>
            <p:nvPr/>
          </p:nvSpPr>
          <p:spPr>
            <a:xfrm>
              <a:off x="0" y="-47625"/>
              <a:ext cx="4816593" cy="318558"/>
            </a:xfrm>
            <a:prstGeom prst="rect">
              <a:avLst/>
            </a:prstGeom>
          </p:spPr>
          <p:txBody>
            <a:bodyPr lIns="50800" tIns="50800" rIns="50800" bIns="50800" anchor="ctr"/>
            <a:lstStyle/>
            <a:p>
              <a:pPr lvl="0" algn="ctr">
                <a:lnSpc>
                  <a:spcPts val="2659"/>
                </a:lnSpc>
                <a:spcBef>
                  <a:spcPct val="0"/>
                </a:spcBef>
                <a:defRPr/>
              </a:pPr>
              <a:endParaRPr lang="ko-KR" altLang="en-US"/>
            </a:p>
          </p:txBody>
        </p:sp>
      </p:grpSp>
      <p:grpSp>
        <p:nvGrpSpPr>
          <p:cNvPr id="8" name="Group 8"/>
          <p:cNvGrpSpPr/>
          <p:nvPr/>
        </p:nvGrpSpPr>
        <p:grpSpPr>
          <a:xfrm rot="0">
            <a:off x="-1716351" y="1942816"/>
            <a:ext cx="3432702" cy="3432702"/>
            <a:chOff x="0" y="0"/>
            <a:chExt cx="812800" cy="812800"/>
          </a:xfrm>
        </p:grpSpPr>
        <p:sp>
          <p:nvSpPr>
            <p:cNvPr id="9" name="Freeform 9"/>
            <p:cNvSpPr/>
            <p:nvPr/>
          </p:nvSpPr>
          <p:spPr>
            <a:xfrm>
              <a:off x="0" y="0"/>
              <a:ext cx="812800" cy="812800"/>
            </a:xfrm>
            <a:custGeom>
              <a:avLst/>
              <a:gdLst/>
              <a:rect l="l" t="t" r="r" b="b"/>
              <a:pathLst>
                <a:path w="812800" h="812800">
                  <a:moveTo>
                    <a:pt x="406400" y="0"/>
                  </a:moveTo>
                  <a:lnTo>
                    <a:pt x="812800" y="406400"/>
                  </a:lnTo>
                  <a:lnTo>
                    <a:pt x="406400" y="812800"/>
                  </a:lnTo>
                  <a:lnTo>
                    <a:pt x="0" y="406400"/>
                  </a:lnTo>
                  <a:lnTo>
                    <a:pt x="406400" y="0"/>
                  </a:lnTo>
                  <a:close/>
                </a:path>
              </a:pathLst>
            </a:custGeom>
            <a:solidFill>
              <a:srgbClr val="000000">
                <a:alpha val="0"/>
              </a:srgbClr>
            </a:solidFill>
            <a:ln w="571500" cap="sq">
              <a:solidFill>
                <a:srgbClr val="19319d">
                  <a:alpha val="9800"/>
                </a:srgbClr>
              </a:solidFill>
              <a:prstDash val="solid"/>
              <a:miter/>
            </a:ln>
          </p:spPr>
        </p:sp>
        <p:sp>
          <p:nvSpPr>
            <p:cNvPr id="10" name="TextBox 10"/>
            <p:cNvSpPr txBox="1"/>
            <p:nvPr/>
          </p:nvSpPr>
          <p:spPr>
            <a:xfrm>
              <a:off x="139700" y="101600"/>
              <a:ext cx="533400" cy="571500"/>
            </a:xfrm>
            <a:prstGeom prst="rect">
              <a:avLst/>
            </a:prstGeom>
          </p:spPr>
          <p:txBody>
            <a:bodyPr lIns="50800" tIns="50800" rIns="50800" bIns="50800" anchor="ctr"/>
            <a:lstStyle/>
            <a:p>
              <a:pPr lvl="0" algn="ctr">
                <a:lnSpc>
                  <a:spcPts val="2659"/>
                </a:lnSpc>
                <a:defRPr/>
              </a:pPr>
              <a:endParaRPr lang="ko-KR" altLang="en-US"/>
            </a:p>
          </p:txBody>
        </p:sp>
      </p:grpSp>
      <p:sp>
        <p:nvSpPr>
          <p:cNvPr name="AutoShape 11" id="11"/>
          <p:cNvSpPr/>
          <p:nvPr/>
        </p:nvSpPr>
        <p:spPr>
          <a:xfrm>
            <a:off x="1028700" y="1147265"/>
            <a:ext cx="16230600" cy="0"/>
          </a:xfrm>
          <a:prstGeom prst="line">
            <a:avLst/>
          </a:prstGeom>
          <a:ln cap="flat" w="28575">
            <a:solidFill>
              <a:srgbClr val="19319D"/>
            </a:solidFill>
            <a:prstDash val="solid"/>
            <a:headEnd type="none" len="sm" w="sm"/>
            <a:tailEnd type="none" len="sm" w="sm"/>
          </a:ln>
        </p:spPr>
      </p:sp>
      <p:sp>
        <p:nvSpPr>
          <p:cNvPr id="12" name="AutoShape 12"/>
          <p:cNvSpPr/>
          <p:nvPr/>
        </p:nvSpPr>
        <p:spPr>
          <a:xfrm>
            <a:off x="8686384" y="9643898"/>
            <a:ext cx="0" cy="249374"/>
          </a:xfrm>
          <a:prstGeom prst="line">
            <a:avLst/>
          </a:prstGeom>
          <a:ln w="19050" cap="flat">
            <a:solidFill>
              <a:srgbClr val="fbfdff"/>
            </a:solidFill>
            <a:prstDash val="solid"/>
            <a:headEnd w="sm" len="sm"/>
            <a:tailEnd w="sm" len="sm"/>
          </a:ln>
        </p:spPr>
      </p:sp>
      <p:sp>
        <p:nvSpPr>
          <p:cNvPr id="15" name="AutoShape 15"/>
          <p:cNvSpPr/>
          <p:nvPr/>
        </p:nvSpPr>
        <p:spPr>
          <a:xfrm>
            <a:off x="8796734" y="3643651"/>
            <a:ext cx="694532" cy="0"/>
          </a:xfrm>
          <a:prstGeom prst="line">
            <a:avLst/>
          </a:prstGeom>
          <a:ln w="28575" cap="flat">
            <a:solidFill>
              <a:srgbClr val="19319d"/>
            </a:solidFill>
            <a:prstDash val="solid"/>
            <a:headEnd w="sm" len="sm"/>
            <a:tailEnd w="sm" len="sm"/>
          </a:ln>
        </p:spPr>
      </p:sp>
      <p:sp>
        <p:nvSpPr>
          <p:cNvPr name="Freeform 16" id="16"/>
          <p:cNvSpPr/>
          <p:nvPr/>
        </p:nvSpPr>
        <p:spPr>
          <a:xfrm flipH="false" flipV="false" rot="0">
            <a:off x="15809723" y="6603796"/>
            <a:ext cx="1449577" cy="1433763"/>
          </a:xfrm>
          <a:custGeom>
            <a:avLst/>
            <a:gdLst/>
            <a:ahLst/>
            <a:cxnLst/>
            <a:rect r="r" b="b" t="t" l="l"/>
            <a:pathLst>
              <a:path h="1433763" w="1449577">
                <a:moveTo>
                  <a:pt x="0" y="0"/>
                </a:moveTo>
                <a:lnTo>
                  <a:pt x="1449577" y="0"/>
                </a:lnTo>
                <a:lnTo>
                  <a:pt x="1449577" y="1433763"/>
                </a:lnTo>
                <a:lnTo>
                  <a:pt x="0" y="14337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17" name="TextBox 17"/>
          <p:cNvSpPr txBox="1"/>
          <p:nvPr/>
        </p:nvSpPr>
        <p:spPr>
          <a:xfrm>
            <a:off x="2860922" y="3930223"/>
            <a:ext cx="12566156" cy="1289477"/>
          </a:xfrm>
          <a:prstGeom prst="rect">
            <a:avLst/>
          </a:prstGeom>
        </p:spPr>
        <p:txBody>
          <a:bodyPr lIns="0" tIns="0" rIns="0" bIns="0" anchor="t">
            <a:spAutoFit/>
          </a:bodyPr>
          <a:lstStyle/>
          <a:p>
            <a:pPr lvl="0" algn="ctr">
              <a:lnSpc>
                <a:spcPts val="10173"/>
              </a:lnSpc>
              <a:defRPr/>
            </a:pPr>
            <a:r>
              <a:rPr lang="en-US" sz="5000" b="1">
                <a:solidFill>
                  <a:srgbClr val="19319d"/>
                </a:solidFill>
                <a:latin typeface="Black Han Sans"/>
                <a:ea typeface="Black Han Sans"/>
                <a:cs typeface="Black Han Sans"/>
                <a:sym typeface="Black Han Sans"/>
              </a:rPr>
              <a:t>AI-agent 와 RAG를 활용한 학습 관리 플랫폼</a:t>
            </a:r>
            <a:endParaRPr lang="en-US" sz="5000" b="1">
              <a:solidFill>
                <a:srgbClr val="19319d"/>
              </a:solidFill>
              <a:latin typeface="Black Han Sans"/>
              <a:ea typeface="Black Han Sans"/>
              <a:cs typeface="Black Han Sans"/>
              <a:sym typeface="Black Han Sans"/>
            </a:endParaRPr>
          </a:p>
        </p:txBody>
      </p:sp>
      <p:sp>
        <p:nvSpPr>
          <p:cNvPr id="18" name="TextBox 18"/>
          <p:cNvSpPr txBox="1"/>
          <p:nvPr/>
        </p:nvSpPr>
        <p:spPr>
          <a:xfrm>
            <a:off x="1028700" y="476747"/>
            <a:ext cx="4457297" cy="409078"/>
          </a:xfrm>
          <a:prstGeom prst="rect">
            <a:avLst/>
          </a:prstGeom>
        </p:spPr>
        <p:txBody>
          <a:bodyPr lIns="0" tIns="0" rIns="0" bIns="0" anchor="t">
            <a:spAutoFit/>
          </a:bodyPr>
          <a:lstStyle/>
          <a:p>
            <a:pPr marL="0" lvl="0" indent="0" algn="l">
              <a:lnSpc>
                <a:spcPts val="3213"/>
              </a:lnSpc>
              <a:spcBef>
                <a:spcPct val="0"/>
              </a:spcBef>
              <a:defRPr/>
            </a:pPr>
            <a:r>
              <a:rPr lang="en-US" sz="2100">
                <a:solidFill>
                  <a:srgbClr val="19319d"/>
                </a:solidFill>
                <a:latin typeface="210 디딤고딕 Light"/>
                <a:ea typeface="210 디딤고딕 Light"/>
                <a:cs typeface="210 디딤고딕 Light"/>
                <a:sym typeface="210 디딤고딕 Light"/>
              </a:rPr>
              <a:t>Project Report</a:t>
            </a:r>
            <a:endParaRPr lang="en-US" sz="2100">
              <a:solidFill>
                <a:srgbClr val="19319d"/>
              </a:solidFill>
              <a:latin typeface="210 디딤고딕 Light"/>
              <a:ea typeface="210 디딤고딕 Light"/>
              <a:cs typeface="210 디딤고딕 Light"/>
              <a:sym typeface="210 디딤고딕 Light"/>
            </a:endParaRPr>
          </a:p>
        </p:txBody>
      </p:sp>
      <p:sp>
        <p:nvSpPr>
          <p:cNvPr id="19" name="TextBox 19"/>
          <p:cNvSpPr txBox="1"/>
          <p:nvPr/>
        </p:nvSpPr>
        <p:spPr>
          <a:xfrm>
            <a:off x="8762584" y="9557702"/>
            <a:ext cx="3124616" cy="386398"/>
          </a:xfrm>
          <a:prstGeom prst="rect">
            <a:avLst/>
          </a:prstGeom>
        </p:spPr>
        <p:txBody>
          <a:bodyPr lIns="0" tIns="0" rIns="0" bIns="0" anchor="t">
            <a:spAutoFit/>
          </a:bodyPr>
          <a:lstStyle/>
          <a:p>
            <a:pPr algn="l">
              <a:lnSpc>
                <a:spcPts val="3079"/>
              </a:lnSpc>
              <a:defRPr/>
            </a:pPr>
            <a:r>
              <a:rPr lang="en-US" altLang="ko-KR" sz="2199">
                <a:solidFill>
                  <a:srgbClr val="fbfdff"/>
                </a:solidFill>
                <a:latin typeface="210 디딤고딕 Light"/>
                <a:ea typeface="210 디딤고딕 Light"/>
                <a:cs typeface="210 디딤고딕 Light"/>
                <a:sym typeface="210 디딤고딕 Light"/>
              </a:rPr>
              <a:t>sdjadygks@naver.com</a:t>
            </a:r>
            <a:endParaRPr lang="en-US" sz="2199">
              <a:solidFill>
                <a:srgbClr val="fbfdff"/>
              </a:solidFill>
              <a:latin typeface="210 디딤고딕 Light"/>
              <a:ea typeface="210 디딤고딕 Light"/>
              <a:cs typeface="210 디딤고딕 Light"/>
              <a:sym typeface="210 디딤고딕 Light"/>
            </a:endParaRPr>
          </a:p>
        </p:txBody>
      </p:sp>
      <p:sp>
        <p:nvSpPr>
          <p:cNvPr id="22" name="TextBox 22"/>
          <p:cNvSpPr txBox="1"/>
          <p:nvPr/>
        </p:nvSpPr>
        <p:spPr>
          <a:xfrm>
            <a:off x="7467184" y="9557702"/>
            <a:ext cx="1128632" cy="386398"/>
          </a:xfrm>
          <a:prstGeom prst="rect">
            <a:avLst/>
          </a:prstGeom>
        </p:spPr>
        <p:txBody>
          <a:bodyPr wrap="square" lIns="0" tIns="0" rIns="0" bIns="0" anchor="t">
            <a:spAutoFit/>
          </a:bodyPr>
          <a:lstStyle/>
          <a:p>
            <a:pPr marL="0" lvl="0" indent="0" algn="r">
              <a:lnSpc>
                <a:spcPts val="3079"/>
              </a:lnSpc>
              <a:spcBef>
                <a:spcPct val="0"/>
              </a:spcBef>
              <a:defRPr/>
            </a:pPr>
            <a:r>
              <a:rPr lang="ko-KR" altLang="en-US" sz="2199" u="none" strike="noStrike">
                <a:solidFill>
                  <a:srgbClr val="fbfdff"/>
                </a:solidFill>
                <a:latin typeface="210 디딤고딕 Light"/>
                <a:ea typeface="210 디딤고딕 Light"/>
                <a:cs typeface="210 디딤고딕 Light"/>
                <a:sym typeface="210 디딤고딕 Light"/>
              </a:rPr>
              <a:t>엄요한</a:t>
            </a:r>
            <a:endParaRPr lang="ko-KR" altLang="en-US" sz="2199" u="none" strike="noStrike">
              <a:solidFill>
                <a:srgbClr val="fbfdff"/>
              </a:solidFill>
              <a:latin typeface="210 디딤고딕 Light"/>
              <a:ea typeface="210 디딤고딕 Light"/>
              <a:cs typeface="210 디딤고딕 Light"/>
              <a:sym typeface="210 디딤고딕 Light"/>
            </a:endParaRPr>
          </a:p>
        </p:txBody>
      </p:sp>
      <p:sp>
        <p:nvSpPr>
          <p:cNvPr id="23" name="TextBox 23"/>
          <p:cNvSpPr txBox="1"/>
          <p:nvPr/>
        </p:nvSpPr>
        <p:spPr>
          <a:xfrm>
            <a:off x="12802003" y="476747"/>
            <a:ext cx="4457296" cy="409078"/>
          </a:xfrm>
          <a:prstGeom prst="rect">
            <a:avLst/>
          </a:prstGeom>
        </p:spPr>
        <p:txBody>
          <a:bodyPr lIns="0" tIns="0" rIns="0" bIns="0" anchor="t">
            <a:spAutoFit/>
          </a:bodyPr>
          <a:lstStyle/>
          <a:p>
            <a:pPr marL="0" lvl="0" indent="0" algn="r">
              <a:lnSpc>
                <a:spcPts val="3213"/>
              </a:lnSpc>
              <a:spcBef>
                <a:spcPct val="0"/>
              </a:spcBef>
              <a:defRPr/>
            </a:pPr>
            <a:r>
              <a:rPr lang="en-US" sz="2100">
                <a:solidFill>
                  <a:srgbClr val="19319d"/>
                </a:solidFill>
                <a:latin typeface="210 디딤고딕 Light"/>
                <a:ea typeface="210 디딤고딕 Light"/>
                <a:cs typeface="210 디딤고딕 Light"/>
                <a:sym typeface="210 디딤고딕 Light"/>
              </a:rPr>
              <a:t>Date. 20</a:t>
            </a:r>
            <a:r>
              <a:rPr lang="en-US" altLang="ko-KR" sz="2100">
                <a:solidFill>
                  <a:srgbClr val="19319d"/>
                </a:solidFill>
                <a:latin typeface="210 디딤고딕 Light"/>
                <a:ea typeface="210 디딤고딕 Light"/>
                <a:cs typeface="210 디딤고딕 Light"/>
                <a:sym typeface="210 디딤고딕 Light"/>
              </a:rPr>
              <a:t>25</a:t>
            </a:r>
            <a:r>
              <a:rPr lang="en-US" sz="2100">
                <a:solidFill>
                  <a:srgbClr val="19319d"/>
                </a:solidFill>
                <a:latin typeface="210 디딤고딕 Light"/>
                <a:ea typeface="210 디딤고딕 Light"/>
                <a:cs typeface="210 디딤고딕 Light"/>
                <a:sym typeface="210 디딤고딕 Light"/>
              </a:rPr>
              <a:t>.</a:t>
            </a:r>
            <a:r>
              <a:rPr lang="en-US" altLang="ko-KR" sz="2100">
                <a:solidFill>
                  <a:srgbClr val="19319d"/>
                </a:solidFill>
                <a:latin typeface="210 디딤고딕 Light"/>
                <a:ea typeface="210 디딤고딕 Light"/>
                <a:cs typeface="210 디딤고딕 Light"/>
                <a:sym typeface="210 디딤고딕 Light"/>
              </a:rPr>
              <a:t>10</a:t>
            </a:r>
            <a:r>
              <a:rPr lang="en-US" sz="2100">
                <a:solidFill>
                  <a:srgbClr val="19319d"/>
                </a:solidFill>
                <a:latin typeface="210 디딤고딕 Light"/>
                <a:ea typeface="210 디딤고딕 Light"/>
                <a:cs typeface="210 디딤고딕 Light"/>
                <a:sym typeface="210 디딤고딕 Light"/>
              </a:rPr>
              <a:t>.</a:t>
            </a:r>
            <a:r>
              <a:rPr lang="en-US" altLang="ko-KR" sz="2100">
                <a:solidFill>
                  <a:srgbClr val="19319d"/>
                </a:solidFill>
                <a:latin typeface="210 디딤고딕 Light"/>
                <a:ea typeface="210 디딤고딕 Light"/>
                <a:cs typeface="210 디딤고딕 Light"/>
                <a:sym typeface="210 디딤고딕 Light"/>
              </a:rPr>
              <a:t>12</a:t>
            </a:r>
            <a:endParaRPr lang="en-US" altLang="ko-KR" sz="2100">
              <a:solidFill>
                <a:srgbClr val="19319d"/>
              </a:solidFill>
              <a:latin typeface="210 디딤고딕 Light"/>
              <a:ea typeface="210 디딤고딕 Light"/>
              <a:cs typeface="210 디딤고딕 Light"/>
              <a:sym typeface="210 디딤고딕 Light"/>
            </a:endParaRPr>
          </a:p>
        </p:txBody>
      </p:sp>
      <p:sp>
        <p:nvSpPr>
          <p:cNvPr id="24" name="TextBox 24"/>
          <p:cNvSpPr txBox="1"/>
          <p:nvPr/>
        </p:nvSpPr>
        <p:spPr>
          <a:xfrm>
            <a:off x="4790349" y="2792392"/>
            <a:ext cx="8707300" cy="503258"/>
          </a:xfrm>
          <a:prstGeom prst="rect">
            <a:avLst/>
          </a:prstGeom>
        </p:spPr>
        <p:txBody>
          <a:bodyPr lIns="0" tIns="0" rIns="0" bIns="0" anchor="t">
            <a:spAutoFit/>
          </a:bodyPr>
          <a:lstStyle/>
          <a:p>
            <a:pPr marL="0" lvl="0" indent="0" algn="ctr">
              <a:lnSpc>
                <a:spcPts val="3971"/>
              </a:lnSpc>
              <a:spcBef>
                <a:spcPct val="0"/>
              </a:spcBef>
              <a:defRPr/>
            </a:pPr>
            <a:r>
              <a:rPr lang="ko-KR" altLang="en-US" sz="2837">
                <a:solidFill>
                  <a:srgbClr val="19319d"/>
                </a:solidFill>
                <a:latin typeface="210 디딤고딕 Bold"/>
                <a:ea typeface="210 디딤고딕 Bold"/>
                <a:cs typeface="210 디딤고딕 Bold"/>
                <a:sym typeface="210 디딤고딕 Bold"/>
              </a:rPr>
              <a:t>프로젝트 수행 보고서</a:t>
            </a:r>
            <a:endParaRPr lang="ko-KR" altLang="en-US" sz="2837">
              <a:solidFill>
                <a:srgbClr val="19319d"/>
              </a:solidFill>
              <a:latin typeface="210 디딤고딕 Bold"/>
              <a:ea typeface="210 디딤고딕 Bold"/>
              <a:cs typeface="210 디딤고딕 Bold"/>
              <a:sym typeface="210 디딤고딕 Bold"/>
            </a:endParaRPr>
          </a:p>
        </p:txBody>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name="Group 2" id="2"/>
          <p:cNvGrpSpPr/>
          <p:nvPr/>
        </p:nvGrpSpPr>
        <p:grpSpPr>
          <a:xfrm rot="0">
            <a:off x="16743892" y="8813315"/>
            <a:ext cx="2710668" cy="27106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4"/>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9982" y="1428253"/>
            <a:ext cx="2679964" cy="267996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000000">
                <a:alpha val="0"/>
              </a:srgbClr>
            </a:solidFill>
            <a:ln w="571500" cap="sq">
              <a:solidFill>
                <a:srgbClr val="19319D">
                  <a:alpha val="9804"/>
                </a:srgbClr>
              </a:solidFill>
              <a:prstDash val="solid"/>
              <a:miter/>
            </a:ln>
          </p:spPr>
        </p:sp>
        <p:sp>
          <p:nvSpPr>
            <p:cNvPr name="TextBox 7" id="7"/>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1028700" y="1147265"/>
            <a:ext cx="16230600" cy="0"/>
          </a:xfrm>
          <a:prstGeom prst="line">
            <a:avLst/>
          </a:prstGeom>
          <a:ln cap="flat" w="28575">
            <a:solidFill>
              <a:srgbClr val="19319D"/>
            </a:solidFill>
            <a:prstDash val="solid"/>
            <a:headEnd type="none" len="sm" w="sm"/>
            <a:tailEnd type="none" len="sm" w="sm"/>
          </a:ln>
        </p:spPr>
      </p:sp>
      <p:sp>
        <p:nvSpPr>
          <p:cNvPr name="Freeform 12" id="12"/>
          <p:cNvSpPr/>
          <p:nvPr/>
        </p:nvSpPr>
        <p:spPr>
          <a:xfrm flipH="false" flipV="false" rot="0">
            <a:off x="16283740" y="8037559"/>
            <a:ext cx="1372131" cy="1357163"/>
          </a:xfrm>
          <a:custGeom>
            <a:avLst/>
            <a:gdLst/>
            <a:ahLst/>
            <a:cxnLst/>
            <a:rect r="r" b="b" t="t" l="l"/>
            <a:pathLst>
              <a:path h="1357163" w="1372131">
                <a:moveTo>
                  <a:pt x="0" y="0"/>
                </a:moveTo>
                <a:lnTo>
                  <a:pt x="1372131" y="0"/>
                </a:lnTo>
                <a:lnTo>
                  <a:pt x="1372131" y="1357163"/>
                </a:lnTo>
                <a:lnTo>
                  <a:pt x="0" y="13571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13" name="TextBox 13"/>
          <p:cNvSpPr txBox="1"/>
          <p:nvPr/>
        </p:nvSpPr>
        <p:spPr>
          <a:xfrm>
            <a:off x="4867339" y="1943100"/>
            <a:ext cx="8391461" cy="1115567"/>
          </a:xfrm>
          <a:prstGeom prst="rect">
            <a:avLst/>
          </a:prstGeom>
        </p:spPr>
        <p:txBody>
          <a:bodyPr lIns="0" tIns="0" rIns="0" bIns="0" anchor="t">
            <a:spAutoFit/>
          </a:bodyPr>
          <a:lstStyle/>
          <a:p>
            <a:pPr lvl="0" algn="ctr">
              <a:lnSpc>
                <a:spcPts val="7055"/>
              </a:lnSpc>
              <a:defRPr/>
            </a:pPr>
            <a:r>
              <a:rPr lang="en-US" sz="7199">
                <a:solidFill>
                  <a:srgbClr val="19319d"/>
                </a:solidFill>
                <a:latin typeface="Black Han Sans"/>
                <a:ea typeface="Black Han Sans"/>
                <a:cs typeface="Black Han Sans"/>
                <a:sym typeface="Black Han Sans"/>
              </a:rPr>
              <a:t>목차 구성</a:t>
            </a:r>
            <a:endParaRPr lang="en-US" sz="7199">
              <a:solidFill>
                <a:srgbClr val="19319d"/>
              </a:solidFill>
              <a:latin typeface="Black Han Sans"/>
              <a:ea typeface="Black Han Sans"/>
              <a:cs typeface="Black Han Sans"/>
              <a:sym typeface="Black Han Sans"/>
            </a:endParaRPr>
          </a:p>
        </p:txBody>
      </p:sp>
      <p:sp>
        <p:nvSpPr>
          <p:cNvPr name="TextBox 14" id="14"/>
          <p:cNvSpPr txBox="true"/>
          <p:nvPr/>
        </p:nvSpPr>
        <p:spPr>
          <a:xfrm rot="0">
            <a:off x="1028700" y="476747"/>
            <a:ext cx="4457297" cy="388239"/>
          </a:xfrm>
          <a:prstGeom prst="rect">
            <a:avLst/>
          </a:prstGeom>
        </p:spPr>
        <p:txBody>
          <a:bodyPr anchor="t" rtlCol="false" tIns="0" lIns="0" bIns="0" rIns="0">
            <a:spAutoFit/>
          </a:bodyPr>
          <a:lstStyle/>
          <a:p>
            <a:pPr algn="l" marL="0" indent="0" lvl="0">
              <a:lnSpc>
                <a:spcPts val="3213"/>
              </a:lnSpc>
              <a:spcBef>
                <a:spcPct val="0"/>
              </a:spcBef>
            </a:pPr>
            <a:r>
              <a:rPr lang="en-US" sz="2100">
                <a:solidFill>
                  <a:srgbClr val="19319D"/>
                </a:solidFill>
                <a:latin typeface="210 디딤고딕 Light"/>
                <a:ea typeface="210 디딤고딕 Light"/>
                <a:cs typeface="210 디딤고딕 Light"/>
                <a:sym typeface="210 디딤고딕 Light"/>
              </a:rPr>
              <a:t>Marketing Business Proposal</a:t>
            </a:r>
          </a:p>
        </p:txBody>
      </p:sp>
      <p:sp>
        <p:nvSpPr>
          <p:cNvPr id="35" name="가로 글상자 34"/>
          <p:cNvSpPr txBox="1"/>
          <p:nvPr/>
        </p:nvSpPr>
        <p:spPr>
          <a:xfrm>
            <a:off x="2670809" y="3280408"/>
            <a:ext cx="6701791" cy="5213986"/>
          </a:xfrm>
          <a:prstGeom prst="rect">
            <a:avLst/>
          </a:prstGeom>
        </p:spPr>
        <p:txBody>
          <a:bodyPr vert="horz" wrap="none" lIns="91440" tIns="45720" rIns="91440" bIns="45720" anchor="t">
            <a:spAutoFit/>
          </a:bodyPr>
          <a:p>
            <a:pPr lvl="0">
              <a:lnSpc>
                <a:spcPct val="140000"/>
              </a:lnSpc>
              <a:defRPr/>
            </a:pPr>
            <a:r>
              <a:rPr lang="ko-KR" altLang="en-US" sz="4000">
                <a:solidFill>
                  <a:srgbClr val="19319d"/>
                </a:solidFill>
              </a:rPr>
              <a:t>▶ 기획의도</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개발 목표</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사용한 기술목록</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개발스케줄</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요구사항 분석서 및 명세서</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화면 설계서</a:t>
            </a:r>
            <a:endParaRPr lang="ko-KR" altLang="en-US" sz="4000">
              <a:solidFill>
                <a:srgbClr val="19319d"/>
              </a:solidFill>
            </a:endParaRPr>
          </a:p>
        </p:txBody>
      </p:sp>
      <p:sp>
        <p:nvSpPr>
          <p:cNvPr id="36" name="가로 글상자 35"/>
          <p:cNvSpPr txBox="1"/>
          <p:nvPr/>
        </p:nvSpPr>
        <p:spPr>
          <a:xfrm>
            <a:off x="10134600" y="3280409"/>
            <a:ext cx="7322821" cy="5213986"/>
          </a:xfrm>
          <a:prstGeom prst="rect">
            <a:avLst/>
          </a:prstGeom>
        </p:spPr>
        <p:txBody>
          <a:bodyPr vert="horz" wrap="square" lIns="91440" tIns="45720" rIns="91440" bIns="45720" anchor="t">
            <a:spAutoFit/>
          </a:bodyPr>
          <a:lstStyle/>
          <a:p>
            <a:pPr lvl="0">
              <a:lnSpc>
                <a:spcPct val="140000"/>
              </a:lnSpc>
              <a:defRPr/>
            </a:pPr>
            <a:r>
              <a:rPr lang="ko-KR" altLang="en-US" sz="4000">
                <a:solidFill>
                  <a:srgbClr val="19319d"/>
                </a:solidFill>
              </a:rPr>
              <a:t>▶</a:t>
            </a:r>
            <a:r>
              <a:rPr lang="ko-KR" altLang="en-US" sz="4000">
                <a:solidFill>
                  <a:srgbClr val="19319d"/>
                </a:solidFill>
              </a:rPr>
              <a:t> </a:t>
            </a:r>
            <a:r>
              <a:rPr lang="en-US" altLang="ko-KR" sz="4000">
                <a:solidFill>
                  <a:srgbClr val="19319d"/>
                </a:solidFill>
              </a:rPr>
              <a:t>UML</a:t>
            </a:r>
            <a:endParaRPr lang="en-US" altLang="ko-KR"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a:t>
            </a:r>
            <a:r>
              <a:rPr lang="en-US" altLang="ko-KR" sz="4000">
                <a:solidFill>
                  <a:srgbClr val="19319d"/>
                </a:solidFill>
              </a:rPr>
              <a:t>ER </a:t>
            </a:r>
            <a:r>
              <a:rPr lang="ko-KR" altLang="en-US" sz="4000">
                <a:solidFill>
                  <a:srgbClr val="19319d"/>
                </a:solidFill>
              </a:rPr>
              <a:t>다이어그램</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주요 서비스 기능 및 소스코드</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소프트웨어 아키테쳐</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향후 개발 계획</a:t>
            </a:r>
            <a:endParaRPr lang="ko-KR" altLang="en-US" sz="4000">
              <a:solidFill>
                <a:srgbClr val="19319d"/>
              </a:solidFill>
            </a:endParaRPr>
          </a:p>
          <a:p>
            <a:pPr lvl="0">
              <a:lnSpc>
                <a:spcPct val="140000"/>
              </a:lnSpc>
              <a:defRPr/>
            </a:pPr>
            <a:r>
              <a:rPr lang="ko-KR" altLang="en-US" sz="4000">
                <a:solidFill>
                  <a:srgbClr val="19319d"/>
                </a:solidFill>
              </a:rPr>
              <a:t>▶</a:t>
            </a:r>
            <a:r>
              <a:rPr lang="ko-KR" altLang="en-US" sz="4000">
                <a:solidFill>
                  <a:srgbClr val="19319d"/>
                </a:solidFill>
              </a:rPr>
              <a:t> 프로젝트 수행 소감</a:t>
            </a:r>
            <a:endParaRPr lang="ko-KR" altLang="en-US" sz="4000">
              <a:solidFill>
                <a:srgbClr val="19319d"/>
              </a:solidFill>
            </a:endParaRPr>
          </a:p>
        </p:txBody>
      </p:sp>
    </p:spTree>
  </p:cSld>
  <p:clrMapOvr>
    <a:masterClrMapping/>
  </p:clrMapOvr>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name="AutoShape 8" id="8"/>
          <p:cNvSpPr/>
          <p:nvPr/>
        </p:nvSpPr>
        <p:spPr>
          <a:xfrm>
            <a:off x="1028700" y="1147265"/>
            <a:ext cx="16230600" cy="0"/>
          </a:xfrm>
          <a:prstGeom prst="line">
            <a:avLst/>
          </a:prstGeom>
          <a:ln cap="flat" w="28575">
            <a:solidFill>
              <a:srgbClr val="19319D"/>
            </a:solidFill>
            <a:prstDash val="solid"/>
            <a:headEnd type="none" len="sm" w="sm"/>
            <a:tailEnd type="none" len="sm" w="sm"/>
          </a:ln>
        </p:spPr>
      </p:sp>
      <p:sp>
        <p:nvSpPr>
          <p:cNvPr name="Freeform 9" id="9"/>
          <p:cNvSpPr/>
          <p:nvPr/>
        </p:nvSpPr>
        <p:spPr>
          <a:xfrm flipH="false" flipV="false" rot="0">
            <a:off x="16283740" y="8037559"/>
            <a:ext cx="1372131" cy="1357163"/>
          </a:xfrm>
          <a:custGeom>
            <a:avLst/>
            <a:gdLst/>
            <a:ahLst/>
            <a:cxnLst/>
            <a:rect r="r" b="b" t="t" l="l"/>
            <a:pathLst>
              <a:path h="1357163" w="1372131">
                <a:moveTo>
                  <a:pt x="0" y="0"/>
                </a:moveTo>
                <a:lnTo>
                  <a:pt x="1372131" y="0"/>
                </a:lnTo>
                <a:lnTo>
                  <a:pt x="1372131" y="1357163"/>
                </a:lnTo>
                <a:lnTo>
                  <a:pt x="0" y="1357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id="18" name="Picture 7"/>
          <p:cNvPicPr>
            <a:picLocks noChangeAspect="1"/>
          </p:cNvPicPr>
          <p:nvPr/>
        </p:nvPicPr>
        <p:blipFill rotWithShape="1">
          <a:blip r:embed="rId5"/>
          <a:stretch>
            <a:fillRect/>
          </a:stretch>
        </p:blipFill>
        <p:spPr>
          <a:xfrm>
            <a:off x="304800" y="2019300"/>
            <a:ext cx="9311376" cy="2088354"/>
          </a:xfrm>
          <a:prstGeom prst="rect">
            <a:avLst/>
          </a:prstGeom>
        </p:spPr>
      </p:pic>
      <p:pic>
        <p:nvPicPr>
          <p:cNvPr id="19" name="Picture 8"/>
          <p:cNvPicPr>
            <a:picLocks noChangeAspect="1"/>
          </p:cNvPicPr>
          <p:nvPr/>
        </p:nvPicPr>
        <p:blipFill rotWithShape="1">
          <a:blip r:embed="rId6"/>
          <a:stretch>
            <a:fillRect/>
          </a:stretch>
        </p:blipFill>
        <p:spPr>
          <a:xfrm>
            <a:off x="609600" y="4697159"/>
            <a:ext cx="9311376" cy="1436940"/>
          </a:xfrm>
          <a:prstGeom prst="rect">
            <a:avLst/>
          </a:prstGeom>
        </p:spPr>
      </p:pic>
      <p:pic>
        <p:nvPicPr>
          <p:cNvPr id="20" name="Picture 9"/>
          <p:cNvPicPr>
            <a:picLocks noChangeAspect="1"/>
          </p:cNvPicPr>
          <p:nvPr/>
        </p:nvPicPr>
        <p:blipFill rotWithShape="1">
          <a:blip r:embed="rId7"/>
          <a:stretch>
            <a:fillRect/>
          </a:stretch>
        </p:blipFill>
        <p:spPr>
          <a:xfrm>
            <a:off x="304800" y="6896100"/>
            <a:ext cx="9311376" cy="1743488"/>
          </a:xfrm>
          <a:prstGeom prst="rect">
            <a:avLst/>
          </a:prstGeom>
        </p:spPr>
      </p:pic>
      <p:sp>
        <p:nvSpPr>
          <p:cNvPr id="21" name="TextBox 12"/>
          <p:cNvSpPr txBox="1"/>
          <p:nvPr/>
        </p:nvSpPr>
        <p:spPr>
          <a:xfrm>
            <a:off x="9982200" y="3467100"/>
            <a:ext cx="7467600" cy="2133600"/>
          </a:xfrm>
          <a:prstGeom prst="rect">
            <a:avLst/>
          </a:prstGeom>
        </p:spPr>
        <p:txBody>
          <a:bodyPr lIns="0" tIns="0" rIns="0" bIns="0" anchor="t"/>
          <a:lstStyle/>
          <a:p>
            <a:pPr lvl="0" algn="ctr">
              <a:lnSpc>
                <a:spcPct val="116199"/>
              </a:lnSpc>
              <a:defRPr/>
            </a:pPr>
            <a:r>
              <a:rPr lang="en-US" sz="3000" b="1" i="0" u="none" strike="noStrike">
                <a:solidFill>
                  <a:srgbClr val="19319d"/>
                </a:solidFill>
                <a:latin typeface="Pretendard Regular"/>
              </a:rPr>
              <a:t>“</a:t>
            </a:r>
            <a:r>
              <a:rPr lang="ko-KR" sz="3000" b="1" i="0" u="none" strike="noStrike">
                <a:solidFill>
                  <a:srgbClr val="19319d"/>
                </a:solidFill>
                <a:ea typeface="Pretendard Regular"/>
              </a:rPr>
              <a:t>정부의</a:t>
            </a:r>
            <a:r>
              <a:rPr lang="en-US" sz="3000" b="1" i="0" u="none" strike="noStrike">
                <a:solidFill>
                  <a:srgbClr val="19319d"/>
                </a:solidFill>
                <a:latin typeface="Pretendard Regular"/>
              </a:rPr>
              <a:t> AI </a:t>
            </a:r>
            <a:r>
              <a:rPr lang="ko-KR" sz="3000" b="1" i="0" u="none" strike="noStrike">
                <a:solidFill>
                  <a:srgbClr val="19319d"/>
                </a:solidFill>
                <a:ea typeface="Pretendard Regular"/>
              </a:rPr>
              <a:t>디지털교과서</a:t>
            </a:r>
            <a:r>
              <a:rPr lang="en-US" sz="3000" b="1" i="0" u="none" strike="noStrike">
                <a:solidFill>
                  <a:srgbClr val="19319d"/>
                </a:solidFill>
                <a:latin typeface="Pretendard Regular"/>
              </a:rPr>
              <a:t> </a:t>
            </a:r>
            <a:r>
              <a:rPr lang="ko-KR" sz="3000" b="1" i="0" u="none" strike="noStrike">
                <a:solidFill>
                  <a:srgbClr val="19319d"/>
                </a:solidFill>
                <a:ea typeface="Pretendard Regular"/>
              </a:rPr>
              <a:t>도입</a:t>
            </a:r>
            <a:r>
              <a:rPr lang="en-US" sz="3000" b="1" i="0" u="none" strike="noStrike">
                <a:solidFill>
                  <a:srgbClr val="19319d"/>
                </a:solidFill>
                <a:latin typeface="Pretendard Regular"/>
              </a:rPr>
              <a:t> </a:t>
            </a:r>
            <a:r>
              <a:rPr lang="ko-KR" sz="3000" b="1" i="0" u="none" strike="noStrike">
                <a:solidFill>
                  <a:srgbClr val="19319d"/>
                </a:solidFill>
                <a:ea typeface="Pretendard Regular"/>
              </a:rPr>
              <a:t>등</a:t>
            </a:r>
            <a:r>
              <a:rPr lang="en-US" sz="3000" b="1" i="0" u="none" strike="noStrike">
                <a:solidFill>
                  <a:srgbClr val="19319d"/>
                </a:solidFill>
                <a:latin typeface="Pretendard Regular"/>
              </a:rPr>
              <a:t> </a:t>
            </a:r>
            <a:r>
              <a:rPr lang="ko-KR" sz="3000" b="1" i="0" u="none" strike="noStrike">
                <a:solidFill>
                  <a:srgbClr val="19319d"/>
                </a:solidFill>
                <a:ea typeface="Pretendard Regular"/>
              </a:rPr>
              <a:t>정책</a:t>
            </a:r>
            <a:r>
              <a:rPr lang="en-US" sz="3000" b="1" i="0" u="none" strike="noStrike">
                <a:solidFill>
                  <a:srgbClr val="19319d"/>
                </a:solidFill>
                <a:latin typeface="Pretendard Regular"/>
              </a:rPr>
              <a:t> </a:t>
            </a:r>
            <a:r>
              <a:rPr lang="ko-KR" sz="3000" b="1" i="0" u="none" strike="noStrike">
                <a:solidFill>
                  <a:srgbClr val="19319d"/>
                </a:solidFill>
                <a:ea typeface="Pretendard Regular"/>
              </a:rPr>
              <a:t>흐름에</a:t>
            </a:r>
            <a:r>
              <a:rPr lang="en-US" sz="3000" b="1" i="0" u="none" strike="noStrike">
                <a:solidFill>
                  <a:srgbClr val="19319d"/>
                </a:solidFill>
                <a:latin typeface="Pretendard Regular"/>
              </a:rPr>
              <a:t> </a:t>
            </a:r>
            <a:r>
              <a:rPr lang="ko-KR" sz="3000" b="1" i="0" u="none" strike="noStrike">
                <a:solidFill>
                  <a:srgbClr val="19319d"/>
                </a:solidFill>
                <a:ea typeface="Pretendard Regular"/>
              </a:rPr>
              <a:t>발맞춰</a:t>
            </a:r>
            <a:r>
              <a:rPr lang="en-US" sz="3000" b="1" i="0" u="none" strike="noStrike">
                <a:solidFill>
                  <a:srgbClr val="19319d"/>
                </a:solidFill>
                <a:latin typeface="Pretendard Regular"/>
              </a:rPr>
              <a:t> </a:t>
            </a:r>
            <a:r>
              <a:rPr lang="ko-KR" sz="3000" b="1" i="0" u="none" strike="noStrike">
                <a:solidFill>
                  <a:srgbClr val="19319d"/>
                </a:solidFill>
                <a:ea typeface="Pretendard Regular"/>
              </a:rPr>
              <a:t>경쟁력</a:t>
            </a:r>
            <a:r>
              <a:rPr lang="en-US" sz="3000" b="1" i="0" u="none" strike="noStrike">
                <a:solidFill>
                  <a:srgbClr val="19319d"/>
                </a:solidFill>
                <a:latin typeface="Pretendard Regular"/>
              </a:rPr>
              <a:t> </a:t>
            </a:r>
            <a:r>
              <a:rPr lang="ko-KR" sz="3000" b="1" i="0" u="none" strike="noStrike">
                <a:solidFill>
                  <a:srgbClr val="19319d"/>
                </a:solidFill>
                <a:ea typeface="Pretendard Regular"/>
              </a:rPr>
              <a:t>확보에</a:t>
            </a:r>
            <a:r>
              <a:rPr lang="en-US" sz="3000" b="1" i="0" u="none" strike="noStrike">
                <a:solidFill>
                  <a:srgbClr val="19319d"/>
                </a:solidFill>
                <a:latin typeface="Pretendard Regular"/>
              </a:rPr>
              <a:t> </a:t>
            </a:r>
            <a:r>
              <a:rPr lang="ko-KR" sz="3000" b="1" i="0" u="none" strike="noStrike">
                <a:solidFill>
                  <a:srgbClr val="19319d"/>
                </a:solidFill>
                <a:ea typeface="Pretendard Regular"/>
              </a:rPr>
              <a:t>나섰다</a:t>
            </a:r>
            <a:r>
              <a:rPr lang="en-US" sz="3000" b="1" i="0" u="none" strike="noStrike">
                <a:solidFill>
                  <a:srgbClr val="19319d"/>
                </a:solidFill>
                <a:latin typeface="Pretendard Regular"/>
              </a:rPr>
              <a:t>.”</a:t>
            </a:r>
            <a:endParaRPr lang="en-US" sz="3000" b="1" i="0" u="none" strike="noStrike">
              <a:solidFill>
                <a:srgbClr val="595959"/>
              </a:solidFill>
              <a:latin typeface="Pretendard Regular"/>
            </a:endParaRPr>
          </a:p>
          <a:p>
            <a:pPr lvl="0" algn="ctr">
              <a:lnSpc>
                <a:spcPct val="116199"/>
              </a:lnSpc>
              <a:defRPr/>
            </a:pPr>
            <a:r>
              <a:rPr lang="ko-KR" sz="2200" i="0" u="none" strike="noStrike">
                <a:solidFill>
                  <a:srgbClr val="000000"/>
                </a:solidFill>
                <a:ea typeface="Pretendard Regular"/>
              </a:rPr>
              <a:t>공교육</a:t>
            </a:r>
            <a:r>
              <a:rPr lang="en-US" sz="2200" i="0" u="none" strike="noStrike">
                <a:solidFill>
                  <a:srgbClr val="000000"/>
                </a:solidFill>
                <a:latin typeface="Pretendard Regular"/>
              </a:rPr>
              <a:t> </a:t>
            </a:r>
            <a:r>
              <a:rPr lang="ko-KR" sz="2200" i="0" u="none" strike="noStrike">
                <a:solidFill>
                  <a:srgbClr val="000000"/>
                </a:solidFill>
                <a:ea typeface="Pretendard Regular"/>
              </a:rPr>
              <a:t>정책</a:t>
            </a:r>
            <a:r>
              <a:rPr lang="en-US" sz="2200" i="0" u="none" strike="noStrike">
                <a:solidFill>
                  <a:srgbClr val="000000"/>
                </a:solidFill>
                <a:latin typeface="Pretendard Regular"/>
              </a:rPr>
              <a:t> </a:t>
            </a:r>
            <a:r>
              <a:rPr lang="ko-KR" sz="2200" i="0" u="none" strike="noStrike">
                <a:solidFill>
                  <a:srgbClr val="000000"/>
                </a:solidFill>
                <a:ea typeface="Pretendard Regular"/>
              </a:rPr>
              <a:t>변화에</a:t>
            </a:r>
            <a:r>
              <a:rPr lang="en-US" sz="2200" i="0" u="none" strike="noStrike">
                <a:solidFill>
                  <a:srgbClr val="000000"/>
                </a:solidFill>
                <a:latin typeface="Pretendard Regular"/>
              </a:rPr>
              <a:t> </a:t>
            </a:r>
            <a:r>
              <a:rPr lang="ko-KR" sz="2200" i="0" u="none" strike="noStrike">
                <a:solidFill>
                  <a:srgbClr val="000000"/>
                </a:solidFill>
                <a:ea typeface="Pretendard Regular"/>
              </a:rPr>
              <a:t>민간</a:t>
            </a:r>
            <a:r>
              <a:rPr lang="en-US" sz="2200" i="0" u="none" strike="noStrike">
                <a:solidFill>
                  <a:srgbClr val="000000"/>
                </a:solidFill>
                <a:latin typeface="Pretendard Regular"/>
              </a:rPr>
              <a:t> </a:t>
            </a:r>
            <a:r>
              <a:rPr lang="ko-KR" sz="2200" i="0" u="none" strike="noStrike">
                <a:solidFill>
                  <a:srgbClr val="000000"/>
                </a:solidFill>
                <a:ea typeface="Pretendard Regular"/>
              </a:rPr>
              <a:t>교육</a:t>
            </a:r>
            <a:r>
              <a:rPr lang="en-US" sz="2200" i="0" u="none" strike="noStrike">
                <a:solidFill>
                  <a:srgbClr val="000000"/>
                </a:solidFill>
                <a:latin typeface="Pretendard Regular"/>
              </a:rPr>
              <a:t> </a:t>
            </a:r>
            <a:r>
              <a:rPr lang="ko-KR" sz="2200" i="0" u="none" strike="noStrike">
                <a:solidFill>
                  <a:srgbClr val="000000"/>
                </a:solidFill>
                <a:ea typeface="Pretendard Regular"/>
              </a:rPr>
              <a:t>기업이</a:t>
            </a:r>
            <a:r>
              <a:rPr lang="en-US" sz="2200" i="0" u="none" strike="noStrike">
                <a:solidFill>
                  <a:srgbClr val="000000"/>
                </a:solidFill>
                <a:latin typeface="Pretendard Regular"/>
              </a:rPr>
              <a:t> </a:t>
            </a:r>
            <a:r>
              <a:rPr lang="ko-KR" sz="2200" i="0" u="none" strike="noStrike">
                <a:solidFill>
                  <a:srgbClr val="000000"/>
                </a:solidFill>
                <a:ea typeface="Pretendard Regular"/>
              </a:rPr>
              <a:t>전략적으로</a:t>
            </a:r>
            <a:r>
              <a:rPr lang="en-US" sz="2200" i="0" u="none" strike="noStrike">
                <a:solidFill>
                  <a:srgbClr val="000000"/>
                </a:solidFill>
                <a:latin typeface="Pretendard Regular"/>
              </a:rPr>
              <a:t> </a:t>
            </a:r>
            <a:r>
              <a:rPr lang="ko-KR" sz="2200" i="0" u="none" strike="noStrike">
                <a:solidFill>
                  <a:srgbClr val="000000"/>
                </a:solidFill>
                <a:ea typeface="Pretendard Regular"/>
              </a:rPr>
              <a:t>대응</a:t>
            </a:r>
            <a:endParaRPr lang="ko-KR" sz="2200" i="0" u="none" strike="noStrike">
              <a:solidFill>
                <a:srgbClr val="000000"/>
              </a:solidFill>
              <a:ea typeface="Pretendard Regular"/>
            </a:endParaRPr>
          </a:p>
        </p:txBody>
      </p:sp>
      <p:sp>
        <p:nvSpPr>
          <p:cNvPr id="22" name="TextBox 13"/>
          <p:cNvSpPr txBox="1"/>
          <p:nvPr/>
        </p:nvSpPr>
        <p:spPr>
          <a:xfrm>
            <a:off x="10744200" y="5753100"/>
            <a:ext cx="7238999" cy="2133600"/>
          </a:xfrm>
          <a:prstGeom prst="rect">
            <a:avLst/>
          </a:prstGeom>
        </p:spPr>
        <p:txBody>
          <a:bodyPr lIns="0" tIns="0" rIns="0" bIns="0" anchor="t"/>
          <a:lstStyle/>
          <a:p>
            <a:pPr lvl="0" algn="ctr">
              <a:lnSpc>
                <a:spcPct val="116199"/>
              </a:lnSpc>
              <a:defRPr/>
            </a:pPr>
            <a:r>
              <a:rPr lang="en-US" sz="3000" b="1" i="0" u="none" strike="noStrike">
                <a:solidFill>
                  <a:srgbClr val="19319d"/>
                </a:solidFill>
                <a:latin typeface="Pretendard Regular"/>
              </a:rPr>
              <a:t>“AI</a:t>
            </a:r>
            <a:r>
              <a:rPr lang="ko-KR" sz="3000" b="1" i="0" u="none" strike="noStrike">
                <a:solidFill>
                  <a:srgbClr val="19319d"/>
                </a:solidFill>
                <a:ea typeface="Pretendard Regular"/>
              </a:rPr>
              <a:t>는</a:t>
            </a:r>
            <a:r>
              <a:rPr lang="en-US" sz="3000" b="1" i="0" u="none" strike="noStrike">
                <a:solidFill>
                  <a:srgbClr val="19319d"/>
                </a:solidFill>
                <a:latin typeface="Pretendard Regular"/>
              </a:rPr>
              <a:t> </a:t>
            </a:r>
            <a:r>
              <a:rPr lang="ko-KR" sz="3000" b="1" i="0" u="none" strike="noStrike">
                <a:solidFill>
                  <a:srgbClr val="19319d"/>
                </a:solidFill>
                <a:ea typeface="Pretendard Regular"/>
              </a:rPr>
              <a:t>학습</a:t>
            </a:r>
            <a:r>
              <a:rPr lang="en-US" sz="3000" b="1" i="0" u="none" strike="noStrike">
                <a:solidFill>
                  <a:srgbClr val="19319d"/>
                </a:solidFill>
                <a:latin typeface="Pretendard Regular"/>
              </a:rPr>
              <a:t> </a:t>
            </a:r>
            <a:r>
              <a:rPr lang="ko-KR" sz="3000" b="1" i="0" u="none" strike="noStrike">
                <a:solidFill>
                  <a:srgbClr val="19319d"/>
                </a:solidFill>
                <a:ea typeface="Pretendard Regular"/>
              </a:rPr>
              <a:t>동기를</a:t>
            </a:r>
            <a:r>
              <a:rPr lang="en-US" sz="3000" b="1" i="0" u="none" strike="noStrike">
                <a:solidFill>
                  <a:srgbClr val="19319d"/>
                </a:solidFill>
                <a:latin typeface="Pretendard Regular"/>
              </a:rPr>
              <a:t> </a:t>
            </a:r>
            <a:r>
              <a:rPr lang="ko-KR" sz="3000" b="1" i="0" u="none" strike="noStrike">
                <a:solidFill>
                  <a:srgbClr val="19319d"/>
                </a:solidFill>
                <a:ea typeface="Pretendard Regular"/>
              </a:rPr>
              <a:t>부여하고</a:t>
            </a:r>
            <a:r>
              <a:rPr lang="en-US" sz="3000" b="1" i="0" u="none" strike="noStrike">
                <a:solidFill>
                  <a:srgbClr val="19319d"/>
                </a:solidFill>
                <a:latin typeface="Pretendard Regular"/>
              </a:rPr>
              <a:t> </a:t>
            </a:r>
            <a:r>
              <a:rPr lang="ko-KR" sz="3000" b="1" i="0" u="none" strike="noStrike">
                <a:solidFill>
                  <a:srgbClr val="19319d"/>
                </a:solidFill>
                <a:ea typeface="Pretendard Regular"/>
              </a:rPr>
              <a:t>진도</a:t>
            </a:r>
            <a:r>
              <a:rPr lang="en-US" sz="3000" b="1" i="0" u="none" strike="noStrike">
                <a:solidFill>
                  <a:srgbClr val="19319d"/>
                </a:solidFill>
                <a:latin typeface="Pretendard Regular"/>
              </a:rPr>
              <a:t> </a:t>
            </a:r>
            <a:r>
              <a:rPr lang="ko-KR" sz="3000" b="1" i="0" u="none" strike="noStrike">
                <a:solidFill>
                  <a:srgbClr val="19319d"/>
                </a:solidFill>
                <a:ea typeface="Pretendard Regular"/>
              </a:rPr>
              <a:t>관리까지</a:t>
            </a:r>
            <a:r>
              <a:rPr lang="en-US" sz="3000" b="1" i="0" u="none" strike="noStrike">
                <a:solidFill>
                  <a:srgbClr val="19319d"/>
                </a:solidFill>
                <a:latin typeface="Pretendard Regular"/>
              </a:rPr>
              <a:t> </a:t>
            </a:r>
            <a:r>
              <a:rPr lang="ko-KR" sz="3000" b="1" i="0" u="none" strike="noStrike">
                <a:solidFill>
                  <a:srgbClr val="19319d"/>
                </a:solidFill>
                <a:ea typeface="Pretendard Regular"/>
              </a:rPr>
              <a:t>담당하는</a:t>
            </a:r>
            <a:r>
              <a:rPr lang="en-US" sz="3000" b="1" i="0" u="none" strike="noStrike">
                <a:solidFill>
                  <a:srgbClr val="19319d"/>
                </a:solidFill>
                <a:latin typeface="Pretendard Regular"/>
              </a:rPr>
              <a:t> </a:t>
            </a:r>
            <a:r>
              <a:rPr lang="ko-KR" sz="3000" b="1" i="0" u="none" strike="noStrike">
                <a:solidFill>
                  <a:srgbClr val="19319d"/>
                </a:solidFill>
                <a:ea typeface="Pretendard Regular"/>
              </a:rPr>
              <a:t>학습</a:t>
            </a:r>
            <a:r>
              <a:rPr lang="en-US" sz="3000" b="1" i="0" u="none" strike="noStrike">
                <a:solidFill>
                  <a:srgbClr val="19319d"/>
                </a:solidFill>
                <a:latin typeface="Pretendard Regular"/>
              </a:rPr>
              <a:t> </a:t>
            </a:r>
            <a:r>
              <a:rPr lang="ko-KR" sz="3000" b="1" i="0" u="none" strike="noStrike">
                <a:solidFill>
                  <a:srgbClr val="19319d"/>
                </a:solidFill>
                <a:ea typeface="Pretendard Regular"/>
              </a:rPr>
              <a:t>도우미</a:t>
            </a:r>
            <a:r>
              <a:rPr lang="en-US" sz="3000" b="1" i="0" u="none" strike="noStrike">
                <a:solidFill>
                  <a:srgbClr val="19319d"/>
                </a:solidFill>
                <a:latin typeface="Pretendard Regular"/>
              </a:rPr>
              <a:t> </a:t>
            </a:r>
            <a:r>
              <a:rPr lang="ko-KR" sz="3000" b="1" i="0" u="none" strike="noStrike">
                <a:solidFill>
                  <a:srgbClr val="19319d"/>
                </a:solidFill>
                <a:ea typeface="Pretendard Regular"/>
              </a:rPr>
              <a:t>역할을</a:t>
            </a:r>
            <a:r>
              <a:rPr lang="en-US" sz="3000" b="1" i="0" u="none" strike="noStrike">
                <a:solidFill>
                  <a:srgbClr val="19319d"/>
                </a:solidFill>
                <a:latin typeface="Pretendard Regular"/>
              </a:rPr>
              <a:t> </a:t>
            </a:r>
            <a:r>
              <a:rPr lang="ko-KR" sz="3000" b="1" i="0" u="none" strike="noStrike">
                <a:solidFill>
                  <a:srgbClr val="19319d"/>
                </a:solidFill>
                <a:ea typeface="Pretendard Regular"/>
              </a:rPr>
              <a:t>한다</a:t>
            </a:r>
            <a:r>
              <a:rPr lang="en-US" sz="3000" b="1" i="0" u="none" strike="noStrike">
                <a:solidFill>
                  <a:srgbClr val="19319d"/>
                </a:solidFill>
                <a:latin typeface="Pretendard Regular"/>
              </a:rPr>
              <a:t>.”</a:t>
            </a:r>
            <a:endParaRPr lang="en-US" sz="3000" b="1" i="0" u="none" strike="noStrike">
              <a:solidFill>
                <a:srgbClr val="595959"/>
              </a:solidFill>
              <a:latin typeface="Pretendard Regular"/>
            </a:endParaRPr>
          </a:p>
          <a:p>
            <a:pPr lvl="0" algn="ctr">
              <a:lnSpc>
                <a:spcPct val="116199"/>
              </a:lnSpc>
              <a:defRPr/>
            </a:pPr>
            <a:r>
              <a:rPr lang="ko-KR" sz="2200" b="1" i="0" u="none" strike="noStrike">
                <a:solidFill>
                  <a:srgbClr val="000000"/>
                </a:solidFill>
                <a:ea typeface="Pretendard Regular"/>
              </a:rPr>
              <a:t>단순</a:t>
            </a:r>
            <a:r>
              <a:rPr lang="en-US" sz="2200" b="1" i="0" u="none" strike="noStrike">
                <a:solidFill>
                  <a:srgbClr val="000000"/>
                </a:solidFill>
                <a:latin typeface="Pretendard Regular"/>
              </a:rPr>
              <a:t> </a:t>
            </a:r>
            <a:r>
              <a:rPr lang="ko-KR" sz="2200" b="1" i="0" u="none" strike="noStrike">
                <a:solidFill>
                  <a:srgbClr val="000000"/>
                </a:solidFill>
                <a:ea typeface="Pretendard Regular"/>
              </a:rPr>
              <a:t>콘텐츠</a:t>
            </a:r>
            <a:r>
              <a:rPr lang="en-US" sz="2200" b="1" i="0" u="none" strike="noStrike">
                <a:solidFill>
                  <a:srgbClr val="000000"/>
                </a:solidFill>
                <a:latin typeface="Pretendard Regular"/>
              </a:rPr>
              <a:t> </a:t>
            </a:r>
            <a:r>
              <a:rPr lang="ko-KR" sz="2200" b="1" i="0" u="none" strike="noStrike">
                <a:solidFill>
                  <a:srgbClr val="000000"/>
                </a:solidFill>
                <a:ea typeface="Pretendard Regular"/>
              </a:rPr>
              <a:t>제공을</a:t>
            </a:r>
            <a:r>
              <a:rPr lang="en-US" sz="2200" b="1" i="0" u="none" strike="noStrike">
                <a:solidFill>
                  <a:srgbClr val="000000"/>
                </a:solidFill>
                <a:latin typeface="Pretendard Regular"/>
              </a:rPr>
              <a:t> </a:t>
            </a:r>
            <a:r>
              <a:rPr lang="ko-KR" sz="2200" b="1" i="0" u="none" strike="noStrike">
                <a:solidFill>
                  <a:srgbClr val="000000"/>
                </a:solidFill>
                <a:ea typeface="Pretendard Regular"/>
              </a:rPr>
              <a:t>넘어</a:t>
            </a:r>
            <a:r>
              <a:rPr lang="en-US" sz="2200" b="1" i="0" u="none" strike="noStrike">
                <a:solidFill>
                  <a:srgbClr val="000000"/>
                </a:solidFill>
                <a:latin typeface="Pretendard Regular"/>
              </a:rPr>
              <a:t> </a:t>
            </a:r>
            <a:r>
              <a:rPr lang="ko-KR" sz="2200" b="1" i="0" u="none" strike="noStrike">
                <a:solidFill>
                  <a:srgbClr val="000000"/>
                </a:solidFill>
                <a:ea typeface="Pretendard Regular"/>
              </a:rPr>
              <a:t>전반적</a:t>
            </a:r>
            <a:r>
              <a:rPr lang="en-US" sz="2200" b="1" i="0" u="none" strike="noStrike">
                <a:solidFill>
                  <a:srgbClr val="000000"/>
                </a:solidFill>
                <a:latin typeface="Pretendard Regular"/>
              </a:rPr>
              <a:t> </a:t>
            </a:r>
            <a:r>
              <a:rPr lang="ko-KR" sz="2200" b="1" i="0" u="none" strike="noStrike">
                <a:solidFill>
                  <a:srgbClr val="000000"/>
                </a:solidFill>
                <a:ea typeface="Pretendard Regular"/>
              </a:rPr>
              <a:t>학습</a:t>
            </a:r>
            <a:r>
              <a:rPr lang="en-US" sz="2200" b="1" i="0" u="none" strike="noStrike">
                <a:solidFill>
                  <a:srgbClr val="000000"/>
                </a:solidFill>
                <a:latin typeface="Pretendard Regular"/>
              </a:rPr>
              <a:t> </a:t>
            </a:r>
            <a:r>
              <a:rPr lang="ko-KR" sz="2200" b="1" i="0" u="none" strike="noStrike">
                <a:solidFill>
                  <a:srgbClr val="000000"/>
                </a:solidFill>
                <a:ea typeface="Pretendard Regular"/>
              </a:rPr>
              <a:t>코칭</a:t>
            </a:r>
            <a:r>
              <a:rPr lang="en-US" sz="2200" b="1" i="0" u="none" strike="noStrike">
                <a:solidFill>
                  <a:srgbClr val="000000"/>
                </a:solidFill>
                <a:latin typeface="Pretendard Regular"/>
              </a:rPr>
              <a:t> </a:t>
            </a:r>
            <a:r>
              <a:rPr lang="ko-KR" sz="2200" b="1" i="0" u="none" strike="noStrike">
                <a:solidFill>
                  <a:srgbClr val="000000"/>
                </a:solidFill>
                <a:ea typeface="Pretendard Regular"/>
              </a:rPr>
              <a:t>시스템으로</a:t>
            </a:r>
            <a:r>
              <a:rPr lang="en-US" sz="2200" b="1" i="0" u="none" strike="noStrike">
                <a:solidFill>
                  <a:srgbClr val="000000"/>
                </a:solidFill>
                <a:latin typeface="Pretendard Regular"/>
              </a:rPr>
              <a:t> </a:t>
            </a:r>
            <a:r>
              <a:rPr lang="ko-KR" sz="2200" b="1" i="0" u="none" strike="noStrike">
                <a:solidFill>
                  <a:srgbClr val="000000"/>
                </a:solidFill>
                <a:ea typeface="Pretendard Regular"/>
              </a:rPr>
              <a:t>진화</a:t>
            </a:r>
            <a:endParaRPr lang="ko-KR" sz="2200" b="1" i="0" u="none" strike="noStrike">
              <a:solidFill>
                <a:srgbClr val="000000"/>
              </a:solidFill>
              <a:ea typeface="Pretendard Regular"/>
            </a:endParaRPr>
          </a:p>
        </p:txBody>
      </p:sp>
      <p:sp>
        <p:nvSpPr>
          <p:cNvPr id="24" name="TextBox 13"/>
          <p:cNvSpPr txBox="1"/>
          <p:nvPr/>
        </p:nvSpPr>
        <p:spPr>
          <a:xfrm>
            <a:off x="457200" y="209548"/>
            <a:ext cx="31242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기획의도</a:t>
            </a:r>
            <a:endParaRPr lang="ko-KR" altLang="en-US" sz="5500" b="1">
              <a:solidFill>
                <a:srgbClr val="19319d"/>
              </a:solidFill>
              <a:latin typeface="Black Han Sans"/>
              <a:ea typeface="Black Han Sans"/>
              <a:cs typeface="Black Han Sans"/>
              <a:sym typeface="Black Han Sans"/>
            </a:endParaRPr>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4" name="TextBox 13"/>
          <p:cNvSpPr txBox="1"/>
          <p:nvPr/>
        </p:nvSpPr>
        <p:spPr>
          <a:xfrm>
            <a:off x="457200" y="209548"/>
            <a:ext cx="31242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기획의도</a:t>
            </a:r>
            <a:endParaRPr lang="ko-KR" altLang="en-US" sz="5500" b="1">
              <a:solidFill>
                <a:srgbClr val="19319d"/>
              </a:solidFill>
              <a:latin typeface="Black Han Sans"/>
              <a:ea typeface="Black Han Sans"/>
              <a:cs typeface="Black Han Sans"/>
              <a:sym typeface="Black Han Sans"/>
            </a:endParaRPr>
          </a:p>
        </p:txBody>
      </p:sp>
      <p:pic>
        <p:nvPicPr>
          <p:cNvPr id="25" name="Picture 7"/>
          <p:cNvPicPr>
            <a:picLocks noChangeAspect="1"/>
          </p:cNvPicPr>
          <p:nvPr/>
        </p:nvPicPr>
        <p:blipFill rotWithShape="1">
          <a:blip r:embed="rId4"/>
          <a:stretch>
            <a:fillRect/>
          </a:stretch>
        </p:blipFill>
        <p:spPr>
          <a:xfrm>
            <a:off x="690384" y="2247900"/>
            <a:ext cx="9782638" cy="1447717"/>
          </a:xfrm>
          <a:prstGeom prst="rect">
            <a:avLst/>
          </a:prstGeom>
        </p:spPr>
      </p:pic>
      <p:pic>
        <p:nvPicPr>
          <p:cNvPr id="26" name="Picture 8"/>
          <p:cNvPicPr>
            <a:picLocks noChangeAspect="1"/>
          </p:cNvPicPr>
          <p:nvPr/>
        </p:nvPicPr>
        <p:blipFill rotWithShape="1">
          <a:blip r:embed="rId5"/>
          <a:stretch>
            <a:fillRect/>
          </a:stretch>
        </p:blipFill>
        <p:spPr>
          <a:xfrm>
            <a:off x="1232062" y="4489919"/>
            <a:ext cx="9207338" cy="1491781"/>
          </a:xfrm>
          <a:prstGeom prst="rect">
            <a:avLst/>
          </a:prstGeom>
        </p:spPr>
      </p:pic>
      <p:pic>
        <p:nvPicPr>
          <p:cNvPr id="27" name="Picture 9"/>
          <p:cNvPicPr>
            <a:picLocks noChangeAspect="1"/>
          </p:cNvPicPr>
          <p:nvPr/>
        </p:nvPicPr>
        <p:blipFill rotWithShape="1">
          <a:blip r:embed="rId6"/>
          <a:stretch>
            <a:fillRect/>
          </a:stretch>
        </p:blipFill>
        <p:spPr>
          <a:xfrm>
            <a:off x="914400" y="6819900"/>
            <a:ext cx="8641086" cy="1295400"/>
          </a:xfrm>
          <a:prstGeom prst="rect">
            <a:avLst/>
          </a:prstGeom>
        </p:spPr>
      </p:pic>
      <p:sp>
        <p:nvSpPr>
          <p:cNvPr id="28" name="TextBox 12"/>
          <p:cNvSpPr txBox="1"/>
          <p:nvPr/>
        </p:nvSpPr>
        <p:spPr>
          <a:xfrm>
            <a:off x="10896600" y="2945545"/>
            <a:ext cx="6705600" cy="2197954"/>
          </a:xfrm>
          <a:prstGeom prst="rect">
            <a:avLst/>
          </a:prstGeom>
        </p:spPr>
        <p:txBody>
          <a:bodyPr lIns="0" tIns="0" rIns="0" bIns="0" anchor="t"/>
          <a:lstStyle/>
          <a:p>
            <a:pPr lvl="0" algn="ctr">
              <a:lnSpc>
                <a:spcPct val="116199"/>
              </a:lnSpc>
              <a:defRPr/>
            </a:pPr>
            <a:r>
              <a:rPr lang="en-US" sz="3000" b="1" i="0" u="none" strike="noStrike">
                <a:solidFill>
                  <a:srgbClr val="19319d"/>
                </a:solidFill>
                <a:latin typeface="Pretendard Regular"/>
              </a:rPr>
              <a:t>“AI </a:t>
            </a:r>
            <a:r>
              <a:rPr lang="ko-KR" sz="3000" b="1" i="0" u="none" strike="noStrike">
                <a:solidFill>
                  <a:srgbClr val="19319d"/>
                </a:solidFill>
                <a:ea typeface="Pretendard Regular"/>
              </a:rPr>
              <a:t>시대에</a:t>
            </a:r>
            <a:r>
              <a:rPr lang="en-US" sz="3000" b="1" i="0" u="none" strike="noStrike">
                <a:solidFill>
                  <a:srgbClr val="19319d"/>
                </a:solidFill>
                <a:latin typeface="Pretendard Regular"/>
              </a:rPr>
              <a:t> </a:t>
            </a:r>
            <a:r>
              <a:rPr lang="ko-KR" sz="3000" b="1" i="0" u="none" strike="noStrike">
                <a:solidFill>
                  <a:srgbClr val="19319d"/>
                </a:solidFill>
                <a:ea typeface="Pretendard Regular"/>
              </a:rPr>
              <a:t>추격형</a:t>
            </a:r>
            <a:r>
              <a:rPr lang="en-US" sz="3000" b="1" i="0" u="none" strike="noStrike">
                <a:solidFill>
                  <a:srgbClr val="19319d"/>
                </a:solidFill>
                <a:latin typeface="Pretendard Regular"/>
              </a:rPr>
              <a:t> </a:t>
            </a:r>
            <a:r>
              <a:rPr lang="ko-KR" sz="3000" b="1" i="0" u="none" strike="noStrike">
                <a:solidFill>
                  <a:srgbClr val="19319d"/>
                </a:solidFill>
                <a:ea typeface="Pretendard Regular"/>
              </a:rPr>
              <a:t>교육</a:t>
            </a:r>
            <a:r>
              <a:rPr lang="en-US" sz="3000" b="1" i="0" u="none" strike="noStrike">
                <a:solidFill>
                  <a:srgbClr val="19319d"/>
                </a:solidFill>
                <a:latin typeface="Pretendard Regular"/>
              </a:rPr>
              <a:t> </a:t>
            </a:r>
            <a:r>
              <a:rPr lang="ko-KR" sz="3000" b="1" i="0" u="none" strike="noStrike">
                <a:solidFill>
                  <a:srgbClr val="19319d"/>
                </a:solidFill>
                <a:ea typeface="Pretendard Regular"/>
              </a:rPr>
              <a:t>방식은</a:t>
            </a:r>
            <a:r>
              <a:rPr lang="en-US" sz="3000" b="1" i="0" u="none" strike="noStrike">
                <a:solidFill>
                  <a:srgbClr val="19319d"/>
                </a:solidFill>
                <a:latin typeface="Pretendard Regular"/>
              </a:rPr>
              <a:t> </a:t>
            </a:r>
            <a:r>
              <a:rPr lang="ko-KR" sz="3000" b="1" i="0" u="none" strike="noStrike">
                <a:solidFill>
                  <a:srgbClr val="19319d"/>
                </a:solidFill>
                <a:ea typeface="Pretendard Regular"/>
              </a:rPr>
              <a:t>한계에</a:t>
            </a:r>
            <a:r>
              <a:rPr lang="en-US" sz="3000" b="1" i="0" u="none" strike="noStrike">
                <a:solidFill>
                  <a:srgbClr val="19319d"/>
                </a:solidFill>
                <a:latin typeface="Pretendard Regular"/>
              </a:rPr>
              <a:t> </a:t>
            </a:r>
            <a:r>
              <a:rPr lang="ko-KR" sz="3000" b="1" i="0" u="none" strike="noStrike">
                <a:solidFill>
                  <a:srgbClr val="19319d"/>
                </a:solidFill>
                <a:ea typeface="Pretendard Regular"/>
              </a:rPr>
              <a:t>봉착했다</a:t>
            </a:r>
            <a:r>
              <a:rPr lang="en-US" sz="3000" b="1" i="0" u="none" strike="noStrike">
                <a:solidFill>
                  <a:srgbClr val="19319d"/>
                </a:solidFill>
                <a:latin typeface="Pretendard Regular"/>
              </a:rPr>
              <a:t>.”</a:t>
            </a:r>
            <a:endParaRPr lang="en-US" sz="3000" b="1" i="0" u="none" strike="noStrike">
              <a:solidFill>
                <a:srgbClr val="595959"/>
              </a:solidFill>
              <a:latin typeface="Pretendard Regular"/>
            </a:endParaRPr>
          </a:p>
          <a:p>
            <a:pPr lvl="0" algn="ctr">
              <a:lnSpc>
                <a:spcPct val="116199"/>
              </a:lnSpc>
              <a:defRPr/>
            </a:pPr>
            <a:r>
              <a:rPr lang="en-US" sz="2200" b="0" i="0" u="none" strike="noStrike">
                <a:solidFill>
                  <a:srgbClr val="000000"/>
                </a:solidFill>
                <a:latin typeface="Pretendard Regular"/>
              </a:rPr>
              <a:t> </a:t>
            </a:r>
            <a:r>
              <a:rPr lang="ko-KR" sz="2200" b="1" i="0" u="none" strike="noStrike">
                <a:solidFill>
                  <a:srgbClr val="000000"/>
                </a:solidFill>
                <a:ea typeface="Pretendard Regular"/>
              </a:rPr>
              <a:t>기존의</a:t>
            </a:r>
            <a:r>
              <a:rPr lang="en-US" sz="2200" b="1" i="0" u="none" strike="noStrike">
                <a:solidFill>
                  <a:srgbClr val="000000"/>
                </a:solidFill>
                <a:latin typeface="Pretendard Regular"/>
              </a:rPr>
              <a:t> </a:t>
            </a:r>
            <a:r>
              <a:rPr lang="ko-KR" sz="2200" b="1" i="0" u="none" strike="noStrike">
                <a:solidFill>
                  <a:srgbClr val="000000"/>
                </a:solidFill>
                <a:ea typeface="Pretendard Regular"/>
              </a:rPr>
              <a:t>주입식</a:t>
            </a:r>
            <a:r>
              <a:rPr lang="en-US" sz="2200" b="1" i="0" u="none" strike="noStrike">
                <a:solidFill>
                  <a:srgbClr val="000000"/>
                </a:solidFill>
                <a:latin typeface="Pretendard Regular"/>
              </a:rPr>
              <a:t>·</a:t>
            </a:r>
            <a:r>
              <a:rPr lang="ko-KR" sz="2200" b="1" i="0" u="none" strike="noStrike">
                <a:solidFill>
                  <a:srgbClr val="000000"/>
                </a:solidFill>
                <a:ea typeface="Pretendard Regular"/>
              </a:rPr>
              <a:t>암기식</a:t>
            </a:r>
            <a:r>
              <a:rPr lang="en-US" sz="2200" b="1" i="0" u="none" strike="noStrike">
                <a:solidFill>
                  <a:srgbClr val="000000"/>
                </a:solidFill>
                <a:latin typeface="Pretendard Regular"/>
              </a:rPr>
              <a:t> </a:t>
            </a:r>
            <a:r>
              <a:rPr lang="ko-KR" sz="2200" b="1" i="0" u="none" strike="noStrike">
                <a:solidFill>
                  <a:srgbClr val="000000"/>
                </a:solidFill>
                <a:ea typeface="Pretendard Regular"/>
              </a:rPr>
              <a:t>교육방식으로는</a:t>
            </a:r>
            <a:r>
              <a:rPr lang="en-US" sz="2200" b="1" i="0" u="none" strike="noStrike">
                <a:solidFill>
                  <a:srgbClr val="000000"/>
                </a:solidFill>
                <a:latin typeface="Pretendard Regular"/>
              </a:rPr>
              <a:t> </a:t>
            </a:r>
            <a:r>
              <a:rPr lang="ko-KR" sz="2200" b="1" i="0" u="none" strike="noStrike">
                <a:solidFill>
                  <a:srgbClr val="000000"/>
                </a:solidFill>
                <a:ea typeface="Pretendard Regular"/>
              </a:rPr>
              <a:t>미래에</a:t>
            </a:r>
            <a:r>
              <a:rPr lang="en-US" sz="2200" b="1" i="0" u="none" strike="noStrike">
                <a:solidFill>
                  <a:srgbClr val="000000"/>
                </a:solidFill>
                <a:latin typeface="Pretendard Regular"/>
              </a:rPr>
              <a:t> </a:t>
            </a:r>
            <a:r>
              <a:rPr lang="ko-KR" sz="2200" b="1" i="0" u="none" strike="noStrike">
                <a:solidFill>
                  <a:srgbClr val="000000"/>
                </a:solidFill>
                <a:ea typeface="Pretendard Regular"/>
              </a:rPr>
              <a:t>대응하기</a:t>
            </a:r>
            <a:r>
              <a:rPr lang="en-US" sz="2200" b="1" i="0" u="none" strike="noStrike">
                <a:solidFill>
                  <a:srgbClr val="000000"/>
                </a:solidFill>
                <a:latin typeface="Pretendard Regular"/>
              </a:rPr>
              <a:t> </a:t>
            </a:r>
            <a:r>
              <a:rPr lang="ko-KR" sz="2200" b="1" i="0" u="none" strike="noStrike">
                <a:solidFill>
                  <a:srgbClr val="000000"/>
                </a:solidFill>
                <a:ea typeface="Pretendard Regular"/>
              </a:rPr>
              <a:t>어렵다는</a:t>
            </a:r>
            <a:r>
              <a:rPr lang="en-US" sz="2200" b="1" i="0" u="none" strike="noStrike">
                <a:solidFill>
                  <a:srgbClr val="000000"/>
                </a:solidFill>
                <a:latin typeface="Pretendard Regular"/>
              </a:rPr>
              <a:t> </a:t>
            </a:r>
            <a:r>
              <a:rPr lang="ko-KR" sz="2200" b="1" i="0" u="none" strike="noStrike">
                <a:solidFill>
                  <a:srgbClr val="000000"/>
                </a:solidFill>
                <a:ea typeface="Pretendard Regular"/>
              </a:rPr>
              <a:t>평가</a:t>
            </a:r>
            <a:endParaRPr lang="ko-KR" sz="2200" b="1" i="0" u="none" strike="noStrike">
              <a:solidFill>
                <a:srgbClr val="000000"/>
              </a:solidFill>
              <a:ea typeface="Pretendard Regular"/>
            </a:endParaRPr>
          </a:p>
        </p:txBody>
      </p:sp>
      <p:sp>
        <p:nvSpPr>
          <p:cNvPr id="29" name="TextBox 13"/>
          <p:cNvSpPr txBox="1"/>
          <p:nvPr/>
        </p:nvSpPr>
        <p:spPr>
          <a:xfrm>
            <a:off x="10515601" y="5453251"/>
            <a:ext cx="7086600" cy="2204849"/>
          </a:xfrm>
          <a:prstGeom prst="rect">
            <a:avLst/>
          </a:prstGeom>
        </p:spPr>
        <p:txBody>
          <a:bodyPr lIns="0" tIns="0" rIns="0" bIns="0" anchor="t"/>
          <a:lstStyle/>
          <a:p>
            <a:pPr lvl="0" algn="ctr">
              <a:lnSpc>
                <a:spcPct val="116199"/>
              </a:lnSpc>
              <a:defRPr/>
            </a:pPr>
            <a:r>
              <a:rPr lang="en-US" sz="3000" b="1" i="0" u="none" strike="noStrike">
                <a:solidFill>
                  <a:srgbClr val="19319d"/>
                </a:solidFill>
                <a:latin typeface="Pretendard Regular"/>
              </a:rPr>
              <a:t>“</a:t>
            </a:r>
            <a:r>
              <a:rPr lang="ko-KR" sz="3000" b="1" i="0" u="none" strike="noStrike">
                <a:solidFill>
                  <a:srgbClr val="19319d"/>
                </a:solidFill>
                <a:ea typeface="Pretendard Regular"/>
              </a:rPr>
              <a:t>학생이</a:t>
            </a:r>
            <a:r>
              <a:rPr lang="en-US" sz="3000" b="1" i="0" u="none" strike="noStrike">
                <a:solidFill>
                  <a:srgbClr val="19319d"/>
                </a:solidFill>
                <a:latin typeface="Pretendard Regular"/>
              </a:rPr>
              <a:t> AI</a:t>
            </a:r>
            <a:r>
              <a:rPr lang="ko-KR" sz="3000" b="1" i="0" u="none" strike="noStrike">
                <a:solidFill>
                  <a:srgbClr val="19319d"/>
                </a:solidFill>
                <a:ea typeface="Pretendard Regular"/>
              </a:rPr>
              <a:t>를</a:t>
            </a:r>
            <a:r>
              <a:rPr lang="en-US" sz="3000" b="1" i="0" u="none" strike="noStrike">
                <a:solidFill>
                  <a:srgbClr val="19319d"/>
                </a:solidFill>
                <a:latin typeface="Pretendard Regular"/>
              </a:rPr>
              <a:t> </a:t>
            </a:r>
            <a:r>
              <a:rPr lang="ko-KR" sz="3000" b="1" i="0" u="none" strike="noStrike">
                <a:solidFill>
                  <a:srgbClr val="19319d"/>
                </a:solidFill>
                <a:ea typeface="Pretendard Regular"/>
              </a:rPr>
              <a:t>도구로</a:t>
            </a:r>
            <a:r>
              <a:rPr lang="en-US" sz="3000" b="1" i="0" u="none" strike="noStrike">
                <a:solidFill>
                  <a:srgbClr val="19319d"/>
                </a:solidFill>
                <a:latin typeface="Pretendard Regular"/>
              </a:rPr>
              <a:t> </a:t>
            </a:r>
            <a:r>
              <a:rPr lang="ko-KR" sz="3000" b="1" i="0" u="none" strike="noStrike">
                <a:solidFill>
                  <a:srgbClr val="19319d"/>
                </a:solidFill>
                <a:ea typeface="Pretendard Regular"/>
              </a:rPr>
              <a:t>활용해</a:t>
            </a:r>
            <a:r>
              <a:rPr lang="en-US" sz="3000" b="1" i="0" u="none" strike="noStrike">
                <a:solidFill>
                  <a:srgbClr val="19319d"/>
                </a:solidFill>
                <a:latin typeface="Pretendard Regular"/>
              </a:rPr>
              <a:t> </a:t>
            </a:r>
            <a:r>
              <a:rPr lang="ko-KR" sz="3000" b="1" i="0" u="none" strike="noStrike">
                <a:solidFill>
                  <a:srgbClr val="19319d"/>
                </a:solidFill>
                <a:ea typeface="Pretendard Regular"/>
              </a:rPr>
              <a:t>정보를</a:t>
            </a:r>
            <a:r>
              <a:rPr lang="en-US" sz="3000" b="1" i="0" u="none" strike="noStrike">
                <a:solidFill>
                  <a:srgbClr val="19319d"/>
                </a:solidFill>
                <a:latin typeface="Pretendard Regular"/>
              </a:rPr>
              <a:t> </a:t>
            </a:r>
            <a:r>
              <a:rPr lang="ko-KR" sz="3000" b="1" i="0" u="none" strike="noStrike">
                <a:solidFill>
                  <a:srgbClr val="19319d"/>
                </a:solidFill>
                <a:ea typeface="Pretendard Regular"/>
              </a:rPr>
              <a:t>선별</a:t>
            </a:r>
            <a:r>
              <a:rPr lang="en-US" sz="3000" b="1" i="0" u="none" strike="noStrike">
                <a:solidFill>
                  <a:srgbClr val="19319d"/>
                </a:solidFill>
                <a:latin typeface="Pretendard Regular"/>
              </a:rPr>
              <a:t>·</a:t>
            </a:r>
            <a:r>
              <a:rPr lang="ko-KR" sz="3000" b="1" i="0" u="none" strike="noStrike">
                <a:solidFill>
                  <a:srgbClr val="19319d"/>
                </a:solidFill>
                <a:ea typeface="Pretendard Regular"/>
              </a:rPr>
              <a:t>분석하고</a:t>
            </a:r>
            <a:r>
              <a:rPr lang="en-US" sz="3000" b="1" i="0" u="none" strike="noStrike">
                <a:solidFill>
                  <a:srgbClr val="19319d"/>
                </a:solidFill>
                <a:latin typeface="Pretendard Regular"/>
              </a:rPr>
              <a:t>, </a:t>
            </a:r>
            <a:r>
              <a:rPr lang="ko-KR" sz="3000" b="1" i="0" u="none" strike="noStrike">
                <a:solidFill>
                  <a:srgbClr val="19319d"/>
                </a:solidFill>
                <a:ea typeface="Pretendard Regular"/>
              </a:rPr>
              <a:t>창의적으로</a:t>
            </a:r>
            <a:r>
              <a:rPr lang="en-US" sz="3000" b="1" i="0" u="none" strike="noStrike">
                <a:solidFill>
                  <a:srgbClr val="19319d"/>
                </a:solidFill>
                <a:latin typeface="Pretendard Regular"/>
              </a:rPr>
              <a:t> </a:t>
            </a:r>
            <a:r>
              <a:rPr lang="ko-KR" sz="3000" b="1" i="0" u="none" strike="noStrike">
                <a:solidFill>
                  <a:srgbClr val="19319d"/>
                </a:solidFill>
                <a:ea typeface="Pretendard Regular"/>
              </a:rPr>
              <a:t>사고하는</a:t>
            </a:r>
            <a:r>
              <a:rPr lang="en-US" sz="3000" b="1" i="0" u="none" strike="noStrike">
                <a:solidFill>
                  <a:srgbClr val="19319d"/>
                </a:solidFill>
                <a:latin typeface="Pretendard Regular"/>
              </a:rPr>
              <a:t> </a:t>
            </a:r>
            <a:r>
              <a:rPr lang="ko-KR" sz="3000" b="1" i="0" u="none" strike="noStrike">
                <a:solidFill>
                  <a:srgbClr val="19319d"/>
                </a:solidFill>
                <a:ea typeface="Pretendard Regular"/>
              </a:rPr>
              <a:t>능력을</a:t>
            </a:r>
            <a:r>
              <a:rPr lang="en-US" sz="3000" b="1" i="0" u="none" strike="noStrike">
                <a:solidFill>
                  <a:srgbClr val="19319d"/>
                </a:solidFill>
                <a:latin typeface="Pretendard Regular"/>
              </a:rPr>
              <a:t> </a:t>
            </a:r>
            <a:r>
              <a:rPr lang="ko-KR" sz="3000" b="1" i="0" u="none" strike="noStrike">
                <a:solidFill>
                  <a:srgbClr val="19319d"/>
                </a:solidFill>
                <a:ea typeface="Pretendard Regular"/>
              </a:rPr>
              <a:t>길러야</a:t>
            </a:r>
            <a:r>
              <a:rPr lang="en-US" sz="3000" b="1" i="0" u="none" strike="noStrike">
                <a:solidFill>
                  <a:srgbClr val="19319d"/>
                </a:solidFill>
                <a:latin typeface="Pretendard Regular"/>
              </a:rPr>
              <a:t> </a:t>
            </a:r>
            <a:r>
              <a:rPr lang="ko-KR" sz="3000" b="1" i="0" u="none" strike="noStrike">
                <a:solidFill>
                  <a:srgbClr val="19319d"/>
                </a:solidFill>
                <a:ea typeface="Pretendard Regular"/>
              </a:rPr>
              <a:t>한다</a:t>
            </a:r>
            <a:r>
              <a:rPr lang="en-US" sz="3000" b="1" i="0" u="none" strike="noStrike">
                <a:solidFill>
                  <a:srgbClr val="19319d"/>
                </a:solidFill>
                <a:latin typeface="Pretendard Regular"/>
              </a:rPr>
              <a:t>.”</a:t>
            </a:r>
            <a:endParaRPr lang="en-US" sz="3000" b="1" i="0" u="none" strike="noStrike">
              <a:solidFill>
                <a:srgbClr val="19319d"/>
              </a:solidFill>
              <a:latin typeface="Pretendard Regular"/>
            </a:endParaRPr>
          </a:p>
          <a:p>
            <a:pPr lvl="0" algn="ctr">
              <a:lnSpc>
                <a:spcPct val="116199"/>
              </a:lnSpc>
              <a:defRPr/>
            </a:pPr>
            <a:r>
              <a:rPr lang="en-US" sz="2200" b="1" i="0" u="none" strike="noStrike">
                <a:solidFill>
                  <a:srgbClr val="000000"/>
                </a:solidFill>
                <a:latin typeface="Pretendard Regular"/>
              </a:rPr>
              <a:t>AI </a:t>
            </a:r>
            <a:r>
              <a:rPr lang="ko-KR" sz="2200" b="1" i="0" u="none" strike="noStrike">
                <a:solidFill>
                  <a:srgbClr val="000000"/>
                </a:solidFill>
                <a:ea typeface="Pretendard Regular"/>
              </a:rPr>
              <a:t>도구</a:t>
            </a:r>
            <a:r>
              <a:rPr lang="en-US" sz="2200" b="1" i="0" u="none" strike="noStrike">
                <a:solidFill>
                  <a:srgbClr val="000000"/>
                </a:solidFill>
                <a:latin typeface="Pretendard Regular"/>
              </a:rPr>
              <a:t> </a:t>
            </a:r>
            <a:r>
              <a:rPr lang="ko-KR" sz="2200" b="1" i="0" u="none" strike="noStrike">
                <a:solidFill>
                  <a:srgbClr val="000000"/>
                </a:solidFill>
                <a:ea typeface="Pretendard Regular"/>
              </a:rPr>
              <a:t>활용</a:t>
            </a:r>
            <a:r>
              <a:rPr lang="en-US" sz="2200" b="1" i="0" u="none" strike="noStrike">
                <a:solidFill>
                  <a:srgbClr val="000000"/>
                </a:solidFill>
                <a:latin typeface="Pretendard Regular"/>
              </a:rPr>
              <a:t> </a:t>
            </a:r>
            <a:r>
              <a:rPr lang="ko-KR" sz="2200" b="1" i="0" u="none" strike="noStrike">
                <a:solidFill>
                  <a:srgbClr val="000000"/>
                </a:solidFill>
                <a:ea typeface="Pretendard Regular"/>
              </a:rPr>
              <a:t>역량과</a:t>
            </a:r>
            <a:r>
              <a:rPr lang="en-US" sz="2200" b="1" i="0" u="none" strike="noStrike">
                <a:solidFill>
                  <a:srgbClr val="000000"/>
                </a:solidFill>
                <a:latin typeface="Pretendard Regular"/>
              </a:rPr>
              <a:t> </a:t>
            </a:r>
            <a:r>
              <a:rPr lang="ko-KR" sz="2200" b="1" i="0" u="none" strike="noStrike">
                <a:solidFill>
                  <a:srgbClr val="000000"/>
                </a:solidFill>
                <a:ea typeface="Pretendard Regular"/>
              </a:rPr>
              <a:t>창의적</a:t>
            </a:r>
            <a:r>
              <a:rPr lang="en-US" sz="2200" b="1" i="0" u="none" strike="noStrike">
                <a:solidFill>
                  <a:srgbClr val="000000"/>
                </a:solidFill>
                <a:latin typeface="Pretendard Regular"/>
              </a:rPr>
              <a:t> </a:t>
            </a:r>
            <a:r>
              <a:rPr lang="ko-KR" sz="2200" b="1" i="0" u="none" strike="noStrike">
                <a:solidFill>
                  <a:srgbClr val="000000"/>
                </a:solidFill>
                <a:ea typeface="Pretendard Regular"/>
              </a:rPr>
              <a:t>사고력</a:t>
            </a:r>
            <a:r>
              <a:rPr lang="en-US" sz="2200" b="1" i="0" u="none" strike="noStrike">
                <a:solidFill>
                  <a:srgbClr val="000000"/>
                </a:solidFill>
                <a:latin typeface="Pretendard Regular"/>
              </a:rPr>
              <a:t> </a:t>
            </a:r>
            <a:r>
              <a:rPr lang="ko-KR" sz="2200" b="1" i="0" u="none" strike="noStrike">
                <a:solidFill>
                  <a:srgbClr val="000000"/>
                </a:solidFill>
                <a:ea typeface="Pretendard Regular"/>
              </a:rPr>
              <a:t>배양이</a:t>
            </a:r>
            <a:r>
              <a:rPr lang="en-US" sz="2200" b="1" i="0" u="none" strike="noStrike">
                <a:solidFill>
                  <a:srgbClr val="000000"/>
                </a:solidFill>
                <a:latin typeface="Pretendard Regular"/>
              </a:rPr>
              <a:t> </a:t>
            </a:r>
            <a:r>
              <a:rPr lang="ko-KR" sz="2200" b="1" i="0" u="none" strike="noStrike">
                <a:solidFill>
                  <a:srgbClr val="000000"/>
                </a:solidFill>
                <a:ea typeface="Pretendard Regular"/>
              </a:rPr>
              <a:t>핵심</a:t>
            </a:r>
            <a:endParaRPr lang="ko-KR" sz="2200" b="1" i="0" u="none" strike="noStrike">
              <a:solidFill>
                <a:srgbClr val="000000"/>
              </a:solidFill>
              <a:ea typeface="Pretendard Regular"/>
            </a:endParaRPr>
          </a:p>
        </p:txBody>
      </p:sp>
    </p:spTree>
    <p:extLst>
      <p:ext uri="{BB962C8B-B14F-4D97-AF65-F5344CB8AC3E}">
        <p14:creationId xmlns:p14="http://schemas.microsoft.com/office/powerpoint/2010/main" val="2064341557"/>
      </p:ext>
    </p:extLst>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31242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개발목표</a:t>
            </a:r>
            <a:endParaRPr lang="ko-KR" altLang="en-US" sz="5500" b="1">
              <a:solidFill>
                <a:srgbClr val="19319d"/>
              </a:solidFill>
              <a:latin typeface="Black Han Sans"/>
              <a:ea typeface="Black Han Sans"/>
              <a:cs typeface="Black Han Sans"/>
              <a:sym typeface="Black Han Sans"/>
            </a:endParaRPr>
          </a:p>
        </p:txBody>
      </p:sp>
      <p:grpSp>
        <p:nvGrpSpPr>
          <p:cNvPr id="39" name="Group 8"/>
          <p:cNvGrpSpPr/>
          <p:nvPr/>
        </p:nvGrpSpPr>
        <p:grpSpPr>
          <a:xfrm rot="0">
            <a:off x="1604026" y="2378807"/>
            <a:ext cx="15079948" cy="5050693"/>
            <a:chOff x="0" y="0"/>
            <a:chExt cx="3971674" cy="1330224"/>
          </a:xfrm>
        </p:grpSpPr>
        <p:sp>
          <p:nvSpPr>
            <p:cNvPr id="40" name="Freeform 9"/>
            <p:cNvSpPr/>
            <p:nvPr/>
          </p:nvSpPr>
          <p:spPr>
            <a:xfrm>
              <a:off x="0" y="0"/>
              <a:ext cx="3971673" cy="1330224"/>
            </a:xfrm>
            <a:custGeom>
              <a:avLst/>
              <a:gdLst/>
              <a:rect l="l" t="t" r="r" b="b"/>
              <a:pathLst>
                <a:path w="3971673" h="1330224">
                  <a:moveTo>
                    <a:pt x="0" y="0"/>
                  </a:moveTo>
                  <a:lnTo>
                    <a:pt x="3971673" y="0"/>
                  </a:lnTo>
                  <a:lnTo>
                    <a:pt x="3971673" y="1330224"/>
                  </a:lnTo>
                  <a:lnTo>
                    <a:pt x="0" y="1330224"/>
                  </a:lnTo>
                  <a:close/>
                </a:path>
              </a:pathLst>
            </a:custGeom>
            <a:solidFill>
              <a:srgbClr val="19319d">
                <a:alpha val="9800"/>
              </a:srgbClr>
            </a:solidFill>
            <a:ln cap="sq">
              <a:noFill/>
              <a:prstDash val="solid"/>
              <a:miter/>
            </a:ln>
          </p:spPr>
        </p:sp>
        <p:sp>
          <p:nvSpPr>
            <p:cNvPr id="41" name="TextBox 10"/>
            <p:cNvSpPr txBox="1"/>
            <p:nvPr/>
          </p:nvSpPr>
          <p:spPr>
            <a:xfrm>
              <a:off x="0" y="-47625"/>
              <a:ext cx="3971674" cy="1377849"/>
            </a:xfrm>
            <a:prstGeom prst="rect">
              <a:avLst/>
            </a:prstGeom>
          </p:spPr>
          <p:txBody>
            <a:bodyPr lIns="50800" tIns="50800" rIns="50800" bIns="50800" anchor="ctr"/>
            <a:lstStyle/>
            <a:p>
              <a:pPr lvl="0" algn="ctr">
                <a:lnSpc>
                  <a:spcPts val="2659"/>
                </a:lnSpc>
                <a:spcBef>
                  <a:spcPct val="0"/>
                </a:spcBef>
                <a:defRPr/>
              </a:pPr>
              <a:endParaRPr lang="ko-KR" altLang="en-US"/>
            </a:p>
          </p:txBody>
        </p:sp>
      </p:grpSp>
      <p:sp>
        <p:nvSpPr>
          <p:cNvPr id="46" name="TextBox 19"/>
          <p:cNvSpPr txBox="1"/>
          <p:nvPr/>
        </p:nvSpPr>
        <p:spPr>
          <a:xfrm>
            <a:off x="2209451" y="2579230"/>
            <a:ext cx="1141034" cy="792620"/>
          </a:xfrm>
          <a:prstGeom prst="rect">
            <a:avLst/>
          </a:prstGeom>
        </p:spPr>
        <p:txBody>
          <a:bodyPr lIns="0" tIns="0" rIns="0" bIns="0" anchor="t">
            <a:spAutoFit/>
          </a:bodyPr>
          <a:lstStyle/>
          <a:p>
            <a:pPr marL="0" lvl="0" indent="0" algn="l">
              <a:lnSpc>
                <a:spcPts val="6271"/>
              </a:lnSpc>
              <a:spcBef>
                <a:spcPct val="0"/>
              </a:spcBef>
              <a:defRPr/>
            </a:pPr>
            <a:r>
              <a:rPr lang="en-US" sz="6399" u="none" strike="noStrike">
                <a:solidFill>
                  <a:srgbClr val="19319d"/>
                </a:solidFill>
                <a:latin typeface="Black Han Sans"/>
                <a:ea typeface="Black Han Sans"/>
                <a:cs typeface="Black Han Sans"/>
                <a:sym typeface="Black Han Sans"/>
              </a:rPr>
              <a:t>1</a:t>
            </a:r>
            <a:endParaRPr lang="en-US" sz="6399" u="none" strike="noStrike">
              <a:solidFill>
                <a:srgbClr val="19319d"/>
              </a:solidFill>
              <a:latin typeface="Black Han Sans"/>
              <a:ea typeface="Black Han Sans"/>
              <a:cs typeface="Black Han Sans"/>
              <a:sym typeface="Black Han Sans"/>
            </a:endParaRPr>
          </a:p>
        </p:txBody>
      </p:sp>
      <p:sp>
        <p:nvSpPr>
          <p:cNvPr id="47" name="TextBox 20"/>
          <p:cNvSpPr txBox="1"/>
          <p:nvPr/>
        </p:nvSpPr>
        <p:spPr>
          <a:xfrm>
            <a:off x="6040277" y="2579230"/>
            <a:ext cx="1141034" cy="792620"/>
          </a:xfrm>
          <a:prstGeom prst="rect">
            <a:avLst/>
          </a:prstGeom>
        </p:spPr>
        <p:txBody>
          <a:bodyPr lIns="0" tIns="0" rIns="0" bIns="0" anchor="t">
            <a:spAutoFit/>
          </a:bodyPr>
          <a:lstStyle/>
          <a:p>
            <a:pPr marL="0" lvl="0" indent="0" algn="l">
              <a:lnSpc>
                <a:spcPts val="6271"/>
              </a:lnSpc>
              <a:spcBef>
                <a:spcPct val="0"/>
              </a:spcBef>
              <a:defRPr/>
            </a:pPr>
            <a:r>
              <a:rPr lang="en-US" sz="6399" u="none" strike="noStrike">
                <a:solidFill>
                  <a:srgbClr val="19319d"/>
                </a:solidFill>
                <a:latin typeface="Black Han Sans"/>
                <a:ea typeface="Black Han Sans"/>
                <a:cs typeface="Black Han Sans"/>
                <a:sym typeface="Black Han Sans"/>
              </a:rPr>
              <a:t>2</a:t>
            </a:r>
            <a:endParaRPr lang="en-US" sz="6399" u="none" strike="noStrike">
              <a:solidFill>
                <a:srgbClr val="19319d"/>
              </a:solidFill>
              <a:latin typeface="Black Han Sans"/>
              <a:ea typeface="Black Han Sans"/>
              <a:cs typeface="Black Han Sans"/>
              <a:sym typeface="Black Han Sans"/>
            </a:endParaRPr>
          </a:p>
        </p:txBody>
      </p:sp>
      <p:sp>
        <p:nvSpPr>
          <p:cNvPr id="48" name="TextBox 21"/>
          <p:cNvSpPr txBox="1"/>
          <p:nvPr/>
        </p:nvSpPr>
        <p:spPr>
          <a:xfrm>
            <a:off x="9871103" y="2579230"/>
            <a:ext cx="1141034" cy="792620"/>
          </a:xfrm>
          <a:prstGeom prst="rect">
            <a:avLst/>
          </a:prstGeom>
        </p:spPr>
        <p:txBody>
          <a:bodyPr lIns="0" tIns="0" rIns="0" bIns="0" anchor="t">
            <a:spAutoFit/>
          </a:bodyPr>
          <a:lstStyle/>
          <a:p>
            <a:pPr marL="0" lvl="0" indent="0" algn="l">
              <a:lnSpc>
                <a:spcPts val="6271"/>
              </a:lnSpc>
              <a:spcBef>
                <a:spcPct val="0"/>
              </a:spcBef>
              <a:defRPr/>
            </a:pPr>
            <a:r>
              <a:rPr lang="en-US" sz="6399" u="none" strike="noStrike">
                <a:solidFill>
                  <a:srgbClr val="19319d"/>
                </a:solidFill>
                <a:latin typeface="Black Han Sans"/>
                <a:ea typeface="Black Han Sans"/>
                <a:cs typeface="Black Han Sans"/>
                <a:sym typeface="Black Han Sans"/>
              </a:rPr>
              <a:t>3</a:t>
            </a:r>
            <a:endParaRPr lang="en-US" sz="6399" u="none" strike="noStrike">
              <a:solidFill>
                <a:srgbClr val="19319d"/>
              </a:solidFill>
              <a:latin typeface="Black Han Sans"/>
              <a:ea typeface="Black Han Sans"/>
              <a:cs typeface="Black Han Sans"/>
              <a:sym typeface="Black Han Sans"/>
            </a:endParaRPr>
          </a:p>
        </p:txBody>
      </p:sp>
      <p:sp>
        <p:nvSpPr>
          <p:cNvPr id="49" name="TextBox 22"/>
          <p:cNvSpPr txBox="1"/>
          <p:nvPr/>
        </p:nvSpPr>
        <p:spPr>
          <a:xfrm>
            <a:off x="13701929" y="2579230"/>
            <a:ext cx="1141034" cy="792620"/>
          </a:xfrm>
          <a:prstGeom prst="rect">
            <a:avLst/>
          </a:prstGeom>
        </p:spPr>
        <p:txBody>
          <a:bodyPr lIns="0" tIns="0" rIns="0" bIns="0" anchor="t">
            <a:spAutoFit/>
          </a:bodyPr>
          <a:lstStyle/>
          <a:p>
            <a:pPr marL="0" lvl="0" indent="0" algn="l">
              <a:lnSpc>
                <a:spcPts val="6271"/>
              </a:lnSpc>
              <a:spcBef>
                <a:spcPct val="0"/>
              </a:spcBef>
              <a:defRPr/>
            </a:pPr>
            <a:r>
              <a:rPr lang="en-US" sz="6399" u="none" strike="noStrike">
                <a:solidFill>
                  <a:srgbClr val="19319d"/>
                </a:solidFill>
                <a:latin typeface="Black Han Sans"/>
                <a:ea typeface="Black Han Sans"/>
                <a:cs typeface="Black Han Sans"/>
                <a:sym typeface="Black Han Sans"/>
              </a:rPr>
              <a:t>4</a:t>
            </a:r>
            <a:endParaRPr lang="en-US" sz="6399" u="none" strike="noStrike">
              <a:solidFill>
                <a:srgbClr val="19319d"/>
              </a:solidFill>
              <a:latin typeface="Black Han Sans"/>
              <a:ea typeface="Black Han Sans"/>
              <a:cs typeface="Black Han Sans"/>
              <a:sym typeface="Black Han Sans"/>
            </a:endParaRPr>
          </a:p>
        </p:txBody>
      </p:sp>
      <p:sp>
        <p:nvSpPr>
          <p:cNvPr id="50" name="TextBox 23"/>
          <p:cNvSpPr txBox="1"/>
          <p:nvPr/>
        </p:nvSpPr>
        <p:spPr>
          <a:xfrm>
            <a:off x="2209451" y="3987638"/>
            <a:ext cx="2664291" cy="936787"/>
          </a:xfrm>
          <a:prstGeom prst="rect">
            <a:avLst/>
          </a:prstGeom>
        </p:spPr>
        <p:txBody>
          <a:bodyPr lIns="0" tIns="0" rIns="0" bIns="0" anchor="t">
            <a:spAutoFit/>
          </a:bodyPr>
          <a:lstStyle/>
          <a:p>
            <a:pPr marL="0" lvl="0" indent="0" algn="l">
              <a:lnSpc>
                <a:spcPts val="3672"/>
              </a:lnSpc>
              <a:spcBef>
                <a:spcPct val="0"/>
              </a:spcBef>
              <a:defRPr/>
            </a:pPr>
            <a:r>
              <a:rPr lang="ko-KR" altLang="en-US" sz="2400">
                <a:solidFill>
                  <a:srgbClr val="0b1544"/>
                </a:solidFill>
                <a:latin typeface="210 디딤고딕 Bold"/>
                <a:ea typeface="210 디딤고딕 Bold"/>
                <a:cs typeface="210 디딤고딕 Bold"/>
                <a:sym typeface="210 디딤고딕 Bold"/>
              </a:rPr>
              <a:t>영상에서 의미있는 데이터 추출</a:t>
            </a:r>
            <a:endParaRPr lang="ko-KR" altLang="en-US" sz="2400">
              <a:solidFill>
                <a:srgbClr val="0b1544"/>
              </a:solidFill>
              <a:latin typeface="210 디딤고딕 Bold"/>
              <a:ea typeface="210 디딤고딕 Bold"/>
              <a:cs typeface="210 디딤고딕 Bold"/>
              <a:sym typeface="210 디딤고딕 Bold"/>
            </a:endParaRPr>
          </a:p>
        </p:txBody>
      </p:sp>
      <p:sp>
        <p:nvSpPr>
          <p:cNvPr id="51" name="TextBox 24"/>
          <p:cNvSpPr txBox="1"/>
          <p:nvPr/>
        </p:nvSpPr>
        <p:spPr>
          <a:xfrm>
            <a:off x="6040277" y="3977246"/>
            <a:ext cx="2664291" cy="937654"/>
          </a:xfrm>
          <a:prstGeom prst="rect">
            <a:avLst/>
          </a:prstGeom>
        </p:spPr>
        <p:txBody>
          <a:bodyPr lIns="0" tIns="0" rIns="0" bIns="0" anchor="t">
            <a:spAutoFit/>
          </a:bodyPr>
          <a:lstStyle/>
          <a:p>
            <a:pPr marL="0" lvl="0" indent="0" algn="l">
              <a:lnSpc>
                <a:spcPts val="3672"/>
              </a:lnSpc>
              <a:spcBef>
                <a:spcPct val="0"/>
              </a:spcBef>
              <a:defRPr/>
            </a:pPr>
            <a:r>
              <a:rPr lang="en-US" altLang="ko-KR" sz="2400">
                <a:solidFill>
                  <a:srgbClr val="0b1544"/>
                </a:solidFill>
                <a:latin typeface="210 디딤고딕 Bold"/>
                <a:ea typeface="210 디딤고딕 Bold"/>
                <a:cs typeface="210 디딤고딕 Bold"/>
                <a:sym typeface="210 디딤고딕 Bold"/>
              </a:rPr>
              <a:t>LLM</a:t>
            </a:r>
            <a:r>
              <a:rPr lang="ko-KR" altLang="en-US" sz="2400">
                <a:solidFill>
                  <a:srgbClr val="0b1544"/>
                </a:solidFill>
                <a:latin typeface="210 디딤고딕 Bold"/>
                <a:ea typeface="210 디딤고딕 Bold"/>
                <a:cs typeface="210 디딤고딕 Bold"/>
                <a:sym typeface="210 디딤고딕 Bold"/>
              </a:rPr>
              <a:t>을 활용한 데이터 가공</a:t>
            </a:r>
            <a:endParaRPr lang="ko-KR" altLang="en-US" sz="2400">
              <a:solidFill>
                <a:srgbClr val="0b1544"/>
              </a:solidFill>
              <a:latin typeface="210 디딤고딕 Bold"/>
              <a:ea typeface="210 디딤고딕 Bold"/>
              <a:cs typeface="210 디딤고딕 Bold"/>
              <a:sym typeface="210 디딤고딕 Bold"/>
            </a:endParaRPr>
          </a:p>
        </p:txBody>
      </p:sp>
      <p:sp>
        <p:nvSpPr>
          <p:cNvPr id="52" name="TextBox 25"/>
          <p:cNvSpPr txBox="1"/>
          <p:nvPr/>
        </p:nvSpPr>
        <p:spPr>
          <a:xfrm>
            <a:off x="9566302" y="3977246"/>
            <a:ext cx="3159097" cy="1404379"/>
          </a:xfrm>
          <a:prstGeom prst="rect">
            <a:avLst/>
          </a:prstGeom>
        </p:spPr>
        <p:txBody>
          <a:bodyPr wrap="square" lIns="0" tIns="0" rIns="0" bIns="0" anchor="t">
            <a:spAutoFit/>
          </a:bodyPr>
          <a:lstStyle/>
          <a:p>
            <a:pPr marL="0" lvl="0" indent="0" algn="l">
              <a:lnSpc>
                <a:spcPts val="3672"/>
              </a:lnSpc>
              <a:spcBef>
                <a:spcPct val="0"/>
              </a:spcBef>
              <a:defRPr/>
            </a:pPr>
            <a:r>
              <a:rPr lang="ko-KR" altLang="en-US" sz="2400">
                <a:solidFill>
                  <a:srgbClr val="0b1544"/>
                </a:solidFill>
                <a:latin typeface="210 디딤고딕 Bold"/>
                <a:ea typeface="210 디딤고딕 Bold"/>
                <a:cs typeface="210 디딤고딕 Bold"/>
                <a:sym typeface="210 디딤고딕 Bold"/>
              </a:rPr>
              <a:t>시선 추적 라이브러리를 활용한 영상단위의 집중도 측정</a:t>
            </a:r>
            <a:endParaRPr lang="ko-KR" altLang="en-US" sz="2400">
              <a:solidFill>
                <a:srgbClr val="0b1544"/>
              </a:solidFill>
              <a:latin typeface="210 디딤고딕 Bold"/>
              <a:ea typeface="210 디딤고딕 Bold"/>
              <a:cs typeface="210 디딤고딕 Bold"/>
              <a:sym typeface="210 디딤고딕 Bold"/>
            </a:endParaRPr>
          </a:p>
        </p:txBody>
      </p:sp>
      <p:sp>
        <p:nvSpPr>
          <p:cNvPr id="53" name="TextBox 26"/>
          <p:cNvSpPr txBox="1"/>
          <p:nvPr/>
        </p:nvSpPr>
        <p:spPr>
          <a:xfrm>
            <a:off x="13411200" y="3977246"/>
            <a:ext cx="2664291" cy="937654"/>
          </a:xfrm>
          <a:prstGeom prst="rect">
            <a:avLst/>
          </a:prstGeom>
        </p:spPr>
        <p:txBody>
          <a:bodyPr lIns="0" tIns="0" rIns="0" bIns="0" anchor="t">
            <a:spAutoFit/>
          </a:bodyPr>
          <a:lstStyle/>
          <a:p>
            <a:pPr marL="0" lvl="0" indent="0" algn="l">
              <a:lnSpc>
                <a:spcPts val="3672"/>
              </a:lnSpc>
              <a:spcBef>
                <a:spcPct val="0"/>
              </a:spcBef>
              <a:defRPr/>
            </a:pPr>
            <a:r>
              <a:rPr lang="en-US" altLang="ko-KR" sz="2400">
                <a:solidFill>
                  <a:srgbClr val="0b1544"/>
                </a:solidFill>
                <a:latin typeface="210 디딤고딕 Bold"/>
                <a:ea typeface="210 디딤고딕 Bold"/>
                <a:cs typeface="210 디딤고딕 Bold"/>
                <a:sym typeface="210 디딤고딕 Bold"/>
              </a:rPr>
              <a:t>AI-agent</a:t>
            </a:r>
            <a:r>
              <a:rPr lang="ko-KR" altLang="en-US" sz="2400">
                <a:solidFill>
                  <a:srgbClr val="0b1544"/>
                </a:solidFill>
                <a:latin typeface="210 디딤고딕 Bold"/>
                <a:ea typeface="210 디딤고딕 Bold"/>
                <a:cs typeface="210 디딤고딕 Bold"/>
                <a:sym typeface="210 디딤고딕 Bold"/>
              </a:rPr>
              <a:t>와 </a:t>
            </a:r>
            <a:r>
              <a:rPr lang="en-US" altLang="ko-KR" sz="2400">
                <a:solidFill>
                  <a:srgbClr val="0b1544"/>
                </a:solidFill>
                <a:latin typeface="210 디딤고딕 Bold"/>
                <a:ea typeface="210 디딤고딕 Bold"/>
                <a:cs typeface="210 디딤고딕 Bold"/>
                <a:sym typeface="210 디딤고딕 Bold"/>
              </a:rPr>
              <a:t>RAG</a:t>
            </a:r>
            <a:r>
              <a:rPr lang="ko-KR" altLang="en-US" sz="2400">
                <a:solidFill>
                  <a:srgbClr val="0b1544"/>
                </a:solidFill>
                <a:latin typeface="210 디딤고딕 Bold"/>
                <a:ea typeface="210 디딤고딕 Bold"/>
                <a:cs typeface="210 디딤고딕 Bold"/>
                <a:sym typeface="210 디딤고딕 Bold"/>
              </a:rPr>
              <a:t>를 활용한 </a:t>
            </a:r>
            <a:r>
              <a:rPr lang="en-US" altLang="ko-KR" sz="2400">
                <a:solidFill>
                  <a:srgbClr val="0b1544"/>
                </a:solidFill>
                <a:latin typeface="210 디딤고딕 Bold"/>
                <a:ea typeface="210 디딤고딕 Bold"/>
                <a:cs typeface="210 디딤고딕 Bold"/>
                <a:sym typeface="210 디딤고딕 Bold"/>
              </a:rPr>
              <a:t>AI</a:t>
            </a:r>
            <a:r>
              <a:rPr lang="ko-KR" altLang="en-US" sz="2400">
                <a:solidFill>
                  <a:srgbClr val="0b1544"/>
                </a:solidFill>
                <a:latin typeface="210 디딤고딕 Bold"/>
                <a:ea typeface="210 디딤고딕 Bold"/>
                <a:cs typeface="210 디딤고딕 Bold"/>
                <a:sym typeface="210 디딤고딕 Bold"/>
              </a:rPr>
              <a:t> 챗봇 구현</a:t>
            </a:r>
            <a:endParaRPr lang="ko-KR" altLang="en-US" sz="2400">
              <a:solidFill>
                <a:srgbClr val="0b1544"/>
              </a:solidFill>
              <a:latin typeface="210 디딤고딕 Bold"/>
              <a:ea typeface="210 디딤고딕 Bold"/>
              <a:cs typeface="210 디딤고딕 Bold"/>
              <a:sym typeface="210 디딤고딕 Bold"/>
            </a:endParaRPr>
          </a:p>
        </p:txBody>
      </p:sp>
      <p:sp>
        <p:nvSpPr>
          <p:cNvPr id="54" name="AutoShape 27"/>
          <p:cNvSpPr/>
          <p:nvPr/>
        </p:nvSpPr>
        <p:spPr>
          <a:xfrm>
            <a:off x="5255253" y="2739652"/>
            <a:ext cx="0" cy="4163667"/>
          </a:xfrm>
          <a:prstGeom prst="line">
            <a:avLst/>
          </a:prstGeom>
          <a:ln w="28575" cap="flat">
            <a:solidFill>
              <a:srgbClr val="19319d">
                <a:alpha val="9800"/>
              </a:srgbClr>
            </a:solidFill>
            <a:prstDash val="solid"/>
            <a:headEnd w="sm" len="sm"/>
            <a:tailEnd w="sm" len="sm"/>
          </a:ln>
        </p:spPr>
        <p:txBody>
          <a:bodyPr wrap="square" anchor="ctr"/>
          <a:p>
            <a:pPr lvl="0" algn="ctr">
              <a:defRPr/>
            </a:pPr>
            <a:endParaRPr lang="ko-KR" altLang="en-US"/>
          </a:p>
        </p:txBody>
      </p:sp>
      <p:sp>
        <p:nvSpPr>
          <p:cNvPr id="55" name="AutoShape 28"/>
          <p:cNvSpPr/>
          <p:nvPr/>
        </p:nvSpPr>
        <p:spPr>
          <a:xfrm>
            <a:off x="9216356" y="2739652"/>
            <a:ext cx="0" cy="4163667"/>
          </a:xfrm>
          <a:prstGeom prst="line">
            <a:avLst/>
          </a:prstGeom>
          <a:ln w="28575" cap="flat">
            <a:solidFill>
              <a:srgbClr val="19319d">
                <a:alpha val="9800"/>
              </a:srgbClr>
            </a:solidFill>
            <a:prstDash val="solid"/>
            <a:headEnd w="sm" len="sm"/>
            <a:tailEnd w="sm" len="sm"/>
          </a:ln>
        </p:spPr>
        <p:txBody>
          <a:bodyPr wrap="square" anchor="ctr"/>
          <a:p>
            <a:pPr lvl="0" algn="ctr">
              <a:defRPr/>
            </a:pPr>
            <a:endParaRPr lang="ko-KR" altLang="en-US"/>
          </a:p>
        </p:txBody>
      </p:sp>
      <p:sp>
        <p:nvSpPr>
          <p:cNvPr id="56" name="AutoShape 29"/>
          <p:cNvSpPr/>
          <p:nvPr/>
        </p:nvSpPr>
        <p:spPr>
          <a:xfrm>
            <a:off x="13029656" y="2739652"/>
            <a:ext cx="0" cy="4163667"/>
          </a:xfrm>
          <a:prstGeom prst="line">
            <a:avLst/>
          </a:prstGeom>
          <a:ln w="28575" cap="flat">
            <a:solidFill>
              <a:srgbClr val="19319d">
                <a:alpha val="9800"/>
              </a:srgbClr>
            </a:solidFill>
            <a:prstDash val="solid"/>
            <a:headEnd w="sm" len="sm"/>
            <a:tailEnd w="sm" len="sm"/>
          </a:ln>
        </p:spPr>
        <p:txBody>
          <a:bodyPr wrap="square" anchor="ctr"/>
          <a:p>
            <a:pPr lvl="0" algn="ctr">
              <a:defRPr/>
            </a:pPr>
            <a:endParaRPr lang="ko-KR" altLang="en-US"/>
          </a:p>
        </p:txBody>
      </p:sp>
      <p:sp>
        <p:nvSpPr>
          <p:cNvPr id="57" name="AutoShape 31"/>
          <p:cNvSpPr/>
          <p:nvPr/>
        </p:nvSpPr>
        <p:spPr>
          <a:xfrm>
            <a:off x="2209451" y="3694755"/>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58" name="AutoShape 32"/>
          <p:cNvSpPr/>
          <p:nvPr/>
        </p:nvSpPr>
        <p:spPr>
          <a:xfrm>
            <a:off x="6040277" y="3694755"/>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59" name="AutoShape 33"/>
          <p:cNvSpPr/>
          <p:nvPr/>
        </p:nvSpPr>
        <p:spPr>
          <a:xfrm>
            <a:off x="9871103" y="3709042"/>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60" name="AutoShape 34"/>
          <p:cNvSpPr/>
          <p:nvPr/>
        </p:nvSpPr>
        <p:spPr>
          <a:xfrm>
            <a:off x="13701929" y="3694755"/>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62" name="가로 글상자 61"/>
          <p:cNvSpPr txBox="1"/>
          <p:nvPr/>
        </p:nvSpPr>
        <p:spPr>
          <a:xfrm>
            <a:off x="1908808" y="5593080"/>
            <a:ext cx="3044192" cy="1303020"/>
          </a:xfrm>
          <a:prstGeom prst="rect">
            <a:avLst/>
          </a:prstGeom>
        </p:spPr>
        <p:txBody>
          <a:bodyPr wrap="square">
            <a:spAutoFit/>
          </a:bodyPr>
          <a:p>
            <a:pPr lvl="0" algn="just">
              <a:lnSpc>
                <a:spcPts val="3213"/>
              </a:lnSpc>
              <a:defRPr/>
            </a:pPr>
            <a:r>
              <a:rPr lang="ko-KR" altLang="en-US" kern="0" spc="-200">
                <a:solidFill>
                  <a:srgbClr val="0b1544"/>
                </a:solidFill>
                <a:latin typeface="210 디딤고딕 Light"/>
                <a:ea typeface="210 디딤고딕 Light"/>
                <a:cs typeface="210 디딤고딕 Light"/>
                <a:sym typeface="210 디딤고딕 Light"/>
              </a:rPr>
              <a:t>영상에서 쉽게 추출할수 있는 오디오를 자막 텍스트로 변환해 데이터로 활용</a:t>
            </a:r>
            <a:endParaRPr lang="ko-KR" altLang="en-US" kern="0" spc="-200">
              <a:solidFill>
                <a:srgbClr val="0b1544"/>
              </a:solidFill>
              <a:latin typeface="210 디딤고딕 Light"/>
              <a:ea typeface="210 디딤고딕 Light"/>
              <a:cs typeface="210 디딤고딕 Light"/>
              <a:sym typeface="210 디딤고딕 Light"/>
            </a:endParaRPr>
          </a:p>
        </p:txBody>
      </p:sp>
      <p:sp>
        <p:nvSpPr>
          <p:cNvPr id="63" name="가로 글상자 62"/>
          <p:cNvSpPr txBox="1"/>
          <p:nvPr/>
        </p:nvSpPr>
        <p:spPr>
          <a:xfrm>
            <a:off x="5718807" y="5593080"/>
            <a:ext cx="3044193" cy="1303020"/>
          </a:xfrm>
          <a:prstGeom prst="rect">
            <a:avLst/>
          </a:prstGeom>
        </p:spPr>
        <p:txBody>
          <a:bodyPr wrap="square">
            <a:spAutoFit/>
          </a:bodyPr>
          <a:lstStyle/>
          <a:p>
            <a:pPr lvl="0" algn="just">
              <a:lnSpc>
                <a:spcPts val="3213"/>
              </a:lnSpc>
              <a:defRPr/>
            </a:pPr>
            <a:r>
              <a:rPr lang="en-US" altLang="ko-KR" kern="0" spc="-200">
                <a:solidFill>
                  <a:srgbClr val="0b1544"/>
                </a:solidFill>
                <a:latin typeface="210 디딤고딕 Light"/>
                <a:ea typeface="210 디딤고딕 Light"/>
                <a:cs typeface="210 디딤고딕 Light"/>
                <a:sym typeface="210 디딤고딕 Light"/>
              </a:rPr>
              <a:t>LLM</a:t>
            </a:r>
            <a:r>
              <a:rPr lang="ko-KR" altLang="en-US" kern="0" spc="-200">
                <a:solidFill>
                  <a:srgbClr val="0b1544"/>
                </a:solidFill>
                <a:latin typeface="210 디딤고딕 Light"/>
                <a:ea typeface="210 디딤고딕 Light"/>
                <a:cs typeface="210 디딤고딕 Light"/>
                <a:sym typeface="210 디딤고딕 Light"/>
              </a:rPr>
              <a:t>에서 입력값으로 자막을 활용해 소주제 단위로 구간 분류 및 주제</a:t>
            </a:r>
            <a:r>
              <a:rPr lang="en-US" altLang="ko-KR" kern="0" spc="-200">
                <a:solidFill>
                  <a:srgbClr val="0b1544"/>
                </a:solidFill>
                <a:latin typeface="210 디딤고딕 Light"/>
                <a:ea typeface="210 디딤고딕 Light"/>
                <a:cs typeface="210 디딤고딕 Light"/>
                <a:sym typeface="210 디딤고딕 Light"/>
              </a:rPr>
              <a:t>,</a:t>
            </a:r>
            <a:r>
              <a:rPr lang="ko-KR" altLang="en-US" kern="0" spc="-200">
                <a:solidFill>
                  <a:srgbClr val="0b1544"/>
                </a:solidFill>
                <a:latin typeface="210 디딤고딕 Light"/>
                <a:ea typeface="210 디딤고딕 Light"/>
                <a:cs typeface="210 디딤고딕 Light"/>
                <a:sym typeface="210 디딤고딕 Light"/>
              </a:rPr>
              <a:t> 요약</a:t>
            </a:r>
            <a:r>
              <a:rPr lang="en-US" altLang="ko-KR" kern="0" spc="-200">
                <a:solidFill>
                  <a:srgbClr val="0b1544"/>
                </a:solidFill>
                <a:latin typeface="210 디딤고딕 Light"/>
                <a:ea typeface="210 디딤고딕 Light"/>
                <a:cs typeface="210 디딤고딕 Light"/>
                <a:sym typeface="210 디딤고딕 Light"/>
              </a:rPr>
              <a:t>,</a:t>
            </a:r>
            <a:r>
              <a:rPr lang="ko-KR" altLang="en-US" kern="0" spc="-200">
                <a:solidFill>
                  <a:srgbClr val="0b1544"/>
                </a:solidFill>
                <a:latin typeface="210 디딤고딕 Light"/>
                <a:ea typeface="210 디딤고딕 Light"/>
                <a:cs typeface="210 디딤고딕 Light"/>
                <a:sym typeface="210 디딤고딕 Light"/>
              </a:rPr>
              <a:t> 상세설명 도출</a:t>
            </a:r>
            <a:endParaRPr lang="ko-KR" altLang="en-US" kern="0" spc="-200">
              <a:solidFill>
                <a:srgbClr val="0b1544"/>
              </a:solidFill>
              <a:latin typeface="210 디딤고딕 Light"/>
              <a:ea typeface="210 디딤고딕 Light"/>
              <a:cs typeface="210 디딤고딕 Light"/>
              <a:sym typeface="210 디딤고딕 Light"/>
            </a:endParaRPr>
          </a:p>
        </p:txBody>
      </p:sp>
      <p:sp>
        <p:nvSpPr>
          <p:cNvPr id="64" name="가로 글상자 63"/>
          <p:cNvSpPr txBox="1"/>
          <p:nvPr/>
        </p:nvSpPr>
        <p:spPr>
          <a:xfrm>
            <a:off x="9601200" y="5593080"/>
            <a:ext cx="2971800" cy="1720215"/>
          </a:xfrm>
          <a:prstGeom prst="rect">
            <a:avLst/>
          </a:prstGeom>
        </p:spPr>
        <p:txBody>
          <a:bodyPr wrap="square">
            <a:spAutoFit/>
          </a:bodyPr>
          <a:lstStyle/>
          <a:p>
            <a:pPr lvl="0" algn="just">
              <a:lnSpc>
                <a:spcPts val="3213"/>
              </a:lnSpc>
              <a:defRPr/>
            </a:pPr>
            <a:r>
              <a:rPr lang="ko-KR" altLang="en-US" kern="0" spc="-200">
                <a:solidFill>
                  <a:srgbClr val="0b1544"/>
                </a:solidFill>
                <a:latin typeface="210 디딤고딕 Light"/>
                <a:ea typeface="210 디딤고딕 Light"/>
                <a:cs typeface="210 디딤고딕 Light"/>
                <a:sym typeface="210 디딤고딕 Light"/>
              </a:rPr>
              <a:t>웹캠을 통해 시선 을 추적하고 시선이 화면에 고정됐을때만 집중하는걸로 판단하여 집중도 계산 및 수집 </a:t>
            </a:r>
            <a:endParaRPr lang="ko-KR" altLang="en-US" kern="0" spc="-200">
              <a:solidFill>
                <a:srgbClr val="0b1544"/>
              </a:solidFill>
              <a:latin typeface="210 디딤고딕 Light"/>
              <a:ea typeface="210 디딤고딕 Light"/>
              <a:cs typeface="210 디딤고딕 Light"/>
              <a:sym typeface="210 디딤고딕 Light"/>
            </a:endParaRPr>
          </a:p>
        </p:txBody>
      </p:sp>
      <p:sp>
        <p:nvSpPr>
          <p:cNvPr id="65" name="가로 글상자 64"/>
          <p:cNvSpPr txBox="1"/>
          <p:nvPr/>
        </p:nvSpPr>
        <p:spPr>
          <a:xfrm>
            <a:off x="13338808" y="5593080"/>
            <a:ext cx="3044192" cy="1720215"/>
          </a:xfrm>
          <a:prstGeom prst="rect">
            <a:avLst/>
          </a:prstGeom>
        </p:spPr>
        <p:txBody>
          <a:bodyPr wrap="square">
            <a:spAutoFit/>
          </a:bodyPr>
          <a:lstStyle/>
          <a:p>
            <a:pPr lvl="0" algn="just">
              <a:lnSpc>
                <a:spcPts val="3213"/>
              </a:lnSpc>
              <a:defRPr/>
            </a:pPr>
            <a:r>
              <a:rPr lang="ko-KR" altLang="en-US" kern="0" spc="-200">
                <a:solidFill>
                  <a:srgbClr val="0b1544"/>
                </a:solidFill>
                <a:latin typeface="210 디딤고딕 Light"/>
                <a:ea typeface="210 디딤고딕 Light"/>
                <a:cs typeface="210 디딤고딕 Light"/>
                <a:sym typeface="210 디딤고딕 Light"/>
              </a:rPr>
              <a:t>질문에서 키워드를 추출하고 추출된 키워드로 영상 자막을 검색하여 관련 구간을 찾고 외부에서 추가적으로 정보검색</a:t>
            </a:r>
            <a:endParaRPr lang="ko-KR" altLang="en-US" kern="0" spc="-200">
              <a:solidFill>
                <a:srgbClr val="0b1544"/>
              </a:solidFill>
              <a:latin typeface="210 디딤고딕 Light"/>
              <a:ea typeface="210 디딤고딕 Light"/>
              <a:cs typeface="210 디딤고딕 Light"/>
              <a:sym typeface="210 디딤고딕 Light"/>
            </a:endParaRPr>
          </a:p>
        </p:txBody>
      </p:sp>
    </p:spTree>
    <p:extLst>
      <p:ext uri="{BB962C8B-B14F-4D97-AF65-F5344CB8AC3E}">
        <p14:creationId xmlns:p14="http://schemas.microsoft.com/office/powerpoint/2010/main" val="234446115"/>
      </p:ext>
    </p:extLst>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57912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사용한 기술 목록</a:t>
            </a:r>
            <a:endParaRPr lang="ko-KR" altLang="en-US" sz="5500" b="1">
              <a:solidFill>
                <a:srgbClr val="19319d"/>
              </a:solidFill>
              <a:latin typeface="Black Han Sans"/>
              <a:ea typeface="Black Han Sans"/>
              <a:cs typeface="Black Han Sans"/>
              <a:sym typeface="Black Han Sans"/>
            </a:endParaRPr>
          </a:p>
        </p:txBody>
      </p:sp>
      <p:graphicFrame>
        <p:nvGraphicFramePr>
          <p:cNvPr id="39" name="표 38"/>
          <p:cNvGraphicFramePr/>
          <p:nvPr/>
        </p:nvGraphicFramePr>
        <p:xfrm>
          <a:off x="1600200" y="1790700"/>
          <a:ext cx="4320540" cy="3587115"/>
        </p:xfrm>
        <a:graphic>
          <a:graphicData uri="http://schemas.openxmlformats.org/drawingml/2006/table">
            <a:tbl>
              <a:tblPr firstRow="1" bandRow="1"/>
              <a:tblGrid>
                <a:gridCol w="1440180"/>
                <a:gridCol w="1440180"/>
                <a:gridCol w="1440180"/>
              </a:tblGrid>
              <a:tr h="0">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Java</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17.0.15</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프로그래밍 언어</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Spring Boot</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3.3.5</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백엔드 프레임워크</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Spring Security</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6.3.3</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인증/인가</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Spring Data JPA</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3.3.5</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ORM (Hibernate)</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Thymeleaf</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3.1.2</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서버 사이드 템플릿 엔진</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graphicFrame>
        <p:nvGraphicFramePr>
          <p:cNvPr id="40" name="표 39"/>
          <p:cNvGraphicFramePr/>
          <p:nvPr/>
        </p:nvGraphicFramePr>
        <p:xfrm>
          <a:off x="11353800" y="1866900"/>
          <a:ext cx="4495800" cy="2556510"/>
        </p:xfrm>
        <a:graphic>
          <a:graphicData uri="http://schemas.openxmlformats.org/drawingml/2006/table">
            <a:tbl>
              <a:tblPr firstRow="1" bandRow="1"/>
              <a:tblGrid>
                <a:gridCol w="1498600"/>
                <a:gridCol w="1498600"/>
                <a:gridCol w="1498600"/>
              </a:tblGrid>
              <a:tr h="367665">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r>
              <a:tr h="9105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Oracle Database</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19c+</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관계형 데이터베이스</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r>
              <a:tr h="367665">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HikariCP</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5.1.0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커넥션 풀</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9105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JDBC Driver</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ojdbc11 (23.3.0.23.09)</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Oracle 드라이버</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graphicFrame>
        <p:nvGraphicFramePr>
          <p:cNvPr id="41" name="표 40"/>
          <p:cNvGraphicFramePr/>
          <p:nvPr/>
        </p:nvGraphicFramePr>
        <p:xfrm>
          <a:off x="11376660" y="5143500"/>
          <a:ext cx="4549140" cy="1655445"/>
        </p:xfrm>
        <a:graphic>
          <a:graphicData uri="http://schemas.openxmlformats.org/drawingml/2006/table">
            <a:tbl>
              <a:tblPr firstRow="1" bandRow="1"/>
              <a:tblGrid>
                <a:gridCol w="1516380"/>
                <a:gridCol w="1516380"/>
                <a:gridCol w="1516380"/>
              </a:tblGrid>
              <a:tr h="367665">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Maven</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3.9.6</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빌드 및 의존성 관리</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Maven Wrapper</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3.2.0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프로젝트 독립 실행</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sp>
        <p:nvSpPr>
          <p:cNvPr id="42" name="가로 글상자 41"/>
          <p:cNvSpPr txBox="1"/>
          <p:nvPr/>
        </p:nvSpPr>
        <p:spPr>
          <a:xfrm>
            <a:off x="1447800" y="1365885"/>
            <a:ext cx="3733800" cy="424815"/>
          </a:xfrm>
          <a:prstGeom prst="rect">
            <a:avLst/>
          </a:prstGeom>
        </p:spPr>
        <p:txBody>
          <a:bodyPr wrap="square">
            <a:spAutoFit/>
          </a:bodyPr>
          <a:p>
            <a:pPr lvl="0">
              <a:defRPr/>
            </a:pPr>
            <a:r>
              <a:rPr lang="ko-KR" altLang="en-US" sz="2200" b="1">
                <a:solidFill>
                  <a:srgbClr val="19319d"/>
                </a:solidFill>
              </a:rPr>
              <a:t>Core Framework</a:t>
            </a:r>
            <a:r>
              <a:rPr lang="en-US" altLang="ko-KR" sz="2200" b="1">
                <a:solidFill>
                  <a:srgbClr val="19319d"/>
                </a:solidFill>
              </a:rPr>
              <a:t> (Spring  Boot)</a:t>
            </a:r>
            <a:endParaRPr lang="en-US" altLang="ko-KR" sz="2200" b="1">
              <a:solidFill>
                <a:srgbClr val="19319d"/>
              </a:solidFill>
            </a:endParaRPr>
          </a:p>
        </p:txBody>
      </p:sp>
      <p:sp>
        <p:nvSpPr>
          <p:cNvPr id="43" name="가로 글상자 42"/>
          <p:cNvSpPr txBox="1"/>
          <p:nvPr/>
        </p:nvSpPr>
        <p:spPr>
          <a:xfrm>
            <a:off x="11071861" y="1409700"/>
            <a:ext cx="3733800" cy="424815"/>
          </a:xfrm>
          <a:prstGeom prst="rect">
            <a:avLst/>
          </a:prstGeom>
        </p:spPr>
        <p:txBody>
          <a:bodyPr wrap="square">
            <a:spAutoFit/>
          </a:bodyPr>
          <a:lstStyle/>
          <a:p>
            <a:pPr lvl="0">
              <a:defRPr/>
            </a:pPr>
            <a:r>
              <a:rPr lang="ko-KR" altLang="en-US" sz="2200" b="1">
                <a:solidFill>
                  <a:srgbClr val="19319d"/>
                </a:solidFill>
              </a:rPr>
              <a:t>Database</a:t>
            </a:r>
            <a:endParaRPr lang="ko-KR" altLang="en-US" sz="2200" b="1">
              <a:solidFill>
                <a:srgbClr val="19319d"/>
              </a:solidFill>
            </a:endParaRPr>
          </a:p>
        </p:txBody>
      </p:sp>
      <p:sp>
        <p:nvSpPr>
          <p:cNvPr id="44" name="가로 글상자 43"/>
          <p:cNvSpPr txBox="1"/>
          <p:nvPr/>
        </p:nvSpPr>
        <p:spPr>
          <a:xfrm>
            <a:off x="11125200" y="4718685"/>
            <a:ext cx="3733800" cy="424815"/>
          </a:xfrm>
          <a:prstGeom prst="rect">
            <a:avLst/>
          </a:prstGeom>
        </p:spPr>
        <p:txBody>
          <a:bodyPr wrap="square">
            <a:spAutoFit/>
          </a:bodyPr>
          <a:lstStyle/>
          <a:p>
            <a:pPr lvl="0">
              <a:defRPr/>
            </a:pPr>
            <a:r>
              <a:rPr lang="ko-KR" altLang="en-US" sz="2200" b="1">
                <a:solidFill>
                  <a:srgbClr val="19319d"/>
                </a:solidFill>
              </a:rPr>
              <a:t>Build Tool</a:t>
            </a:r>
            <a:endParaRPr lang="ko-KR" altLang="en-US" sz="2200" b="1">
              <a:solidFill>
                <a:srgbClr val="19319d"/>
              </a:solidFill>
            </a:endParaRPr>
          </a:p>
        </p:txBody>
      </p:sp>
      <p:graphicFrame>
        <p:nvGraphicFramePr>
          <p:cNvPr id="45" name="표 44"/>
          <p:cNvGraphicFramePr/>
          <p:nvPr/>
        </p:nvGraphicFramePr>
        <p:xfrm>
          <a:off x="1546860" y="5981700"/>
          <a:ext cx="4320540" cy="2667000"/>
        </p:xfrm>
        <a:graphic>
          <a:graphicData uri="http://schemas.openxmlformats.org/drawingml/2006/table">
            <a:tbl>
              <a:tblPr firstRow="1" bandRow="1"/>
              <a:tblGrid>
                <a:gridCol w="1440180"/>
                <a:gridCol w="1440180"/>
                <a:gridCol w="1440180"/>
              </a:tblGrid>
              <a:tr h="0">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Python</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3.10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프로그래밍 언어</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tx1"/>
                      </a:solid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Flask</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3.0.3</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웹 프레임워크</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Flask-CORS</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4.0.0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CORS 지원</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Gunicorn</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21.2.0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WSGI 서버</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sp>
        <p:nvSpPr>
          <p:cNvPr id="46" name="가로 글상자 45"/>
          <p:cNvSpPr txBox="1"/>
          <p:nvPr/>
        </p:nvSpPr>
        <p:spPr>
          <a:xfrm>
            <a:off x="1447798" y="5372100"/>
            <a:ext cx="3733801" cy="424815"/>
          </a:xfrm>
          <a:prstGeom prst="rect">
            <a:avLst/>
          </a:prstGeom>
        </p:spPr>
        <p:txBody>
          <a:bodyPr wrap="square">
            <a:spAutoFit/>
          </a:bodyPr>
          <a:lstStyle/>
          <a:p>
            <a:pPr lvl="0">
              <a:defRPr/>
            </a:pPr>
            <a:r>
              <a:rPr lang="ko-KR" altLang="en-US" sz="2200" b="1">
                <a:solidFill>
                  <a:srgbClr val="19319d"/>
                </a:solidFill>
              </a:rPr>
              <a:t>Core Framework</a:t>
            </a:r>
            <a:r>
              <a:rPr lang="en-US" altLang="ko-KR" sz="2200" b="1">
                <a:solidFill>
                  <a:srgbClr val="19319d"/>
                </a:solidFill>
              </a:rPr>
              <a:t> (Flask)</a:t>
            </a:r>
            <a:endParaRPr lang="en-US" altLang="ko-KR" sz="2200" b="1">
              <a:solidFill>
                <a:srgbClr val="19319d"/>
              </a:solidFill>
            </a:endParaRPr>
          </a:p>
        </p:txBody>
      </p:sp>
      <p:graphicFrame>
        <p:nvGraphicFramePr>
          <p:cNvPr id="47" name="표 46"/>
          <p:cNvGraphicFramePr/>
          <p:nvPr/>
        </p:nvGraphicFramePr>
        <p:xfrm>
          <a:off x="6499860" y="1853565"/>
          <a:ext cx="4472939" cy="5499735"/>
        </p:xfrm>
        <a:graphic>
          <a:graphicData uri="http://schemas.openxmlformats.org/drawingml/2006/table">
            <a:tbl>
              <a:tblPr firstRow="1" bandRow="1"/>
              <a:tblGrid>
                <a:gridCol w="1490979"/>
                <a:gridCol w="1490979"/>
                <a:gridCol w="1490979"/>
              </a:tblGrid>
              <a:tr h="367665">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dk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dk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dk1"/>
                      </a:solidFill>
                      <a:prstDash val="solid"/>
                      <a:round/>
                      <a:headEnd w="med" len="med"/>
                      <a:tailEnd w="med" len="med"/>
                    </a:lnB>
                    <a:noFill/>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PyTorch</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dk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2.7.1+cu118</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dk1"/>
                      </a:solid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딥러닝 프레임워크</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12700" cap="flat" cmpd="sng" algn="ctr">
                      <a:solidFill>
                        <a:schemeClr val="dk1"/>
                      </a:solidFill>
                      <a:prstDash val="solid"/>
                      <a:round/>
                      <a:headEnd w="med" len="med"/>
                      <a:tailEnd w="med" len="med"/>
                    </a:lnT>
                    <a:lnB w="9525" cap="flat" cmpd="sng" algn="ctr">
                      <a:noFill/>
                      <a:prstDash val="solid"/>
                      <a:round/>
                      <a:headEnd w="med" len="med"/>
                      <a:tailEnd w="med" len="med"/>
                    </a:lnB>
                  </a:tcPr>
                </a:tc>
              </a:tr>
              <a:tr h="9105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Transformers</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4.44.2</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Hugging Face 라이브러리</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Faster-Whisper</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1.0.0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음성 인식 (Whisper)</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9105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Sentence-Transformers</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2.2.0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텍스트 임베딩</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BitsAndBytes</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0.44.1</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모델 양자화</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367665">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Accelerate</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1.10.1</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모델 최적화</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367665">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Whisper</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Large-v3</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자막 생성</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Llama</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b="0" i="0" strike="noStrike" mc:Ignorable="hp" hp:hslEmbossed="0">
                          <a:solidFill>
                            <a:srgbClr val="000000">
                              <a:alpha val="100000"/>
                            </a:srgbClr>
                          </a:solidFill>
                          <a:latin typeface="Arial"/>
                          <a:ea typeface="굴림"/>
                        </a:rPr>
                        <a:t>3.2-3B-Instruct</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챕터/설명 생성</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sp>
        <p:nvSpPr>
          <p:cNvPr id="48" name="가로 글상자 47"/>
          <p:cNvSpPr txBox="1"/>
          <p:nvPr/>
        </p:nvSpPr>
        <p:spPr>
          <a:xfrm>
            <a:off x="6248400" y="1409700"/>
            <a:ext cx="3733800" cy="424815"/>
          </a:xfrm>
          <a:prstGeom prst="rect">
            <a:avLst/>
          </a:prstGeom>
        </p:spPr>
        <p:txBody>
          <a:bodyPr wrap="square">
            <a:spAutoFit/>
          </a:bodyPr>
          <a:lstStyle/>
          <a:p>
            <a:pPr lvl="0">
              <a:defRPr/>
            </a:pPr>
            <a:r>
              <a:rPr lang="ko-KR" altLang="en-US" sz="2200" b="1">
                <a:solidFill>
                  <a:srgbClr val="19319d"/>
                </a:solidFill>
              </a:rPr>
              <a:t>AI/ML Libraries</a:t>
            </a:r>
            <a:endParaRPr lang="ko-KR" altLang="en-US" sz="2200" b="1">
              <a:solidFill>
                <a:srgbClr val="19319d"/>
              </a:solidFill>
            </a:endParaRPr>
          </a:p>
        </p:txBody>
      </p:sp>
      <p:graphicFrame>
        <p:nvGraphicFramePr>
          <p:cNvPr id="49" name="표 48"/>
          <p:cNvGraphicFramePr/>
          <p:nvPr/>
        </p:nvGraphicFramePr>
        <p:xfrm>
          <a:off x="6499860" y="7810500"/>
          <a:ext cx="4472939" cy="2299335"/>
        </p:xfrm>
        <a:graphic>
          <a:graphicData uri="http://schemas.openxmlformats.org/drawingml/2006/table">
            <a:tbl>
              <a:tblPr firstRow="1" bandRow="1"/>
              <a:tblGrid>
                <a:gridCol w="1490979"/>
                <a:gridCol w="1490979"/>
                <a:gridCol w="1490979"/>
              </a:tblGrid>
              <a:tr h="367665">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KoNLPy</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0.6.0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한국어 형태소 분석</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FAISS</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1.7.4</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벡터 유사도 검색</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Wikipedia API</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1.4.0</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외부 지식 검색</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sp>
        <p:nvSpPr>
          <p:cNvPr id="50" name="가로 글상자 49"/>
          <p:cNvSpPr txBox="1"/>
          <p:nvPr/>
        </p:nvSpPr>
        <p:spPr>
          <a:xfrm>
            <a:off x="6248400" y="7353300"/>
            <a:ext cx="3733800" cy="424815"/>
          </a:xfrm>
          <a:prstGeom prst="rect">
            <a:avLst/>
          </a:prstGeom>
        </p:spPr>
        <p:txBody>
          <a:bodyPr wrap="square">
            <a:spAutoFit/>
          </a:bodyPr>
          <a:lstStyle/>
          <a:p>
            <a:pPr lvl="0">
              <a:defRPr/>
            </a:pPr>
            <a:r>
              <a:rPr lang="ko-KR" altLang="en-US" sz="2200" b="1">
                <a:solidFill>
                  <a:srgbClr val="19319d"/>
                </a:solidFill>
              </a:rPr>
              <a:t>NLP &amp; RAG</a:t>
            </a:r>
            <a:endParaRPr lang="ko-KR" altLang="en-US" sz="2200" b="1">
              <a:solidFill>
                <a:srgbClr val="19319d"/>
              </a:solidFill>
            </a:endParaRPr>
          </a:p>
        </p:txBody>
      </p:sp>
      <p:graphicFrame>
        <p:nvGraphicFramePr>
          <p:cNvPr id="51" name="표 50"/>
          <p:cNvGraphicFramePr/>
          <p:nvPr/>
        </p:nvGraphicFramePr>
        <p:xfrm>
          <a:off x="11430000" y="7511415"/>
          <a:ext cx="4495800" cy="2390775"/>
        </p:xfrm>
        <a:graphic>
          <a:graphicData uri="http://schemas.openxmlformats.org/drawingml/2006/table">
            <a:tbl>
              <a:tblPr firstRow="1" bandRow="1"/>
              <a:tblGrid>
                <a:gridCol w="1498600"/>
                <a:gridCol w="1498600"/>
                <a:gridCol w="1498600"/>
              </a:tblGrid>
              <a:tr h="367665">
                <a:tc>
                  <a:txBody>
                    <a:bodyPr vert="horz" wrap="square" lIns="91440" tIns="45720" rIns="91440" bIns="45720" anchor="t" anchorCtr="0">
                      <a:spAutoFit/>
                    </a:bodyPr>
                    <a:p>
                      <a:pPr lvl="0" algn="ctr">
                        <a:defRPr/>
                      </a:pPr>
                      <a:r>
                        <a:rPr lang="ko-KR" altLang="en-US">
                          <a:solidFill>
                            <a:srgbClr val="19319d"/>
                          </a:solidFill>
                        </a:rPr>
                        <a:t>기술</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버전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c>
                  <a:txBody>
                    <a:bodyPr vert="horz" wrap="square" lIns="91440" tIns="45720" rIns="91440" bIns="45720" anchor="t" anchorCtr="0">
                      <a:spAutoFit/>
                    </a:bodyPr>
                    <a:p>
                      <a:pPr lvl="0" algn="ctr">
                        <a:defRPr/>
                      </a:pPr>
                      <a:r>
                        <a:rPr lang="ko-KR" altLang="en-US">
                          <a:solidFill>
                            <a:srgbClr val="19319d"/>
                          </a:solidFill>
                        </a:rPr>
                        <a:t>용도</a:t>
                      </a:r>
                      <a:endParaRPr lang="ko-KR" altLang="en-US">
                        <a:solidFill>
                          <a:srgbClr val="19319d"/>
                        </a:solidFill>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12700" cap="flat" cmpd="sng" algn="ctr">
                      <a:solidFill>
                        <a:schemeClr val="tx1"/>
                      </a:solidFill>
                      <a:prstDash val="solid"/>
                      <a:round/>
                      <a:headEnd w="med" len="med"/>
                      <a:tailEnd w="med" len="med"/>
                    </a:lnB>
                    <a:noFill/>
                  </a:tcPr>
                </a:tc>
              </a:tr>
              <a:tr h="367665">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HTML5</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마크업</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367665">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CSS3</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스타일링</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JavaScript (ES6+)</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클라이언트 로직</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r h="643890">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MediaPipe</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0.10.14</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c>
                  <a:txBody>
                    <a:bodyPr vert="horz" lIns="91440" tIns="45720" rIns="91440" bIns="45720" anchor="t" anchorCtr="0"/>
                    <a:p>
                      <a:pPr lvl="0" algn="l">
                        <a:defRPr/>
                      </a:pPr>
                      <a:r>
                        <a:rPr xmlns:mc="http://schemas.openxmlformats.org/markup-compatibility/2006" xmlns:hp="http://schemas.haansoft.com/office/presentation/8.0" sz="1800" b="0" i="0" strike="noStrike" mc:Ignorable="hp" hp:hslEmbossed="0">
                          <a:solidFill>
                            <a:srgbClr val="000000">
                              <a:alpha val="100000"/>
                            </a:srgbClr>
                          </a:solidFill>
                          <a:latin typeface="Arial"/>
                          <a:ea typeface="굴림"/>
                        </a:rPr>
                        <a:t>얼굴/시선 추적</a:t>
                      </a:r>
                      <a:endParaRPr xmlns:mc="http://schemas.openxmlformats.org/markup-compatibility/2006" xmlns:hp="http://schemas.haansoft.com/office/presentation/8.0" sz="1800" b="0" i="0" strike="noStrike" mc:Ignorable="hp" hp:hslEmbossed="0">
                        <a:solidFill>
                          <a:srgbClr val="000000">
                            <a:alpha val="100000"/>
                          </a:srgbClr>
                        </a:solidFill>
                        <a:latin typeface="Arial"/>
                        <a:ea typeface="굴림"/>
                      </a:endParaRPr>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tcPr>
                </a:tc>
              </a:tr>
            </a:tbl>
          </a:graphicData>
        </a:graphic>
      </p:graphicFrame>
      <p:sp>
        <p:nvSpPr>
          <p:cNvPr id="52" name="가로 글상자 51"/>
          <p:cNvSpPr txBox="1"/>
          <p:nvPr/>
        </p:nvSpPr>
        <p:spPr>
          <a:xfrm>
            <a:off x="11201400" y="7080885"/>
            <a:ext cx="3733800" cy="424815"/>
          </a:xfrm>
          <a:prstGeom prst="rect">
            <a:avLst/>
          </a:prstGeom>
        </p:spPr>
        <p:txBody>
          <a:bodyPr wrap="square">
            <a:spAutoFit/>
          </a:bodyPr>
          <a:lstStyle/>
          <a:p>
            <a:pPr lvl="0">
              <a:defRPr/>
            </a:pPr>
            <a:r>
              <a:rPr lang="en-US" altLang="ko-KR" sz="2200" b="1">
                <a:solidFill>
                  <a:srgbClr val="19319d"/>
                </a:solidFill>
              </a:rPr>
              <a:t>Front</a:t>
            </a:r>
            <a:endParaRPr lang="en-US" altLang="ko-KR" sz="2200" b="1">
              <a:solidFill>
                <a:srgbClr val="19319d"/>
              </a:solidFill>
            </a:endParaRPr>
          </a:p>
        </p:txBody>
      </p:sp>
    </p:spTree>
    <p:extLst>
      <p:ext uri="{BB962C8B-B14F-4D97-AF65-F5344CB8AC3E}">
        <p14:creationId xmlns:p14="http://schemas.microsoft.com/office/powerpoint/2010/main" val="3774987290"/>
      </p:ext>
    </p:extLst>
  </p:cSld>
  <p:clrMapOvr>
    <a:masterClrMapping/>
  </p:clrMapOvr>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42672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개발스케줄</a:t>
            </a:r>
            <a:endParaRPr lang="ko-KR" altLang="en-US" sz="5500" b="1">
              <a:solidFill>
                <a:srgbClr val="19319d"/>
              </a:solidFill>
              <a:latin typeface="Black Han Sans"/>
              <a:ea typeface="Black Han Sans"/>
              <a:cs typeface="Black Han Sans"/>
              <a:sym typeface="Black Han Sans"/>
            </a:endParaRPr>
          </a:p>
        </p:txBody>
      </p:sp>
      <p:pic>
        <p:nvPicPr>
          <p:cNvPr id="42" name="그림 41"/>
          <p:cNvPicPr>
            <a:picLocks noChangeAspect="1"/>
          </p:cNvPicPr>
          <p:nvPr/>
        </p:nvPicPr>
        <p:blipFill rotWithShape="1">
          <a:blip r:embed="rId4"/>
          <a:stretch>
            <a:fillRect/>
          </a:stretch>
        </p:blipFill>
        <p:spPr>
          <a:xfrm>
            <a:off x="457200" y="1714501"/>
            <a:ext cx="8459782" cy="5867399"/>
          </a:xfrm>
          <a:prstGeom prst="rect">
            <a:avLst/>
          </a:prstGeom>
        </p:spPr>
      </p:pic>
      <p:pic>
        <p:nvPicPr>
          <p:cNvPr id="43" name="그림 42"/>
          <p:cNvPicPr>
            <a:picLocks noChangeAspect="1"/>
          </p:cNvPicPr>
          <p:nvPr/>
        </p:nvPicPr>
        <p:blipFill rotWithShape="1">
          <a:blip r:embed="rId5"/>
          <a:stretch>
            <a:fillRect/>
          </a:stretch>
        </p:blipFill>
        <p:spPr>
          <a:xfrm>
            <a:off x="9128062" y="1714500"/>
            <a:ext cx="8458201" cy="5717192"/>
          </a:xfrm>
          <a:prstGeom prst="rect">
            <a:avLst/>
          </a:prstGeom>
        </p:spPr>
      </p:pic>
    </p:spTree>
    <p:extLst>
      <p:ext uri="{BB962C8B-B14F-4D97-AF65-F5344CB8AC3E}">
        <p14:creationId xmlns:p14="http://schemas.microsoft.com/office/powerpoint/2010/main" val="2155701538"/>
      </p:ext>
    </p:extLst>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pic>
        <p:nvPicPr>
          <p:cNvPr id="42" name="그림 41"/>
          <p:cNvPicPr>
            <a:picLocks noChangeAspect="1"/>
          </p:cNvPicPr>
          <p:nvPr/>
        </p:nvPicPr>
        <p:blipFill rotWithShape="1">
          <a:blip r:embed="rId3"/>
          <a:stretch>
            <a:fillRect/>
          </a:stretch>
        </p:blipFill>
        <p:spPr>
          <a:xfrm>
            <a:off x="457200" y="1428221"/>
            <a:ext cx="17322112" cy="8058679"/>
          </a:xfrm>
          <a:prstGeom prst="rect">
            <a:avLst/>
          </a:prstGeom>
        </p:spPr>
      </p:pic>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4"/>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요구사항 분석서 및 명세서</a:t>
            </a:r>
            <a:endParaRPr lang="ko-KR" altLang="en-US" sz="5500" b="1">
              <a:solidFill>
                <a:srgbClr val="19319d"/>
              </a:solidFill>
              <a:latin typeface="Black Han Sans"/>
              <a:ea typeface="Black Han Sans"/>
              <a:cs typeface="Black Han Sans"/>
              <a:sym typeface="Black Han Sans"/>
            </a:endParaRPr>
          </a:p>
        </p:txBody>
      </p:sp>
    </p:spTree>
    <p:extLst>
      <p:ext uri="{BB962C8B-B14F-4D97-AF65-F5344CB8AC3E}">
        <p14:creationId xmlns:p14="http://schemas.microsoft.com/office/powerpoint/2010/main" val="2151899116"/>
      </p:ext>
    </p:extLst>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pic>
        <p:nvPicPr>
          <p:cNvPr id="40" name="그림 39"/>
          <p:cNvPicPr>
            <a:picLocks noChangeAspect="1"/>
          </p:cNvPicPr>
          <p:nvPr/>
        </p:nvPicPr>
        <p:blipFill rotWithShape="1">
          <a:blip r:embed="rId3"/>
          <a:stretch>
            <a:fillRect/>
          </a:stretch>
        </p:blipFill>
        <p:spPr>
          <a:xfrm>
            <a:off x="457194" y="1485900"/>
            <a:ext cx="17273282" cy="8001000"/>
          </a:xfrm>
          <a:prstGeom prst="rect">
            <a:avLst/>
          </a:prstGeom>
        </p:spPr>
      </p:pic>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4"/>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요구사항 분석서 및 명세서</a:t>
            </a:r>
            <a:endParaRPr lang="ko-KR" altLang="en-US" sz="5500" b="1">
              <a:solidFill>
                <a:srgbClr val="19319d"/>
              </a:solidFill>
              <a:latin typeface="Black Han Sans"/>
              <a:ea typeface="Black Han Sans"/>
              <a:cs typeface="Black Han Sans"/>
              <a:sym typeface="Black Han Sans"/>
            </a:endParaRPr>
          </a:p>
        </p:txBody>
      </p:sp>
    </p:spTree>
    <p:extLst>
      <p:ext uri="{BB962C8B-B14F-4D97-AF65-F5344CB8AC3E}">
        <p14:creationId xmlns:p14="http://schemas.microsoft.com/office/powerpoint/2010/main" val="3367711636"/>
      </p:ext>
    </p:extLst>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pic>
        <p:nvPicPr>
          <p:cNvPr id="41" name="그림 40"/>
          <p:cNvPicPr>
            <a:picLocks noChangeAspect="1"/>
          </p:cNvPicPr>
          <p:nvPr/>
        </p:nvPicPr>
        <p:blipFill rotWithShape="1">
          <a:blip r:embed="rId3"/>
          <a:stretch>
            <a:fillRect/>
          </a:stretch>
        </p:blipFill>
        <p:spPr>
          <a:xfrm>
            <a:off x="457194" y="1391749"/>
            <a:ext cx="17335172" cy="8095151"/>
          </a:xfrm>
          <a:prstGeom prst="rect">
            <a:avLst/>
          </a:prstGeom>
        </p:spPr>
      </p:pic>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4"/>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요구사항 분석서 및 명세서</a:t>
            </a:r>
            <a:endParaRPr lang="ko-KR" altLang="en-US" sz="5500" b="1">
              <a:solidFill>
                <a:srgbClr val="19319d"/>
              </a:solidFill>
              <a:latin typeface="Black Han Sans"/>
              <a:ea typeface="Black Han Sans"/>
              <a:cs typeface="Black Han Sans"/>
              <a:sym typeface="Black Han Sans"/>
            </a:endParaRPr>
          </a:p>
        </p:txBody>
      </p:sp>
    </p:spTree>
    <p:extLst>
      <p:ext uri="{BB962C8B-B14F-4D97-AF65-F5344CB8AC3E}">
        <p14:creationId xmlns:p14="http://schemas.microsoft.com/office/powerpoint/2010/main" val="3417746658"/>
      </p:ext>
    </p:extLst>
  </p:cSld>
  <p:clrMapOvr>
    <a:masterClrMapping/>
  </p:clrMapOvr>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92202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요구사항 분석서 및 명세서</a:t>
            </a:r>
            <a:endParaRPr lang="ko-KR" altLang="en-US" sz="5500" b="1">
              <a:solidFill>
                <a:srgbClr val="19319d"/>
              </a:solidFill>
              <a:latin typeface="Black Han Sans"/>
              <a:ea typeface="Black Han Sans"/>
              <a:cs typeface="Black Han Sans"/>
              <a:sym typeface="Black Han Sans"/>
            </a:endParaRPr>
          </a:p>
        </p:txBody>
      </p:sp>
      <p:pic>
        <p:nvPicPr>
          <p:cNvPr id="39" name="그림 38"/>
          <p:cNvPicPr>
            <a:picLocks noChangeAspect="1"/>
          </p:cNvPicPr>
          <p:nvPr/>
        </p:nvPicPr>
        <p:blipFill rotWithShape="1">
          <a:blip r:embed="rId4"/>
          <a:stretch>
            <a:fillRect/>
          </a:stretch>
        </p:blipFill>
        <p:spPr>
          <a:xfrm>
            <a:off x="3571310" y="1409700"/>
            <a:ext cx="11744890" cy="5160843"/>
          </a:xfrm>
          <a:prstGeom prst="rect">
            <a:avLst/>
          </a:prstGeom>
        </p:spPr>
      </p:pic>
      <p:pic>
        <p:nvPicPr>
          <p:cNvPr id="40" name="그림 39"/>
          <p:cNvPicPr>
            <a:picLocks noChangeAspect="1"/>
          </p:cNvPicPr>
          <p:nvPr/>
        </p:nvPicPr>
        <p:blipFill rotWithShape="1">
          <a:blip r:embed="rId5"/>
          <a:stretch>
            <a:fillRect/>
          </a:stretch>
        </p:blipFill>
        <p:spPr>
          <a:xfrm>
            <a:off x="3575510" y="6667500"/>
            <a:ext cx="11740690" cy="3161753"/>
          </a:xfrm>
          <a:prstGeom prst="rect">
            <a:avLst/>
          </a:prstGeom>
        </p:spPr>
      </p:pic>
    </p:spTree>
    <p:extLst>
      <p:ext uri="{BB962C8B-B14F-4D97-AF65-F5344CB8AC3E}">
        <p14:creationId xmlns:p14="http://schemas.microsoft.com/office/powerpoint/2010/main" val="2535455233"/>
      </p:ext>
    </p:extLst>
  </p:cSld>
  <p:clrMapOvr>
    <a:masterClrMapping/>
  </p:clrMapOvr>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화면설계서</a:t>
            </a:r>
            <a:endParaRPr lang="ko-KR" altLang="en-US" sz="5500" b="1">
              <a:solidFill>
                <a:srgbClr val="19319d"/>
              </a:solidFill>
              <a:latin typeface="Black Han Sans"/>
              <a:ea typeface="Black Han Sans"/>
              <a:cs typeface="Black Han Sans"/>
              <a:sym typeface="Black Han Sans"/>
            </a:endParaRPr>
          </a:p>
        </p:txBody>
      </p:sp>
      <p:pic>
        <p:nvPicPr>
          <p:cNvPr id="39" name="그림 38"/>
          <p:cNvPicPr>
            <a:picLocks noChangeAspect="1"/>
          </p:cNvPicPr>
          <p:nvPr/>
        </p:nvPicPr>
        <p:blipFill rotWithShape="1">
          <a:blip r:embed="rId4"/>
          <a:stretch>
            <a:fillRect/>
          </a:stretch>
        </p:blipFill>
        <p:spPr>
          <a:xfrm>
            <a:off x="838200" y="1257300"/>
            <a:ext cx="15206141" cy="8469081"/>
          </a:xfrm>
          <a:prstGeom prst="rect">
            <a:avLst/>
          </a:prstGeom>
        </p:spPr>
      </p:pic>
    </p:spTree>
    <p:extLst>
      <p:ext uri="{BB962C8B-B14F-4D97-AF65-F5344CB8AC3E}">
        <p14:creationId xmlns:p14="http://schemas.microsoft.com/office/powerpoint/2010/main" val="3219981306"/>
      </p:ext>
    </p:extLst>
  </p:cSld>
  <p:clrMapOvr>
    <a:masterClrMapping/>
  </p:clrMapOvr>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화면설계서</a:t>
            </a:r>
            <a:endParaRPr lang="ko-KR" altLang="en-US" sz="5500" b="1">
              <a:solidFill>
                <a:srgbClr val="19319d"/>
              </a:solidFill>
              <a:latin typeface="Black Han Sans"/>
              <a:ea typeface="Black Han Sans"/>
              <a:cs typeface="Black Han Sans"/>
              <a:sym typeface="Black Han Sans"/>
            </a:endParaRPr>
          </a:p>
        </p:txBody>
      </p:sp>
      <p:pic>
        <p:nvPicPr>
          <p:cNvPr id="40" name="그림 39"/>
          <p:cNvPicPr>
            <a:picLocks noChangeAspect="1"/>
          </p:cNvPicPr>
          <p:nvPr/>
        </p:nvPicPr>
        <p:blipFill rotWithShape="1">
          <a:blip r:embed="rId4"/>
          <a:stretch>
            <a:fillRect/>
          </a:stretch>
        </p:blipFill>
        <p:spPr>
          <a:xfrm>
            <a:off x="838200" y="1257300"/>
            <a:ext cx="15206141" cy="8452111"/>
          </a:xfrm>
          <a:prstGeom prst="rect">
            <a:avLst/>
          </a:prstGeom>
        </p:spPr>
      </p:pic>
    </p:spTree>
    <p:extLst>
      <p:ext uri="{BB962C8B-B14F-4D97-AF65-F5344CB8AC3E}">
        <p14:creationId xmlns:p14="http://schemas.microsoft.com/office/powerpoint/2010/main" val="1580140464"/>
      </p:ext>
    </p:extLst>
  </p:cSld>
  <p:clrMapOvr>
    <a:masterClrMapping/>
  </p:clrMapOvr>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화면설계서</a:t>
            </a:r>
            <a:endParaRPr lang="ko-KR" altLang="en-US" sz="5500" b="1">
              <a:solidFill>
                <a:srgbClr val="19319d"/>
              </a:solidFill>
              <a:latin typeface="Black Han Sans"/>
              <a:ea typeface="Black Han Sans"/>
              <a:cs typeface="Black Han Sans"/>
              <a:sym typeface="Black Han Sans"/>
            </a:endParaRPr>
          </a:p>
        </p:txBody>
      </p:sp>
      <p:pic>
        <p:nvPicPr>
          <p:cNvPr id="41" name="그림 40"/>
          <p:cNvPicPr>
            <a:picLocks noChangeAspect="1"/>
          </p:cNvPicPr>
          <p:nvPr/>
        </p:nvPicPr>
        <p:blipFill rotWithShape="1">
          <a:blip r:embed="rId4"/>
          <a:stretch>
            <a:fillRect/>
          </a:stretch>
        </p:blipFill>
        <p:spPr>
          <a:xfrm>
            <a:off x="838200" y="1333500"/>
            <a:ext cx="15206284" cy="8534400"/>
          </a:xfrm>
          <a:prstGeom prst="rect">
            <a:avLst/>
          </a:prstGeom>
        </p:spPr>
      </p:pic>
    </p:spTree>
    <p:extLst>
      <p:ext uri="{BB962C8B-B14F-4D97-AF65-F5344CB8AC3E}">
        <p14:creationId xmlns:p14="http://schemas.microsoft.com/office/powerpoint/2010/main" val="3402782644"/>
      </p:ext>
    </p:extLst>
  </p:cSld>
  <p:clrMapOvr>
    <a:masterClrMapping/>
  </p:clrMapOvr>
</p:sld>
</file>

<file path=ppt/slides/slide1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pic>
        <p:nvPicPr>
          <p:cNvPr id="41" name="그림 40"/>
          <p:cNvPicPr>
            <a:picLocks noChangeAspect="1"/>
          </p:cNvPicPr>
          <p:nvPr/>
        </p:nvPicPr>
        <p:blipFill rotWithShape="1">
          <a:blip r:embed="rId3"/>
          <a:stretch>
            <a:fillRect/>
          </a:stretch>
        </p:blipFill>
        <p:spPr>
          <a:xfrm>
            <a:off x="210472" y="1638300"/>
            <a:ext cx="4116305" cy="649279"/>
          </a:xfrm>
          <a:prstGeom prst="rect">
            <a:avLst/>
          </a:prstGeom>
        </p:spPr>
      </p:pic>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4"/>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en-US" altLang="ko-KR" sz="5500" b="1">
                <a:solidFill>
                  <a:srgbClr val="19319d"/>
                </a:solidFill>
                <a:latin typeface="Black Han Sans"/>
                <a:ea typeface="Black Han Sans"/>
                <a:cs typeface="Black Han Sans"/>
                <a:sym typeface="Black Han Sans"/>
              </a:rPr>
              <a:t>UML</a:t>
            </a:r>
            <a:endParaRPr lang="en-US" altLang="ko-KR" sz="5500" b="1">
              <a:solidFill>
                <a:srgbClr val="19319d"/>
              </a:solidFill>
              <a:latin typeface="Black Han Sans"/>
              <a:ea typeface="Black Han Sans"/>
              <a:cs typeface="Black Han Sans"/>
              <a:sym typeface="Black Han Sans"/>
            </a:endParaRPr>
          </a:p>
        </p:txBody>
      </p:sp>
      <p:pic>
        <p:nvPicPr>
          <p:cNvPr id="42" name="그림 41"/>
          <p:cNvPicPr>
            <a:picLocks noChangeAspect="1"/>
          </p:cNvPicPr>
          <p:nvPr/>
        </p:nvPicPr>
        <p:blipFill rotWithShape="1">
          <a:blip r:embed="rId5"/>
          <a:stretch>
            <a:fillRect/>
          </a:stretch>
        </p:blipFill>
        <p:spPr>
          <a:xfrm>
            <a:off x="4572000" y="1716079"/>
            <a:ext cx="4116305" cy="649279"/>
          </a:xfrm>
          <a:prstGeom prst="rect">
            <a:avLst/>
          </a:prstGeom>
        </p:spPr>
      </p:pic>
      <p:pic>
        <p:nvPicPr>
          <p:cNvPr id="44" name="그림 43"/>
          <p:cNvPicPr>
            <a:picLocks noChangeAspect="1"/>
          </p:cNvPicPr>
          <p:nvPr/>
        </p:nvPicPr>
        <p:blipFill rotWithShape="1">
          <a:blip r:embed="rId6"/>
          <a:stretch>
            <a:fillRect/>
          </a:stretch>
        </p:blipFill>
        <p:spPr>
          <a:xfrm>
            <a:off x="152400" y="2247900"/>
            <a:ext cx="4374756" cy="4620600"/>
          </a:xfrm>
          <a:prstGeom prst="rect">
            <a:avLst/>
          </a:prstGeom>
        </p:spPr>
      </p:pic>
      <p:pic>
        <p:nvPicPr>
          <p:cNvPr id="45" name="그림 44"/>
          <p:cNvPicPr>
            <a:picLocks noChangeAspect="1"/>
          </p:cNvPicPr>
          <p:nvPr/>
        </p:nvPicPr>
        <p:blipFill rotWithShape="1">
          <a:blip r:embed="rId7"/>
          <a:stretch>
            <a:fillRect/>
          </a:stretch>
        </p:blipFill>
        <p:spPr>
          <a:xfrm>
            <a:off x="4533784" y="2316291"/>
            <a:ext cx="4305416" cy="4122609"/>
          </a:xfrm>
          <a:prstGeom prst="rect">
            <a:avLst/>
          </a:prstGeom>
        </p:spPr>
      </p:pic>
      <p:pic>
        <p:nvPicPr>
          <p:cNvPr id="46" name="그림 45"/>
          <p:cNvPicPr>
            <a:picLocks noChangeAspect="1"/>
          </p:cNvPicPr>
          <p:nvPr/>
        </p:nvPicPr>
        <p:blipFill rotWithShape="1">
          <a:blip r:embed="rId8"/>
          <a:stretch>
            <a:fillRect/>
          </a:stretch>
        </p:blipFill>
        <p:spPr>
          <a:xfrm>
            <a:off x="13204000" y="1790700"/>
            <a:ext cx="4116305" cy="649279"/>
          </a:xfrm>
          <a:prstGeom prst="rect">
            <a:avLst/>
          </a:prstGeom>
        </p:spPr>
      </p:pic>
      <p:pic>
        <p:nvPicPr>
          <p:cNvPr id="48" name="그림 47"/>
          <p:cNvPicPr>
            <a:picLocks noChangeAspect="1"/>
          </p:cNvPicPr>
          <p:nvPr/>
        </p:nvPicPr>
        <p:blipFill rotWithShape="1">
          <a:blip r:embed="rId9"/>
          <a:stretch>
            <a:fillRect/>
          </a:stretch>
        </p:blipFill>
        <p:spPr>
          <a:xfrm>
            <a:off x="13182600" y="2383860"/>
            <a:ext cx="4283575" cy="4359840"/>
          </a:xfrm>
          <a:prstGeom prst="rect">
            <a:avLst/>
          </a:prstGeom>
        </p:spPr>
      </p:pic>
      <p:pic>
        <p:nvPicPr>
          <p:cNvPr id="49" name="그림 48"/>
          <p:cNvPicPr>
            <a:picLocks noChangeAspect="1"/>
          </p:cNvPicPr>
          <p:nvPr/>
        </p:nvPicPr>
        <p:blipFill rotWithShape="1">
          <a:blip r:embed="rId10"/>
          <a:stretch>
            <a:fillRect/>
          </a:stretch>
        </p:blipFill>
        <p:spPr>
          <a:xfrm>
            <a:off x="8763000" y="2400300"/>
            <a:ext cx="4276573" cy="7391400"/>
          </a:xfrm>
          <a:prstGeom prst="rect">
            <a:avLst/>
          </a:prstGeom>
        </p:spPr>
      </p:pic>
      <p:pic>
        <p:nvPicPr>
          <p:cNvPr id="50" name="그림 49"/>
          <p:cNvPicPr>
            <a:picLocks noChangeAspect="1"/>
          </p:cNvPicPr>
          <p:nvPr/>
        </p:nvPicPr>
        <p:blipFill rotWithShape="1">
          <a:blip r:embed="rId11"/>
          <a:stretch>
            <a:fillRect/>
          </a:stretch>
        </p:blipFill>
        <p:spPr>
          <a:xfrm>
            <a:off x="8802681" y="1758559"/>
            <a:ext cx="4151319" cy="654802"/>
          </a:xfrm>
          <a:prstGeom prst="rect">
            <a:avLst/>
          </a:prstGeom>
        </p:spPr>
      </p:pic>
    </p:spTree>
    <p:extLst>
      <p:ext uri="{BB962C8B-B14F-4D97-AF65-F5344CB8AC3E}">
        <p14:creationId xmlns:p14="http://schemas.microsoft.com/office/powerpoint/2010/main" val="1190709191"/>
      </p:ext>
    </p:extLst>
  </p:cSld>
  <p:clrMapOvr>
    <a:masterClrMapping/>
  </p:clrMapOvr>
</p:sld>
</file>

<file path=ppt/slides/slide1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en-US" altLang="ko-KR" sz="5500" b="1">
                <a:solidFill>
                  <a:srgbClr val="19319d"/>
                </a:solidFill>
                <a:latin typeface="Black Han Sans"/>
                <a:ea typeface="Black Han Sans"/>
                <a:cs typeface="Black Han Sans"/>
                <a:sym typeface="Black Han Sans"/>
              </a:rPr>
              <a:t>ER </a:t>
            </a:r>
            <a:r>
              <a:rPr lang="ko-KR" altLang="en-US" sz="5500" b="1">
                <a:solidFill>
                  <a:srgbClr val="19319d"/>
                </a:solidFill>
                <a:latin typeface="Black Han Sans"/>
                <a:ea typeface="Black Han Sans"/>
                <a:cs typeface="Black Han Sans"/>
                <a:sym typeface="Black Han Sans"/>
              </a:rPr>
              <a:t>다이어그램</a:t>
            </a:r>
            <a:endParaRPr lang="ko-KR" altLang="en-US" sz="5500" b="1">
              <a:solidFill>
                <a:srgbClr val="19319d"/>
              </a:solidFill>
              <a:latin typeface="Black Han Sans"/>
              <a:ea typeface="Black Han Sans"/>
              <a:cs typeface="Black Han Sans"/>
              <a:sym typeface="Black Han Sans"/>
            </a:endParaRPr>
          </a:p>
        </p:txBody>
      </p:sp>
      <p:pic>
        <p:nvPicPr>
          <p:cNvPr id="40" name="그림 39"/>
          <p:cNvPicPr>
            <a:picLocks noChangeAspect="1"/>
          </p:cNvPicPr>
          <p:nvPr/>
        </p:nvPicPr>
        <p:blipFill rotWithShape="1">
          <a:blip r:embed="rId4"/>
          <a:stretch>
            <a:fillRect/>
          </a:stretch>
        </p:blipFill>
        <p:spPr>
          <a:xfrm>
            <a:off x="1862837" y="1638300"/>
            <a:ext cx="13758163" cy="8077200"/>
          </a:xfrm>
          <a:prstGeom prst="rect">
            <a:avLst/>
          </a:prstGeom>
        </p:spPr>
      </p:pic>
    </p:spTree>
    <p:extLst>
      <p:ext uri="{BB962C8B-B14F-4D97-AF65-F5344CB8AC3E}">
        <p14:creationId xmlns:p14="http://schemas.microsoft.com/office/powerpoint/2010/main" val="3520615807"/>
      </p:ext>
    </p:extLst>
  </p:cSld>
  <p:clrMapOvr>
    <a:masterClrMapping/>
  </p:clrMapOvr>
</p:sld>
</file>

<file path=ppt/slides/slide1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47066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자막 생성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pic>
        <p:nvPicPr>
          <p:cNvPr id="50" name="그림 49"/>
          <p:cNvPicPr>
            <a:picLocks noChangeAspect="1"/>
          </p:cNvPicPr>
          <p:nvPr/>
        </p:nvPicPr>
        <p:blipFill rotWithShape="1">
          <a:blip r:embed="rId4"/>
          <a:stretch>
            <a:fillRect/>
          </a:stretch>
        </p:blipFill>
        <p:spPr>
          <a:xfrm>
            <a:off x="3323412" y="2386965"/>
            <a:ext cx="5820588" cy="6335008"/>
          </a:xfrm>
          <a:prstGeom prst="rect">
            <a:avLst/>
          </a:prstGeom>
        </p:spPr>
      </p:pic>
      <p:sp>
        <p:nvSpPr>
          <p:cNvPr id="45" name="가로 글상자 44"/>
          <p:cNvSpPr txBox="1"/>
          <p:nvPr/>
        </p:nvSpPr>
        <p:spPr>
          <a:xfrm>
            <a:off x="9906000" y="2552699"/>
            <a:ext cx="6248400" cy="902971"/>
          </a:xfrm>
          <a:prstGeom prst="rect">
            <a:avLst/>
          </a:prstGeom>
        </p:spPr>
        <p:txBody>
          <a:bodyPr wrap="square">
            <a:spAutoFit/>
          </a:bodyPr>
          <a:lstStyle/>
          <a:p>
            <a:pPr lvl="0">
              <a:defRPr/>
            </a:pPr>
            <a:r>
              <a:rPr lang="en-US" altLang="ko-KR">
                <a:latin typeface="한컴 말랑말랑 Bold"/>
                <a:ea typeface="한컴 말랑말랑 Bold"/>
              </a:rPr>
              <a:t>whisper_model: 모델 크기 선택</a:t>
            </a:r>
            <a:endParaRPr lang="en-US" altLang="ko-KR">
              <a:latin typeface="한컴 말랑말랑 Bold"/>
              <a:ea typeface="한컴 말랑말랑 Bold"/>
            </a:endParaRPr>
          </a:p>
          <a:p>
            <a:pPr lvl="0">
              <a:defRPr/>
            </a:pPr>
            <a:r>
              <a:rPr lang="en-US" altLang="ko-KR">
                <a:latin typeface="한컴 말랑말랑 Bold"/>
                <a:ea typeface="한컴 말랑말랑 Bold"/>
              </a:rPr>
              <a:t>  - large: 최고 정확도 (1550M 파라미터)</a:t>
            </a:r>
            <a:r>
              <a:rPr lang="ko-KR" altLang="en-US">
                <a:latin typeface="한컴 말랑말랑 Bold"/>
                <a:ea typeface="한컴 말랑말랑 Bold"/>
              </a:rPr>
              <a:t> </a:t>
            </a:r>
            <a:r>
              <a:rPr lang="en-US" altLang="ko-KR">
                <a:latin typeface="한컴 말랑말랑 Bold"/>
                <a:ea typeface="한컴 말랑말랑 Bold"/>
              </a:rPr>
              <a:t>&lt;-</a:t>
            </a:r>
            <a:r>
              <a:rPr lang="ko-KR" altLang="en-US">
                <a:latin typeface="한컴 말랑말랑 Bold"/>
                <a:ea typeface="한컴 말랑말랑 Bold"/>
              </a:rPr>
              <a:t> 해당 모델사용</a:t>
            </a:r>
            <a:endParaRPr lang="ko-KR" altLang="en-US">
              <a:latin typeface="한컴 말랑말랑 Bold"/>
              <a:ea typeface="한컴 말랑말랑 Bold"/>
            </a:endParaRPr>
          </a:p>
          <a:p>
            <a:pPr lvl="0">
              <a:defRPr/>
            </a:pPr>
            <a:r>
              <a:rPr lang="en-US" altLang="ko-KR">
                <a:latin typeface="한컴 말랑말랑 Bold"/>
                <a:ea typeface="한컴 말랑말랑 Bold"/>
              </a:rPr>
              <a:t>use_fp16: GPU에서 FP16 정밀도 사용 여부 (메모리 절약)</a:t>
            </a:r>
            <a:endParaRPr lang="en-US" altLang="ko-KR">
              <a:latin typeface="한컴 말랑말랑 Bold"/>
              <a:ea typeface="한컴 말랑말랑 Bold"/>
            </a:endParaRPr>
          </a:p>
        </p:txBody>
      </p:sp>
      <p:cxnSp>
        <p:nvCxnSpPr>
          <p:cNvPr id="46" name="화살표 45"/>
          <p:cNvCxnSpPr/>
          <p:nvPr/>
        </p:nvCxnSpPr>
        <p:spPr>
          <a:xfrm>
            <a:off x="9220200" y="2996565"/>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7" name="가로 글상자 46"/>
          <p:cNvSpPr txBox="1"/>
          <p:nvPr/>
        </p:nvSpPr>
        <p:spPr>
          <a:xfrm>
            <a:off x="8991600" y="4825365"/>
            <a:ext cx="4876800" cy="636270"/>
          </a:xfrm>
          <a:prstGeom prst="rect">
            <a:avLst/>
          </a:prstGeom>
        </p:spPr>
        <p:txBody>
          <a:bodyPr wrap="square">
            <a:spAutoFit/>
          </a:bodyPr>
          <a:lstStyle/>
          <a:p>
            <a:pPr lvl="0">
              <a:defRPr/>
            </a:pPr>
            <a:r>
              <a:rPr lang="en-US" altLang="ko-KR">
                <a:latin typeface="한컴 말랑말랑 Bold"/>
                <a:ea typeface="한컴 말랑말랑 Bold"/>
              </a:rPr>
              <a:t>VAD 필터: 무음 구간 자동 제거로 자막 품질 향상</a:t>
            </a:r>
            <a:endParaRPr lang="en-US" altLang="ko-KR">
              <a:latin typeface="한컴 말랑말랑 Bold"/>
              <a:ea typeface="한컴 말랑말랑 Bold"/>
            </a:endParaRPr>
          </a:p>
          <a:p>
            <a:pPr lvl="0">
              <a:defRPr/>
            </a:pPr>
            <a:r>
              <a:rPr lang="en-US" altLang="ko-KR">
                <a:latin typeface="한컴 말랑말랑 Bold"/>
                <a:ea typeface="한컴 말랑말랑 Bold"/>
              </a:rPr>
              <a:t>Beam Search: beam_size=5</a:t>
            </a:r>
            <a:r>
              <a:rPr lang="ko-KR" altLang="en-US">
                <a:latin typeface="한컴 말랑말랑 Bold"/>
                <a:ea typeface="한컴 말랑말랑 Bold"/>
              </a:rPr>
              <a:t> </a:t>
            </a:r>
            <a:r>
              <a:rPr lang="en-US" altLang="ko-KR">
                <a:latin typeface="한컴 말랑말랑 Bold"/>
                <a:ea typeface="한컴 말랑말랑 Bold"/>
              </a:rPr>
              <a:t>로 정확도 향상 </a:t>
            </a:r>
            <a:endParaRPr lang="en-US" altLang="ko-KR">
              <a:latin typeface="한컴 말랑말랑 Bold"/>
              <a:ea typeface="한컴 말랑말랑 Bold"/>
            </a:endParaRPr>
          </a:p>
        </p:txBody>
      </p:sp>
      <p:cxnSp>
        <p:nvCxnSpPr>
          <p:cNvPr id="48" name="화살표 47"/>
          <p:cNvCxnSpPr/>
          <p:nvPr/>
        </p:nvCxnSpPr>
        <p:spPr>
          <a:xfrm>
            <a:off x="8229600" y="5130165"/>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847014"/>
      </p:ext>
    </p:extLst>
  </p:cSld>
  <p:clrMapOvr>
    <a:masterClrMapping/>
  </p:clrMapOvr>
</p:sld>
</file>

<file path=ppt/slides/slide1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47066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챕터 분석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pic>
        <p:nvPicPr>
          <p:cNvPr id="41" name="그림 40"/>
          <p:cNvPicPr>
            <a:picLocks noChangeAspect="1"/>
          </p:cNvPicPr>
          <p:nvPr/>
        </p:nvPicPr>
        <p:blipFill rotWithShape="1">
          <a:blip r:embed="rId4"/>
          <a:stretch>
            <a:fillRect/>
          </a:stretch>
        </p:blipFill>
        <p:spPr>
          <a:xfrm>
            <a:off x="762000" y="1611814"/>
            <a:ext cx="7763756" cy="7798886"/>
          </a:xfrm>
          <a:prstGeom prst="rect">
            <a:avLst/>
          </a:prstGeom>
        </p:spPr>
      </p:pic>
      <p:sp>
        <p:nvSpPr>
          <p:cNvPr id="42" name="가로 글상자 41"/>
          <p:cNvSpPr txBox="1"/>
          <p:nvPr/>
        </p:nvSpPr>
        <p:spPr>
          <a:xfrm>
            <a:off x="8763001" y="2171700"/>
            <a:ext cx="8458200" cy="910590"/>
          </a:xfrm>
          <a:prstGeom prst="rect">
            <a:avLst/>
          </a:prstGeom>
        </p:spPr>
        <p:txBody>
          <a:bodyPr wrap="square">
            <a:spAutoFit/>
          </a:bodyPr>
          <a:p>
            <a:pPr lvl="0">
              <a:defRPr/>
            </a:pPr>
            <a:r>
              <a:rPr lang="ko-KR" altLang="en-US">
                <a:latin typeface="한컴 말랑말랑 Bold"/>
                <a:ea typeface="한컴 말랑말랑 Bold"/>
              </a:rPr>
              <a:t>챕터분석에 사용하는 </a:t>
            </a:r>
            <a:r>
              <a:rPr lang="en-US" altLang="ko-KR">
                <a:latin typeface="한컴 말랑말랑 Bold"/>
                <a:ea typeface="한컴 말랑말랑 Bold"/>
              </a:rPr>
              <a:t>LLM</a:t>
            </a:r>
            <a:r>
              <a:rPr lang="ko-KR" altLang="en-US">
                <a:latin typeface="한컴 말랑말랑 Bold"/>
                <a:ea typeface="한컴 말랑말랑 Bold"/>
              </a:rPr>
              <a:t>모델은 meta-llama/Llama-3.2-3B-Instruct 로 성능의 한계가 있기때문에 챕터분석시 구간분류 및 주제 요약 작성을 한번에 처리하지 못하기 때문에 로직을 </a:t>
            </a:r>
            <a:r>
              <a:rPr lang="en-US" altLang="ko-KR">
                <a:latin typeface="한컴 말랑말랑 Bold"/>
                <a:ea typeface="한컴 말랑말랑 Bold"/>
              </a:rPr>
              <a:t>2</a:t>
            </a:r>
            <a:r>
              <a:rPr lang="ko-KR" altLang="en-US">
                <a:latin typeface="한컴 말랑말랑 Bold"/>
                <a:ea typeface="한컴 말랑말랑 Bold"/>
              </a:rPr>
              <a:t>단계로 나눠 처리</a:t>
            </a:r>
            <a:endParaRPr lang="ko-KR" altLang="en-US">
              <a:latin typeface="한컴 말랑말랑 Bold"/>
              <a:ea typeface="한컴 말랑말랑 Bold"/>
            </a:endParaRPr>
          </a:p>
        </p:txBody>
      </p:sp>
      <p:sp>
        <p:nvSpPr>
          <p:cNvPr id="43" name="가로 글상자 42"/>
          <p:cNvSpPr txBox="1"/>
          <p:nvPr/>
        </p:nvSpPr>
        <p:spPr>
          <a:xfrm>
            <a:off x="9220200" y="4173855"/>
            <a:ext cx="4572000" cy="367665"/>
          </a:xfrm>
          <a:prstGeom prst="rect">
            <a:avLst/>
          </a:prstGeom>
        </p:spPr>
        <p:txBody>
          <a:bodyPr wrap="square">
            <a:spAutoFit/>
          </a:bodyPr>
          <a:lstStyle/>
          <a:p>
            <a:pPr lvl="0">
              <a:defRPr/>
            </a:pPr>
            <a:r>
              <a:rPr lang="ko-KR" altLang="en-US">
                <a:latin typeface="한컴 말랑말랑 Bold"/>
                <a:ea typeface="한컴 말랑말랑 Bold"/>
              </a:rPr>
              <a:t>구간 검증 및 병합 함수 (60초 미만 구간 병합)</a:t>
            </a:r>
            <a:endParaRPr lang="ko-KR" altLang="en-US">
              <a:latin typeface="한컴 말랑말랑 Bold"/>
              <a:ea typeface="한컴 말랑말랑 Bold"/>
            </a:endParaRPr>
          </a:p>
        </p:txBody>
      </p:sp>
      <p:cxnSp>
        <p:nvCxnSpPr>
          <p:cNvPr id="44" name="화살표 43"/>
          <p:cNvCxnSpPr/>
          <p:nvPr/>
        </p:nvCxnSpPr>
        <p:spPr>
          <a:xfrm>
            <a:off x="8534400" y="43815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5" name="가로 글상자 44"/>
          <p:cNvSpPr txBox="1"/>
          <p:nvPr/>
        </p:nvSpPr>
        <p:spPr>
          <a:xfrm>
            <a:off x="7315200" y="3564255"/>
            <a:ext cx="4572000" cy="367665"/>
          </a:xfrm>
          <a:prstGeom prst="rect">
            <a:avLst/>
          </a:prstGeom>
        </p:spPr>
        <p:txBody>
          <a:bodyPr wrap="square">
            <a:spAutoFit/>
          </a:bodyPr>
          <a:lstStyle/>
          <a:p>
            <a:pPr lvl="0">
              <a:defRPr/>
            </a:pPr>
            <a:r>
              <a:rPr lang="en-US" altLang="ko-KR">
                <a:latin typeface="한컴 말랑말랑 Bold"/>
                <a:ea typeface="한컴 말랑말랑 Bold"/>
              </a:rPr>
              <a:t>1</a:t>
            </a:r>
            <a:r>
              <a:rPr lang="ko-KR" altLang="en-US">
                <a:latin typeface="한컴 말랑말랑 Bold"/>
                <a:ea typeface="한컴 말랑말랑 Bold"/>
              </a:rPr>
              <a:t>단계 </a:t>
            </a:r>
            <a:r>
              <a:rPr lang="en-US" altLang="ko-KR">
                <a:latin typeface="한컴 말랑말랑 Bold"/>
                <a:ea typeface="한컴 말랑말랑 Bold"/>
              </a:rPr>
              <a:t>LLM</a:t>
            </a:r>
            <a:r>
              <a:rPr lang="ko-KR" altLang="en-US">
                <a:latin typeface="한컴 말랑말랑 Bold"/>
                <a:ea typeface="한컴 말랑말랑 Bold"/>
              </a:rPr>
              <a:t>모델을 활용해 구간만 추출하는 함수</a:t>
            </a:r>
            <a:endParaRPr lang="ko-KR" altLang="en-US">
              <a:latin typeface="한컴 말랑말랑 Bold"/>
              <a:ea typeface="한컴 말랑말랑 Bold"/>
            </a:endParaRPr>
          </a:p>
        </p:txBody>
      </p:sp>
      <p:cxnSp>
        <p:nvCxnSpPr>
          <p:cNvPr id="46" name="화살표 45"/>
          <p:cNvCxnSpPr/>
          <p:nvPr/>
        </p:nvCxnSpPr>
        <p:spPr>
          <a:xfrm>
            <a:off x="6629400" y="37719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7" name="가로 글상자 46"/>
          <p:cNvSpPr txBox="1"/>
          <p:nvPr/>
        </p:nvSpPr>
        <p:spPr>
          <a:xfrm>
            <a:off x="8534400" y="7021830"/>
            <a:ext cx="4572000" cy="643890"/>
          </a:xfrm>
          <a:prstGeom prst="rect">
            <a:avLst/>
          </a:prstGeom>
        </p:spPr>
        <p:txBody>
          <a:bodyPr wrap="square">
            <a:spAutoFit/>
          </a:bodyPr>
          <a:lstStyle/>
          <a:p>
            <a:pPr lvl="0">
              <a:defRPr/>
            </a:pPr>
            <a:r>
              <a:rPr lang="en-US" altLang="ko-KR">
                <a:latin typeface="한컴 말랑말랑 Bold"/>
                <a:ea typeface="한컴 말랑말랑 Bold"/>
              </a:rPr>
              <a:t>2</a:t>
            </a:r>
            <a:r>
              <a:rPr lang="ko-KR" altLang="en-US">
                <a:latin typeface="한컴 말랑말랑 Bold"/>
                <a:ea typeface="한컴 말랑말랑 Bold"/>
              </a:rPr>
              <a:t>단계 </a:t>
            </a:r>
            <a:r>
              <a:rPr lang="en-US" altLang="ko-KR">
                <a:latin typeface="한컴 말랑말랑 Bold"/>
                <a:ea typeface="한컴 말랑말랑 Bold"/>
              </a:rPr>
              <a:t>LLM</a:t>
            </a:r>
            <a:r>
              <a:rPr lang="ko-KR" altLang="en-US">
                <a:latin typeface="한컴 말랑말랑 Bold"/>
                <a:ea typeface="한컴 말랑말랑 Bold"/>
              </a:rPr>
              <a:t>모델을 활용해 추출된 구간내의 자막으로 주제 및 요약을 도출하는 함수</a:t>
            </a:r>
            <a:endParaRPr lang="ko-KR" altLang="en-US">
              <a:latin typeface="한컴 말랑말랑 Bold"/>
              <a:ea typeface="한컴 말랑말랑 Bold"/>
            </a:endParaRPr>
          </a:p>
        </p:txBody>
      </p:sp>
      <p:cxnSp>
        <p:nvCxnSpPr>
          <p:cNvPr id="48" name="화살표 47"/>
          <p:cNvCxnSpPr/>
          <p:nvPr/>
        </p:nvCxnSpPr>
        <p:spPr>
          <a:xfrm>
            <a:off x="7848600" y="7332345"/>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112877"/>
      </p:ext>
    </p:extLst>
  </p:cSld>
  <p:clrMapOvr>
    <a:masterClrMapping/>
  </p:clrMapOvr>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챕터 분석 기능</a:t>
            </a:r>
            <a:r>
              <a:rPr lang="en-US" altLang="ko-KR" sz="5500" b="1">
                <a:solidFill>
                  <a:srgbClr val="19319d"/>
                </a:solidFill>
                <a:latin typeface="Black Han Sans"/>
                <a:ea typeface="Black Han Sans"/>
                <a:cs typeface="Black Han Sans"/>
                <a:sym typeface="Black Han Sans"/>
              </a:rPr>
              <a:t>)</a:t>
            </a:r>
            <a:endParaRPr lang="ko-KR" altLang="en-US" sz="5500" b="1">
              <a:solidFill>
                <a:srgbClr val="19319d"/>
              </a:solidFill>
              <a:latin typeface="Black Han Sans"/>
              <a:ea typeface="Black Han Sans"/>
              <a:cs typeface="Black Han Sans"/>
              <a:sym typeface="Black Han Sans"/>
            </a:endParaRPr>
          </a:p>
        </p:txBody>
      </p:sp>
      <p:pic>
        <p:nvPicPr>
          <p:cNvPr id="41" name="그림 40"/>
          <p:cNvPicPr>
            <a:picLocks noChangeAspect="1"/>
          </p:cNvPicPr>
          <p:nvPr/>
        </p:nvPicPr>
        <p:blipFill rotWithShape="1">
          <a:blip r:embed="rId4"/>
          <a:stretch>
            <a:fillRect/>
          </a:stretch>
        </p:blipFill>
        <p:spPr>
          <a:xfrm>
            <a:off x="947626" y="1317317"/>
            <a:ext cx="4386374" cy="3521383"/>
          </a:xfrm>
          <a:prstGeom prst="rect">
            <a:avLst/>
          </a:prstGeom>
        </p:spPr>
      </p:pic>
      <p:pic>
        <p:nvPicPr>
          <p:cNvPr id="42" name="그림 41"/>
          <p:cNvPicPr>
            <a:picLocks noChangeAspect="1"/>
          </p:cNvPicPr>
          <p:nvPr/>
        </p:nvPicPr>
        <p:blipFill rotWithShape="1">
          <a:blip r:embed="rId5"/>
          <a:stretch>
            <a:fillRect/>
          </a:stretch>
        </p:blipFill>
        <p:spPr>
          <a:xfrm>
            <a:off x="5943600" y="3220155"/>
            <a:ext cx="5334000" cy="6647745"/>
          </a:xfrm>
          <a:prstGeom prst="rect">
            <a:avLst/>
          </a:prstGeom>
        </p:spPr>
      </p:pic>
      <p:sp>
        <p:nvSpPr>
          <p:cNvPr id="43" name="가로 글상자 42"/>
          <p:cNvSpPr txBox="1"/>
          <p:nvPr/>
        </p:nvSpPr>
        <p:spPr>
          <a:xfrm>
            <a:off x="5562600" y="2644140"/>
            <a:ext cx="3276600" cy="365760"/>
          </a:xfrm>
          <a:prstGeom prst="rect">
            <a:avLst/>
          </a:prstGeom>
        </p:spPr>
        <p:txBody>
          <a:bodyPr wrap="square">
            <a:spAutoFit/>
          </a:bodyPr>
          <a:lstStyle/>
          <a:p>
            <a:pPr lvl="0">
              <a:defRPr/>
            </a:pPr>
            <a:r>
              <a:rPr lang="en-US" altLang="ko-KR">
                <a:latin typeface="한컴 말랑말랑 Bold"/>
                <a:ea typeface="한컴 말랑말랑 Bold"/>
              </a:rPr>
              <a:t>1</a:t>
            </a:r>
            <a:r>
              <a:rPr lang="ko-KR" altLang="en-US">
                <a:latin typeface="한컴 말랑말랑 Bold"/>
                <a:ea typeface="한컴 말랑말랑 Bold"/>
              </a:rPr>
              <a:t>단계 구간 분류를 위한 프롬프트</a:t>
            </a:r>
            <a:endParaRPr lang="ko-KR" altLang="en-US">
              <a:latin typeface="한컴 말랑말랑 Bold"/>
              <a:ea typeface="한컴 말랑말랑 Bold"/>
            </a:endParaRPr>
          </a:p>
        </p:txBody>
      </p:sp>
      <p:cxnSp>
        <p:nvCxnSpPr>
          <p:cNvPr id="44" name="화살표 43"/>
          <p:cNvCxnSpPr/>
          <p:nvPr/>
        </p:nvCxnSpPr>
        <p:spPr>
          <a:xfrm>
            <a:off x="4953000" y="28575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5" name="가로 글상자 44"/>
          <p:cNvSpPr txBox="1"/>
          <p:nvPr/>
        </p:nvSpPr>
        <p:spPr>
          <a:xfrm>
            <a:off x="12115800" y="6438900"/>
            <a:ext cx="3276600" cy="902970"/>
          </a:xfrm>
          <a:prstGeom prst="rect">
            <a:avLst/>
          </a:prstGeom>
        </p:spPr>
        <p:txBody>
          <a:bodyPr wrap="square">
            <a:spAutoFit/>
          </a:bodyPr>
          <a:lstStyle/>
          <a:p>
            <a:pPr lvl="0">
              <a:defRPr/>
            </a:pPr>
            <a:r>
              <a:rPr lang="en-US" altLang="ko-KR">
                <a:latin typeface="한컴 말랑말랑 Bold"/>
                <a:ea typeface="한컴 말랑말랑 Bold"/>
              </a:rPr>
              <a:t>LLM</a:t>
            </a:r>
            <a:r>
              <a:rPr lang="ko-KR" altLang="en-US">
                <a:latin typeface="한컴 말랑말랑 Bold"/>
                <a:ea typeface="한컴 말랑말랑 Bold"/>
              </a:rPr>
              <a:t> 출력값이 </a:t>
            </a:r>
            <a:r>
              <a:rPr lang="en-US" altLang="ko-KR">
                <a:latin typeface="한컴 말랑말랑 Bold"/>
                <a:ea typeface="한컴 말랑말랑 Bold"/>
              </a:rPr>
              <a:t>JSON</a:t>
            </a:r>
            <a:r>
              <a:rPr lang="ko-KR" altLang="en-US">
                <a:latin typeface="한컴 말랑말랑 Bold"/>
                <a:ea typeface="한컴 말랑말랑 Bold"/>
              </a:rPr>
              <a:t>형태가 아닐때 </a:t>
            </a:r>
            <a:r>
              <a:rPr lang="en-US" altLang="ko-KR">
                <a:latin typeface="한컴 말랑말랑 Bold"/>
                <a:ea typeface="한컴 말랑말랑 Bold"/>
              </a:rPr>
              <a:t>JSON</a:t>
            </a:r>
            <a:r>
              <a:rPr lang="ko-KR" altLang="en-US">
                <a:latin typeface="한컴 말랑말랑 Bold"/>
                <a:ea typeface="한컴 말랑말랑 Bold"/>
              </a:rPr>
              <a:t>형태로 만들어주는 파싱 로직</a:t>
            </a:r>
            <a:endParaRPr lang="ko-KR" altLang="en-US">
              <a:latin typeface="한컴 말랑말랑 Bold"/>
              <a:ea typeface="한컴 말랑말랑 Bold"/>
            </a:endParaRPr>
          </a:p>
        </p:txBody>
      </p:sp>
      <p:cxnSp>
        <p:nvCxnSpPr>
          <p:cNvPr id="46" name="화살표 45"/>
          <p:cNvCxnSpPr/>
          <p:nvPr/>
        </p:nvCxnSpPr>
        <p:spPr>
          <a:xfrm>
            <a:off x="11430000" y="68199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9" name="오른쪽 대괄호 48"/>
          <p:cNvSpPr/>
          <p:nvPr/>
        </p:nvSpPr>
        <p:spPr>
          <a:xfrm>
            <a:off x="10287000" y="4076700"/>
            <a:ext cx="1143000" cy="5638800"/>
          </a:xfrm>
          <a:prstGeom prst="rightBracket">
            <a:avLst>
              <a:gd name="adj" fmla="val 0"/>
            </a:avLst>
          </a:prstGeom>
          <a:ln cap="sq">
            <a:solidFill>
              <a:schemeClr val="dk2"/>
            </a:solidFill>
            <a:miter/>
          </a:ln>
        </p:spPr>
        <p:style>
          <a:lnRef idx="1">
            <a:schemeClr val="accent1"/>
          </a:lnRef>
          <a:fillRef idx="0">
            <a:schemeClr val="accent1"/>
          </a:fillRef>
          <a:effectRef idx="0">
            <a:schemeClr val="accent1"/>
          </a:effectRef>
          <a:fontRef idx="minor">
            <a:schemeClr val="tx1"/>
          </a:fontRef>
        </p:style>
        <p:txBody>
          <a:bodyPr anchor="ctr"/>
          <a:p>
            <a:pPr lvl="0" algn="ctr">
              <a:defRPr/>
            </a:pPr>
            <a:endParaRPr lang="ko-KR" altLang="en-US">
              <a:solidFill>
                <a:schemeClr val="tx1"/>
              </a:solidFill>
            </a:endParaRPr>
          </a:p>
        </p:txBody>
      </p:sp>
      <p:pic>
        <p:nvPicPr>
          <p:cNvPr id="51" name="그림 50"/>
          <p:cNvPicPr>
            <a:picLocks noChangeAspect="1"/>
          </p:cNvPicPr>
          <p:nvPr/>
        </p:nvPicPr>
        <p:blipFill rotWithShape="1">
          <a:blip r:embed="rId6"/>
          <a:stretch>
            <a:fillRect/>
          </a:stretch>
        </p:blipFill>
        <p:spPr>
          <a:xfrm>
            <a:off x="11201400" y="2095287"/>
            <a:ext cx="5239481" cy="1524212"/>
          </a:xfrm>
          <a:prstGeom prst="rect">
            <a:avLst/>
          </a:prstGeom>
        </p:spPr>
      </p:pic>
      <p:sp>
        <p:nvSpPr>
          <p:cNvPr id="52" name="가로 글상자 51"/>
          <p:cNvSpPr txBox="1"/>
          <p:nvPr/>
        </p:nvSpPr>
        <p:spPr>
          <a:xfrm>
            <a:off x="14401800" y="3467100"/>
            <a:ext cx="3276600" cy="902970"/>
          </a:xfrm>
          <a:prstGeom prst="rect">
            <a:avLst/>
          </a:prstGeom>
        </p:spPr>
        <p:txBody>
          <a:bodyPr wrap="square">
            <a:spAutoFit/>
          </a:bodyPr>
          <a:lstStyle/>
          <a:p>
            <a:pPr lvl="0">
              <a:defRPr/>
            </a:pPr>
            <a:r>
              <a:rPr lang="ko-KR" altLang="en-US">
                <a:latin typeface="한컴 말랑말랑 Bold"/>
                <a:ea typeface="한컴 말랑말랑 Bold"/>
              </a:rPr>
              <a:t>오류등의 이유로 출력에 이상이 생겼을시 균등하게 </a:t>
            </a:r>
            <a:r>
              <a:rPr lang="en-US" altLang="ko-KR">
                <a:latin typeface="한컴 말랑말랑 Bold"/>
                <a:ea typeface="한컴 말랑말랑 Bold"/>
              </a:rPr>
              <a:t>6</a:t>
            </a:r>
            <a:r>
              <a:rPr lang="ko-KR" altLang="en-US">
                <a:latin typeface="한컴 말랑말랑 Bold"/>
                <a:ea typeface="한컴 말랑말랑 Bold"/>
              </a:rPr>
              <a:t>개의 구간을 생성하는 로직</a:t>
            </a:r>
            <a:endParaRPr lang="ko-KR" altLang="en-US">
              <a:latin typeface="한컴 말랑말랑 Bold"/>
              <a:ea typeface="한컴 말랑말랑 Bold"/>
            </a:endParaRPr>
          </a:p>
        </p:txBody>
      </p:sp>
    </p:spTree>
    <p:extLst>
      <p:ext uri="{BB962C8B-B14F-4D97-AF65-F5344CB8AC3E}">
        <p14:creationId xmlns:p14="http://schemas.microsoft.com/office/powerpoint/2010/main" val="3700415407"/>
      </p:ext>
    </p:extLst>
  </p:cSld>
  <p:clrMapOvr>
    <a:masterClrMapping/>
  </p:clrMapOvr>
</p:sld>
</file>

<file path=ppt/slides/slide2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챕터 분석 기능</a:t>
            </a:r>
            <a:r>
              <a:rPr lang="en-US" altLang="ko-KR" sz="5500" b="1">
                <a:solidFill>
                  <a:srgbClr val="19319d"/>
                </a:solidFill>
                <a:latin typeface="Black Han Sans"/>
                <a:ea typeface="Black Han Sans"/>
                <a:cs typeface="Black Han Sans"/>
                <a:sym typeface="Black Han Sans"/>
              </a:rPr>
              <a:t>)</a:t>
            </a:r>
            <a:endParaRPr lang="ko-KR" altLang="en-US" sz="5500" b="1">
              <a:solidFill>
                <a:srgbClr val="19319d"/>
              </a:solidFill>
              <a:latin typeface="Black Han Sans"/>
              <a:ea typeface="Black Han Sans"/>
              <a:cs typeface="Black Han Sans"/>
              <a:sym typeface="Black Han Sans"/>
            </a:endParaRPr>
          </a:p>
        </p:txBody>
      </p:sp>
      <p:sp>
        <p:nvSpPr>
          <p:cNvPr id="45" name="가로 글상자 44"/>
          <p:cNvSpPr txBox="1"/>
          <p:nvPr/>
        </p:nvSpPr>
        <p:spPr>
          <a:xfrm>
            <a:off x="13258800" y="7505700"/>
            <a:ext cx="3276600" cy="902970"/>
          </a:xfrm>
          <a:prstGeom prst="rect">
            <a:avLst/>
          </a:prstGeom>
        </p:spPr>
        <p:txBody>
          <a:bodyPr wrap="square">
            <a:spAutoFit/>
          </a:bodyPr>
          <a:lstStyle/>
          <a:p>
            <a:pPr lvl="0">
              <a:defRPr/>
            </a:pPr>
            <a:r>
              <a:rPr lang="en-US" altLang="ko-KR">
                <a:latin typeface="한컴 말랑말랑 Bold"/>
                <a:ea typeface="한컴 말랑말랑 Bold"/>
              </a:rPr>
              <a:t>LLM</a:t>
            </a:r>
            <a:r>
              <a:rPr lang="ko-KR" altLang="en-US">
                <a:latin typeface="한컴 말랑말랑 Bold"/>
                <a:ea typeface="한컴 말랑말랑 Bold"/>
              </a:rPr>
              <a:t> 출력값이 </a:t>
            </a:r>
            <a:r>
              <a:rPr lang="en-US" altLang="ko-KR">
                <a:latin typeface="한컴 말랑말랑 Bold"/>
                <a:ea typeface="한컴 말랑말랑 Bold"/>
              </a:rPr>
              <a:t>JSON</a:t>
            </a:r>
            <a:r>
              <a:rPr lang="ko-KR" altLang="en-US">
                <a:latin typeface="한컴 말랑말랑 Bold"/>
                <a:ea typeface="한컴 말랑말랑 Bold"/>
              </a:rPr>
              <a:t>형태가 아닐때 </a:t>
            </a:r>
            <a:r>
              <a:rPr lang="en-US" altLang="ko-KR">
                <a:latin typeface="한컴 말랑말랑 Bold"/>
                <a:ea typeface="한컴 말랑말랑 Bold"/>
              </a:rPr>
              <a:t>JSON</a:t>
            </a:r>
            <a:r>
              <a:rPr lang="ko-KR" altLang="en-US">
                <a:latin typeface="한컴 말랑말랑 Bold"/>
                <a:ea typeface="한컴 말랑말랑 Bold"/>
              </a:rPr>
              <a:t>형태로 만들어주는 파싱 로직</a:t>
            </a:r>
            <a:endParaRPr lang="ko-KR" altLang="en-US">
              <a:latin typeface="한컴 말랑말랑 Bold"/>
              <a:ea typeface="한컴 말랑말랑 Bold"/>
            </a:endParaRPr>
          </a:p>
        </p:txBody>
      </p:sp>
      <p:cxnSp>
        <p:nvCxnSpPr>
          <p:cNvPr id="46" name="화살표 45"/>
          <p:cNvCxnSpPr/>
          <p:nvPr/>
        </p:nvCxnSpPr>
        <p:spPr>
          <a:xfrm>
            <a:off x="12573000" y="79629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pic>
        <p:nvPicPr>
          <p:cNvPr id="53" name="그림 52"/>
          <p:cNvPicPr>
            <a:picLocks noChangeAspect="1"/>
          </p:cNvPicPr>
          <p:nvPr/>
        </p:nvPicPr>
        <p:blipFill rotWithShape="1">
          <a:blip r:embed="rId4"/>
          <a:stretch>
            <a:fillRect/>
          </a:stretch>
        </p:blipFill>
        <p:spPr>
          <a:xfrm>
            <a:off x="685800" y="1409700"/>
            <a:ext cx="6058745" cy="5925376"/>
          </a:xfrm>
          <a:prstGeom prst="rect">
            <a:avLst/>
          </a:prstGeom>
        </p:spPr>
      </p:pic>
      <p:sp>
        <p:nvSpPr>
          <p:cNvPr id="43" name="가로 글상자 42"/>
          <p:cNvSpPr txBox="1"/>
          <p:nvPr/>
        </p:nvSpPr>
        <p:spPr>
          <a:xfrm>
            <a:off x="6553200" y="2284095"/>
            <a:ext cx="5257800" cy="1183005"/>
          </a:xfrm>
          <a:prstGeom prst="rect">
            <a:avLst/>
          </a:prstGeom>
        </p:spPr>
        <p:txBody>
          <a:bodyPr wrap="square">
            <a:spAutoFit/>
          </a:bodyPr>
          <a:lstStyle/>
          <a:p>
            <a:pPr lvl="0">
              <a:defRPr/>
            </a:pPr>
            <a:r>
              <a:rPr lang="en-US" altLang="ko-KR">
                <a:latin typeface="한컴 말랑말랑 Bold"/>
                <a:ea typeface="한컴 말랑말랑 Bold"/>
              </a:rPr>
              <a:t>2</a:t>
            </a:r>
            <a:r>
              <a:rPr lang="ko-KR" altLang="en-US">
                <a:latin typeface="한컴 말랑말랑 Bold"/>
                <a:ea typeface="한컴 말랑말랑 Bold"/>
              </a:rPr>
              <a:t>단계 구간 분류를 위한 프롬프트</a:t>
            </a:r>
            <a:r>
              <a:rPr lang="en-US" altLang="ko-KR">
                <a:latin typeface="한컴 말랑말랑 Bold"/>
                <a:ea typeface="한컴 말랑말랑 Bold"/>
              </a:rPr>
              <a:t>,</a:t>
            </a:r>
            <a:r>
              <a:rPr lang="ko-KR" altLang="en-US">
                <a:latin typeface="한컴 말랑말랑 Bold"/>
                <a:ea typeface="한컴 말랑말랑 Bold"/>
              </a:rPr>
              <a:t>  한글 영상의 경우 한글로 된 주제</a:t>
            </a:r>
            <a:r>
              <a:rPr lang="en-US" altLang="ko-KR">
                <a:latin typeface="한컴 말랑말랑 Bold"/>
                <a:ea typeface="한컴 말랑말랑 Bold"/>
              </a:rPr>
              <a:t>,</a:t>
            </a:r>
            <a:r>
              <a:rPr lang="ko-KR" altLang="en-US">
                <a:latin typeface="한컴 말랑말랑 Bold"/>
                <a:ea typeface="한컴 말랑말랑 Bold"/>
              </a:rPr>
              <a:t>요약문을 출력 받기 위해 입력값의 형태도 주로 한글로 작성된 프롬프트를 작성해야 해서 한글</a:t>
            </a:r>
            <a:r>
              <a:rPr lang="en-US" altLang="ko-KR">
                <a:latin typeface="한컴 말랑말랑 Bold"/>
                <a:ea typeface="한컴 말랑말랑 Bold"/>
              </a:rPr>
              <a:t>/</a:t>
            </a:r>
            <a:r>
              <a:rPr lang="ko-KR" altLang="en-US">
                <a:latin typeface="한컴 말랑말랑 Bold"/>
                <a:ea typeface="한컴 말랑말랑 Bold"/>
              </a:rPr>
              <a:t>영어 프롬프트 개별 작성</a:t>
            </a:r>
            <a:endParaRPr lang="ko-KR" altLang="en-US">
              <a:latin typeface="한컴 말랑말랑 Bold"/>
              <a:ea typeface="한컴 말랑말랑 Bold"/>
            </a:endParaRPr>
          </a:p>
        </p:txBody>
      </p:sp>
      <p:pic>
        <p:nvPicPr>
          <p:cNvPr id="54" name="그림 53"/>
          <p:cNvPicPr>
            <a:picLocks noChangeAspect="1"/>
          </p:cNvPicPr>
          <p:nvPr/>
        </p:nvPicPr>
        <p:blipFill rotWithShape="1">
          <a:blip r:embed="rId5"/>
          <a:stretch>
            <a:fillRect/>
          </a:stretch>
        </p:blipFill>
        <p:spPr>
          <a:xfrm>
            <a:off x="6318498" y="3856626"/>
            <a:ext cx="5568701" cy="6087473"/>
          </a:xfrm>
          <a:prstGeom prst="rect">
            <a:avLst/>
          </a:prstGeom>
        </p:spPr>
      </p:pic>
      <p:cxnSp>
        <p:nvCxnSpPr>
          <p:cNvPr id="55" name="화살표 54"/>
          <p:cNvCxnSpPr/>
          <p:nvPr/>
        </p:nvCxnSpPr>
        <p:spPr>
          <a:xfrm>
            <a:off x="9906000" y="4533900"/>
            <a:ext cx="14478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52" name="가로 글상자 51"/>
          <p:cNvSpPr txBox="1"/>
          <p:nvPr/>
        </p:nvSpPr>
        <p:spPr>
          <a:xfrm>
            <a:off x="11582400" y="4011929"/>
            <a:ext cx="5638800" cy="1177291"/>
          </a:xfrm>
          <a:prstGeom prst="rect">
            <a:avLst/>
          </a:prstGeom>
        </p:spPr>
        <p:txBody>
          <a:bodyPr wrap="square">
            <a:spAutoFit/>
          </a:bodyPr>
          <a:lstStyle/>
          <a:p>
            <a:pPr lvl="0">
              <a:defRPr/>
            </a:pPr>
            <a:r>
              <a:rPr lang="ko-KR" altLang="en-US">
                <a:latin typeface="한컴 말랑말랑 Bold"/>
                <a:ea typeface="한컴 말랑말랑 Bold"/>
              </a:rPr>
              <a:t>주제와 달리 문장의 형태를 가지는 요약문에서 외국어가 혼재되는 경우가 있어 비교적 낮은 </a:t>
            </a:r>
            <a:r>
              <a:rPr lang="en-US" altLang="ko-KR">
                <a:latin typeface="한컴 말랑말랑 Bold"/>
                <a:ea typeface="한컴 말랑말랑 Bold"/>
              </a:rPr>
              <a:t>temperature</a:t>
            </a:r>
            <a:r>
              <a:rPr lang="ko-KR" altLang="en-US">
                <a:latin typeface="한컴 말랑말랑 Bold"/>
                <a:ea typeface="한컴 말랑말랑 Bold"/>
              </a:rPr>
              <a:t>를 설정하였고 마지막 문장이 반복되는 경우도 있어 </a:t>
            </a:r>
            <a:r>
              <a:rPr lang="en-US" altLang="ko-KR">
                <a:latin typeface="한컴 말랑말랑 Bold"/>
                <a:ea typeface="한컴 말랑말랑 Bold"/>
              </a:rPr>
              <a:t>repetition_penalty</a:t>
            </a:r>
            <a:r>
              <a:rPr lang="ko-KR" altLang="en-US">
                <a:latin typeface="한컴 말랑말랑 Bold"/>
                <a:ea typeface="한컴 말랑말랑 Bold"/>
              </a:rPr>
              <a:t>를 설정</a:t>
            </a:r>
            <a:endParaRPr lang="ko-KR" altLang="en-US">
              <a:latin typeface="한컴 말랑말랑 Bold"/>
              <a:ea typeface="한컴 말랑말랑 Bold"/>
            </a:endParaRPr>
          </a:p>
        </p:txBody>
      </p:sp>
      <p:sp>
        <p:nvSpPr>
          <p:cNvPr id="49" name="오른쪽 대괄호 48"/>
          <p:cNvSpPr/>
          <p:nvPr/>
        </p:nvSpPr>
        <p:spPr>
          <a:xfrm>
            <a:off x="11430000" y="6438900"/>
            <a:ext cx="1143000" cy="3200400"/>
          </a:xfrm>
          <a:prstGeom prst="rightBracket">
            <a:avLst>
              <a:gd name="adj" fmla="val 0"/>
            </a:avLst>
          </a:prstGeom>
          <a:ln cap="sq">
            <a:solidFill>
              <a:schemeClr val="accent1">
                <a:shade val="95000"/>
                <a:satMod val="105000"/>
              </a:schemeClr>
            </a:solidFill>
            <a:miter/>
          </a:ln>
        </p:spPr>
        <p:style>
          <a:lnRef idx="1">
            <a:schemeClr val="accent1"/>
          </a:lnRef>
          <a:fillRef idx="0">
            <a:schemeClr val="accent1"/>
          </a:fillRef>
          <a:effectRef idx="0">
            <a:schemeClr val="accent1"/>
          </a:effectRef>
          <a:fontRef idx="minor">
            <a:schemeClr val="tx1"/>
          </a:fontRef>
        </p:style>
        <p:txBody>
          <a:bodyPr anchor="ctr"/>
          <a:p>
            <a:pPr lvl="0" algn="ctr">
              <a:defRPr/>
            </a:pPr>
            <a:endParaRPr lang="ko-KR" altLang="en-US">
              <a:solidFill>
                <a:schemeClr val="tx1"/>
              </a:solidFill>
            </a:endParaRPr>
          </a:p>
        </p:txBody>
      </p:sp>
      <p:cxnSp>
        <p:nvCxnSpPr>
          <p:cNvPr id="57" name="양방향 화살표 56"/>
          <p:cNvCxnSpPr>
            <a:endCxn id="43" idx="1"/>
          </p:cNvCxnSpPr>
          <p:nvPr/>
        </p:nvCxnSpPr>
        <p:spPr>
          <a:xfrm flipV="1">
            <a:off x="3733800" y="2875597"/>
            <a:ext cx="2819400" cy="1963102"/>
          </a:xfrm>
          <a:prstGeom prst="bentConnector3">
            <a:avLst>
              <a:gd name="adj1" fmla="val 50000"/>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408750"/>
      </p:ext>
    </p:extLst>
  </p:cSld>
  <p:clrMapOvr>
    <a:masterClrMapping/>
  </p:clrMapOvr>
</p:sld>
</file>

<file path=ppt/slides/slide2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상세 설명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sp>
        <p:nvSpPr>
          <p:cNvPr id="43" name="가로 글상자 42"/>
          <p:cNvSpPr txBox="1"/>
          <p:nvPr/>
        </p:nvSpPr>
        <p:spPr>
          <a:xfrm>
            <a:off x="10134600" y="2311225"/>
            <a:ext cx="5257800" cy="910590"/>
          </a:xfrm>
          <a:prstGeom prst="rect">
            <a:avLst/>
          </a:prstGeom>
        </p:spPr>
        <p:txBody>
          <a:bodyPr wrap="square">
            <a:spAutoFit/>
          </a:bodyPr>
          <a:lstStyle/>
          <a:p>
            <a:pPr lvl="0">
              <a:defRPr/>
            </a:pPr>
            <a:r>
              <a:rPr lang="ko-KR" altLang="en-US">
                <a:latin typeface="한컴 말랑말랑 Bold"/>
                <a:ea typeface="한컴 말랑말랑 Bold"/>
              </a:rPr>
              <a:t>상세 설명 작성 기능의 경우 자막을 새로 추출해서 작성하지 않고 </a:t>
            </a:r>
            <a:r>
              <a:rPr lang="en-US" altLang="ko-KR">
                <a:latin typeface="한컴 말랑말랑 Bold"/>
                <a:ea typeface="한컴 말랑말랑 Bold"/>
              </a:rPr>
              <a:t>DB</a:t>
            </a:r>
            <a:r>
              <a:rPr lang="ko-KR" altLang="en-US">
                <a:latin typeface="한컴 말랑말랑 Bold"/>
                <a:ea typeface="한컴 말랑말랑 Bold"/>
              </a:rPr>
              <a:t>에 저장된 자막을 활용하는 형태로 구현</a:t>
            </a:r>
            <a:endParaRPr lang="ko-KR" altLang="en-US">
              <a:latin typeface="한컴 말랑말랑 Bold"/>
              <a:ea typeface="한컴 말랑말랑 Bold"/>
            </a:endParaRPr>
          </a:p>
        </p:txBody>
      </p:sp>
      <p:sp>
        <p:nvSpPr>
          <p:cNvPr id="59" name="가로 글상자 58"/>
          <p:cNvSpPr txBox="1"/>
          <p:nvPr/>
        </p:nvSpPr>
        <p:spPr>
          <a:xfrm>
            <a:off x="9601200" y="5698315"/>
            <a:ext cx="2667000" cy="640080"/>
          </a:xfrm>
          <a:prstGeom prst="rect">
            <a:avLst/>
          </a:prstGeom>
        </p:spPr>
        <p:txBody>
          <a:bodyPr wrap="square">
            <a:spAutoFit/>
          </a:bodyPr>
          <a:lstStyle/>
          <a:p>
            <a:pPr lvl="0">
              <a:defRPr/>
            </a:pPr>
            <a:r>
              <a:rPr lang="ko-KR" altLang="en-US">
                <a:latin typeface="한컴 말랑말랑 Bold"/>
                <a:ea typeface="한컴 말랑말랑 Bold"/>
              </a:rPr>
              <a:t>상세 설명 작성을 위한 </a:t>
            </a:r>
            <a:r>
              <a:rPr lang="en-US" altLang="ko-KR">
                <a:latin typeface="한컴 말랑말랑 Bold"/>
                <a:ea typeface="한컴 말랑말랑 Bold"/>
              </a:rPr>
              <a:t>LLM</a:t>
            </a:r>
            <a:r>
              <a:rPr lang="ko-KR" altLang="en-US">
                <a:latin typeface="한컴 말랑말랑 Bold"/>
                <a:ea typeface="한컴 말랑말랑 Bold"/>
              </a:rPr>
              <a:t>활용 함수</a:t>
            </a:r>
            <a:endParaRPr lang="ko-KR" altLang="en-US">
              <a:latin typeface="한컴 말랑말랑 Bold"/>
              <a:ea typeface="한컴 말랑말랑 Bold"/>
            </a:endParaRPr>
          </a:p>
        </p:txBody>
      </p:sp>
      <p:pic>
        <p:nvPicPr>
          <p:cNvPr id="63" name="그림 62"/>
          <p:cNvPicPr>
            <a:picLocks noChangeAspect="1"/>
          </p:cNvPicPr>
          <p:nvPr/>
        </p:nvPicPr>
        <p:blipFill rotWithShape="1">
          <a:blip r:embed="rId4"/>
          <a:stretch>
            <a:fillRect/>
          </a:stretch>
        </p:blipFill>
        <p:spPr>
          <a:xfrm>
            <a:off x="3390023" y="1742090"/>
            <a:ext cx="6287377" cy="7059010"/>
          </a:xfrm>
          <a:prstGeom prst="rect">
            <a:avLst/>
          </a:prstGeom>
        </p:spPr>
      </p:pic>
      <p:cxnSp>
        <p:nvCxnSpPr>
          <p:cNvPr id="64" name="꺾인 연결선 63"/>
          <p:cNvCxnSpPr>
            <a:endCxn id="43" idx="1"/>
          </p:cNvCxnSpPr>
          <p:nvPr/>
        </p:nvCxnSpPr>
        <p:spPr>
          <a:xfrm flipV="1">
            <a:off x="7620000" y="2762710"/>
            <a:ext cx="2514600" cy="1365885"/>
          </a:xfrm>
          <a:prstGeom prst="bentConnector3">
            <a:avLst>
              <a:gd name="adj1" fmla="val 50000"/>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cxnSp>
        <p:nvCxnSpPr>
          <p:cNvPr id="55" name="화살표 54"/>
          <p:cNvCxnSpPr/>
          <p:nvPr/>
        </p:nvCxnSpPr>
        <p:spPr>
          <a:xfrm>
            <a:off x="7467600" y="6033595"/>
            <a:ext cx="2133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5" name="가로 글상자 44"/>
          <p:cNvSpPr txBox="1"/>
          <p:nvPr/>
        </p:nvSpPr>
        <p:spPr>
          <a:xfrm>
            <a:off x="9448800" y="6921325"/>
            <a:ext cx="3276600" cy="636270"/>
          </a:xfrm>
          <a:prstGeom prst="rect">
            <a:avLst/>
          </a:prstGeom>
        </p:spPr>
        <p:txBody>
          <a:bodyPr wrap="square">
            <a:spAutoFit/>
          </a:bodyPr>
          <a:lstStyle/>
          <a:p>
            <a:pPr lvl="0">
              <a:defRPr/>
            </a:pPr>
            <a:r>
              <a:rPr lang="ko-KR" altLang="en-US">
                <a:latin typeface="한컴 말랑말랑 Bold"/>
                <a:ea typeface="한컴 말랑말랑 Bold"/>
              </a:rPr>
              <a:t>토큰등의 제한의 이유로 미완성된 마지막 문장 삭제</a:t>
            </a:r>
            <a:endParaRPr lang="ko-KR" altLang="en-US">
              <a:latin typeface="한컴 말랑말랑 Bold"/>
              <a:ea typeface="한컴 말랑말랑 Bold"/>
            </a:endParaRPr>
          </a:p>
        </p:txBody>
      </p:sp>
      <p:cxnSp>
        <p:nvCxnSpPr>
          <p:cNvPr id="46" name="화살표 45"/>
          <p:cNvCxnSpPr/>
          <p:nvPr/>
        </p:nvCxnSpPr>
        <p:spPr>
          <a:xfrm>
            <a:off x="8763000" y="7252795"/>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65" name="가로 글상자 64"/>
          <p:cNvSpPr txBox="1"/>
          <p:nvPr/>
        </p:nvSpPr>
        <p:spPr>
          <a:xfrm>
            <a:off x="9753600" y="8014795"/>
            <a:ext cx="3276600" cy="360045"/>
          </a:xfrm>
          <a:prstGeom prst="rect">
            <a:avLst/>
          </a:prstGeom>
        </p:spPr>
        <p:txBody>
          <a:bodyPr wrap="square">
            <a:spAutoFit/>
          </a:bodyPr>
          <a:lstStyle/>
          <a:p>
            <a:pPr lvl="0">
              <a:defRPr/>
            </a:pPr>
            <a:r>
              <a:rPr lang="en-US" altLang="ko-KR">
                <a:latin typeface="한컴 말랑말랑 Bold"/>
                <a:ea typeface="한컴 말랑말랑 Bold"/>
              </a:rPr>
              <a:t>JSON</a:t>
            </a:r>
            <a:r>
              <a:rPr lang="ko-KR" altLang="en-US">
                <a:latin typeface="한컴 말랑말랑 Bold"/>
                <a:ea typeface="한컴 말랑말랑 Bold"/>
              </a:rPr>
              <a:t>형태로 만든후 출력</a:t>
            </a:r>
            <a:endParaRPr lang="ko-KR" altLang="en-US">
              <a:latin typeface="한컴 말랑말랑 Bold"/>
              <a:ea typeface="한컴 말랑말랑 Bold"/>
            </a:endParaRPr>
          </a:p>
        </p:txBody>
      </p:sp>
      <p:cxnSp>
        <p:nvCxnSpPr>
          <p:cNvPr id="66" name="화살표 65"/>
          <p:cNvCxnSpPr/>
          <p:nvPr/>
        </p:nvCxnSpPr>
        <p:spPr>
          <a:xfrm>
            <a:off x="9067800" y="8193865"/>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306431"/>
      </p:ext>
    </p:extLst>
  </p:cSld>
  <p:clrMapOvr>
    <a:masterClrMapping/>
  </p:clrMapOvr>
</p:sld>
</file>

<file path=ppt/slides/slide2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상세 설명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pic>
        <p:nvPicPr>
          <p:cNvPr id="58" name="그림 57"/>
          <p:cNvPicPr>
            <a:picLocks noChangeAspect="1"/>
          </p:cNvPicPr>
          <p:nvPr/>
        </p:nvPicPr>
        <p:blipFill rotWithShape="1">
          <a:blip r:embed="rId4"/>
          <a:stretch>
            <a:fillRect/>
          </a:stretch>
        </p:blipFill>
        <p:spPr>
          <a:xfrm>
            <a:off x="1447800" y="1943100"/>
            <a:ext cx="6019800" cy="4467368"/>
          </a:xfrm>
          <a:prstGeom prst="rect">
            <a:avLst/>
          </a:prstGeom>
        </p:spPr>
      </p:pic>
      <p:sp>
        <p:nvSpPr>
          <p:cNvPr id="43" name="가로 글상자 42"/>
          <p:cNvSpPr txBox="1"/>
          <p:nvPr/>
        </p:nvSpPr>
        <p:spPr>
          <a:xfrm>
            <a:off x="8077200" y="1790700"/>
            <a:ext cx="5257800" cy="1183005"/>
          </a:xfrm>
          <a:prstGeom prst="rect">
            <a:avLst/>
          </a:prstGeom>
        </p:spPr>
        <p:txBody>
          <a:bodyPr wrap="square">
            <a:spAutoFit/>
          </a:bodyPr>
          <a:lstStyle/>
          <a:p>
            <a:pPr lvl="0">
              <a:defRPr/>
            </a:pPr>
            <a:r>
              <a:rPr lang="ko-KR" altLang="en-US">
                <a:latin typeface="한컴 말랑말랑 Bold"/>
                <a:ea typeface="한컴 말랑말랑 Bold"/>
              </a:rPr>
              <a:t>상세 설명 작성을 위한 프롬프트</a:t>
            </a:r>
            <a:r>
              <a:rPr lang="en-US" altLang="ko-KR">
                <a:latin typeface="한컴 말랑말랑 Bold"/>
                <a:ea typeface="한컴 말랑말랑 Bold"/>
              </a:rPr>
              <a:t>,</a:t>
            </a:r>
            <a:r>
              <a:rPr lang="ko-KR" altLang="en-US">
                <a:latin typeface="한컴 말랑말랑 Bold"/>
                <a:ea typeface="한컴 말랑말랑 Bold"/>
              </a:rPr>
              <a:t>  한글 영상의 경우 한글로 된 상세 설명을 출력 받기 위해 입력값의 형태도 주로 한글로 작성된 프롬프트를 작성해야 해서 한글</a:t>
            </a:r>
            <a:r>
              <a:rPr lang="en-US" altLang="ko-KR">
                <a:latin typeface="한컴 말랑말랑 Bold"/>
                <a:ea typeface="한컴 말랑말랑 Bold"/>
              </a:rPr>
              <a:t>/</a:t>
            </a:r>
            <a:r>
              <a:rPr lang="ko-KR" altLang="en-US">
                <a:latin typeface="한컴 말랑말랑 Bold"/>
                <a:ea typeface="한컴 말랑말랑 Bold"/>
              </a:rPr>
              <a:t>영어 프롬프트 개별 작성</a:t>
            </a:r>
            <a:endParaRPr lang="ko-KR" altLang="en-US">
              <a:latin typeface="한컴 말랑말랑 Bold"/>
              <a:ea typeface="한컴 말랑말랑 Bold"/>
            </a:endParaRPr>
          </a:p>
        </p:txBody>
      </p:sp>
      <p:cxnSp>
        <p:nvCxnSpPr>
          <p:cNvPr id="57" name="양방향 화살표 56"/>
          <p:cNvCxnSpPr>
            <a:endCxn id="43" idx="1"/>
          </p:cNvCxnSpPr>
          <p:nvPr/>
        </p:nvCxnSpPr>
        <p:spPr>
          <a:xfrm flipV="1">
            <a:off x="5334000" y="2382202"/>
            <a:ext cx="2743200" cy="2590800"/>
          </a:xfrm>
          <a:prstGeom prst="bentConnector3">
            <a:avLst>
              <a:gd name="adj1" fmla="val 77647"/>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sp>
        <p:nvSpPr>
          <p:cNvPr id="59" name="가로 글상자 58"/>
          <p:cNvSpPr txBox="1"/>
          <p:nvPr/>
        </p:nvSpPr>
        <p:spPr>
          <a:xfrm>
            <a:off x="5029200" y="5642610"/>
            <a:ext cx="2667000" cy="908685"/>
          </a:xfrm>
          <a:prstGeom prst="rect">
            <a:avLst/>
          </a:prstGeom>
        </p:spPr>
        <p:txBody>
          <a:bodyPr wrap="square">
            <a:spAutoFit/>
          </a:bodyPr>
          <a:lstStyle/>
          <a:p>
            <a:pPr lvl="0">
              <a:defRPr/>
            </a:pPr>
            <a:r>
              <a:rPr lang="ko-KR" altLang="en-US">
                <a:latin typeface="한컴 말랑말랑 Bold"/>
                <a:ea typeface="한컴 말랑말랑 Bold"/>
              </a:rPr>
              <a:t>자막의 주된 언어가 영어일경우 영어프롬프트 입력</a:t>
            </a:r>
            <a:endParaRPr lang="ko-KR" altLang="en-US">
              <a:latin typeface="한컴 말랑말랑 Bold"/>
              <a:ea typeface="한컴 말랑말랑 Bold"/>
            </a:endParaRPr>
          </a:p>
        </p:txBody>
      </p:sp>
      <p:cxnSp>
        <p:nvCxnSpPr>
          <p:cNvPr id="60" name="양방향 화살표 56"/>
          <p:cNvCxnSpPr>
            <a:endCxn id="59" idx="1"/>
          </p:cNvCxnSpPr>
          <p:nvPr/>
        </p:nvCxnSpPr>
        <p:spPr>
          <a:xfrm flipV="1">
            <a:off x="4191000" y="6096952"/>
            <a:ext cx="838200" cy="11334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pic>
        <p:nvPicPr>
          <p:cNvPr id="61" name="그림 60"/>
          <p:cNvPicPr>
            <a:picLocks noChangeAspect="1"/>
          </p:cNvPicPr>
          <p:nvPr/>
        </p:nvPicPr>
        <p:blipFill rotWithShape="1">
          <a:blip r:embed="rId5"/>
          <a:stretch>
            <a:fillRect/>
          </a:stretch>
        </p:blipFill>
        <p:spPr>
          <a:xfrm>
            <a:off x="8001000" y="3752220"/>
            <a:ext cx="5025708" cy="5201280"/>
          </a:xfrm>
          <a:prstGeom prst="rect">
            <a:avLst/>
          </a:prstGeom>
        </p:spPr>
      </p:pic>
      <p:sp>
        <p:nvSpPr>
          <p:cNvPr id="45" name="가로 글상자 44"/>
          <p:cNvSpPr txBox="1"/>
          <p:nvPr/>
        </p:nvSpPr>
        <p:spPr>
          <a:xfrm>
            <a:off x="14478000" y="5905500"/>
            <a:ext cx="3276600" cy="636270"/>
          </a:xfrm>
          <a:prstGeom prst="rect">
            <a:avLst/>
          </a:prstGeom>
        </p:spPr>
        <p:txBody>
          <a:bodyPr wrap="square">
            <a:spAutoFit/>
          </a:bodyPr>
          <a:lstStyle/>
          <a:p>
            <a:pPr lvl="0">
              <a:defRPr/>
            </a:pPr>
            <a:r>
              <a:rPr lang="ko-KR" altLang="en-US">
                <a:latin typeface="한컴 말랑말랑 Bold"/>
                <a:ea typeface="한컴 말랑말랑 Bold"/>
              </a:rPr>
              <a:t>토큰등의 제한의 이유로 미완성된 마지막 문장 삭제</a:t>
            </a:r>
            <a:endParaRPr lang="ko-KR" altLang="en-US">
              <a:latin typeface="한컴 말랑말랑 Bold"/>
              <a:ea typeface="한컴 말랑말랑 Bold"/>
            </a:endParaRPr>
          </a:p>
        </p:txBody>
      </p:sp>
      <p:cxnSp>
        <p:nvCxnSpPr>
          <p:cNvPr id="46" name="화살표 45"/>
          <p:cNvCxnSpPr/>
          <p:nvPr/>
        </p:nvCxnSpPr>
        <p:spPr>
          <a:xfrm>
            <a:off x="13792200" y="63627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49" name="오른쪽 대괄호 48"/>
          <p:cNvSpPr/>
          <p:nvPr/>
        </p:nvSpPr>
        <p:spPr>
          <a:xfrm>
            <a:off x="12649200" y="4838700"/>
            <a:ext cx="1143000" cy="3429000"/>
          </a:xfrm>
          <a:prstGeom prst="rightBracket">
            <a:avLst>
              <a:gd name="adj" fmla="val 0"/>
            </a:avLst>
          </a:prstGeom>
          <a:ln cap="sq">
            <a:solidFill>
              <a:srgbClr val="19319d"/>
            </a:solidFill>
            <a:miter/>
          </a:ln>
        </p:spPr>
        <p:style>
          <a:lnRef idx="1">
            <a:schemeClr val="accent1"/>
          </a:lnRef>
          <a:fillRef idx="0">
            <a:schemeClr val="accent1"/>
          </a:fillRef>
          <a:effectRef idx="0">
            <a:schemeClr val="accent1"/>
          </a:effectRef>
          <a:fontRef idx="minor">
            <a:schemeClr val="tx1"/>
          </a:fontRef>
        </p:style>
        <p:txBody>
          <a:bodyPr anchor="ctr"/>
          <a:p>
            <a:pPr lvl="0" algn="ctr">
              <a:defRPr/>
            </a:pPr>
            <a:endParaRPr lang="ko-KR" altLang="en-US">
              <a:solidFill>
                <a:schemeClr val="tx1"/>
              </a:solidFill>
            </a:endParaRPr>
          </a:p>
        </p:txBody>
      </p:sp>
    </p:spTree>
    <p:extLst>
      <p:ext uri="{BB962C8B-B14F-4D97-AF65-F5344CB8AC3E}">
        <p14:creationId xmlns:p14="http://schemas.microsoft.com/office/powerpoint/2010/main" val="2745315750"/>
      </p:ext>
    </p:extLst>
  </p:cSld>
  <p:clrMapOvr>
    <a:masterClrMapping/>
  </p:clrMapOvr>
</p:sld>
</file>

<file path=ppt/slides/slide2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(AI</a:t>
            </a:r>
            <a:r>
              <a:rPr lang="ko-KR" altLang="en-US" sz="5500" b="1">
                <a:solidFill>
                  <a:srgbClr val="19319d"/>
                </a:solidFill>
                <a:latin typeface="Black Han Sans"/>
                <a:ea typeface="Black Han Sans"/>
                <a:cs typeface="Black Han Sans"/>
                <a:sym typeface="Black Han Sans"/>
              </a:rPr>
              <a:t> 챗봇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sp>
        <p:nvSpPr>
          <p:cNvPr id="43" name="가로 글상자 42"/>
          <p:cNvSpPr txBox="1"/>
          <p:nvPr/>
        </p:nvSpPr>
        <p:spPr>
          <a:xfrm>
            <a:off x="5943599" y="2068830"/>
            <a:ext cx="5257800" cy="643890"/>
          </a:xfrm>
          <a:prstGeom prst="rect">
            <a:avLst/>
          </a:prstGeom>
        </p:spPr>
        <p:txBody>
          <a:bodyPr wrap="square">
            <a:spAutoFit/>
          </a:bodyPr>
          <a:lstStyle/>
          <a:p>
            <a:pPr lvl="0">
              <a:defRPr/>
            </a:pPr>
            <a:r>
              <a:rPr lang="en-US" altLang="ko-KR">
                <a:latin typeface="한컴 말랑말랑 Bold"/>
                <a:ea typeface="한컴 말랑말랑 Bold"/>
              </a:rPr>
              <a:t>1</a:t>
            </a:r>
            <a:r>
              <a:rPr lang="ko-KR" altLang="en-US">
                <a:latin typeface="한컴 말랑말랑 Bold"/>
                <a:ea typeface="한컴 말랑말랑 Bold"/>
              </a:rPr>
              <a:t>단계는 키워드 추출 단계로 </a:t>
            </a:r>
            <a:r>
              <a:rPr lang="en-US" altLang="ko-KR">
                <a:latin typeface="한컴 말랑말랑 Bold"/>
                <a:ea typeface="한컴 말랑말랑 Bold"/>
              </a:rPr>
              <a:t>KoNLPy</a:t>
            </a:r>
            <a:r>
              <a:rPr lang="ko-KR" altLang="en-US">
                <a:latin typeface="한컴 말랑말랑 Bold"/>
                <a:ea typeface="한컴 말랑말랑 Bold"/>
              </a:rPr>
              <a:t> 라이르러리를 활용해 질문에서 명사를 추출 리스트에 넣음</a:t>
            </a:r>
            <a:endParaRPr lang="ko-KR" altLang="en-US">
              <a:latin typeface="한컴 말랑말랑 Bold"/>
              <a:ea typeface="한컴 말랑말랑 Bold"/>
            </a:endParaRPr>
          </a:p>
        </p:txBody>
      </p:sp>
      <p:pic>
        <p:nvPicPr>
          <p:cNvPr id="62" name="그림 61"/>
          <p:cNvPicPr>
            <a:picLocks noChangeAspect="1"/>
          </p:cNvPicPr>
          <p:nvPr/>
        </p:nvPicPr>
        <p:blipFill rotWithShape="1">
          <a:blip r:embed="rId4"/>
          <a:stretch>
            <a:fillRect/>
          </a:stretch>
        </p:blipFill>
        <p:spPr>
          <a:xfrm>
            <a:off x="304799" y="1638300"/>
            <a:ext cx="5344271" cy="5277586"/>
          </a:xfrm>
          <a:prstGeom prst="rect">
            <a:avLst/>
          </a:prstGeom>
        </p:spPr>
      </p:pic>
      <p:cxnSp>
        <p:nvCxnSpPr>
          <p:cNvPr id="63" name="화살표 62"/>
          <p:cNvCxnSpPr/>
          <p:nvPr/>
        </p:nvCxnSpPr>
        <p:spPr>
          <a:xfrm>
            <a:off x="4686300" y="2400300"/>
            <a:ext cx="1219200" cy="0"/>
          </a:xfrm>
          <a:prstGeom prst="straightConnector1">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pic>
        <p:nvPicPr>
          <p:cNvPr id="64" name="그림 63"/>
          <p:cNvPicPr>
            <a:picLocks noChangeAspect="1"/>
          </p:cNvPicPr>
          <p:nvPr/>
        </p:nvPicPr>
        <p:blipFill rotWithShape="1">
          <a:blip r:embed="rId5"/>
          <a:stretch>
            <a:fillRect/>
          </a:stretch>
        </p:blipFill>
        <p:spPr>
          <a:xfrm>
            <a:off x="5638800" y="3543300"/>
            <a:ext cx="5372850" cy="5792008"/>
          </a:xfrm>
          <a:prstGeom prst="rect">
            <a:avLst/>
          </a:prstGeom>
        </p:spPr>
      </p:pic>
      <p:sp>
        <p:nvSpPr>
          <p:cNvPr id="59" name="가로 글상자 58"/>
          <p:cNvSpPr txBox="1"/>
          <p:nvPr/>
        </p:nvSpPr>
        <p:spPr>
          <a:xfrm>
            <a:off x="12268200" y="2444115"/>
            <a:ext cx="3733800" cy="641985"/>
          </a:xfrm>
          <a:prstGeom prst="rect">
            <a:avLst/>
          </a:prstGeom>
        </p:spPr>
        <p:txBody>
          <a:bodyPr wrap="square">
            <a:spAutoFit/>
          </a:bodyPr>
          <a:lstStyle/>
          <a:p>
            <a:pPr lvl="0">
              <a:defRPr/>
            </a:pPr>
            <a:r>
              <a:rPr lang="en-US" altLang="ko-KR">
                <a:latin typeface="한컴 말랑말랑 Bold"/>
                <a:ea typeface="한컴 말랑말랑 Bold"/>
              </a:rPr>
              <a:t>2</a:t>
            </a:r>
            <a:r>
              <a:rPr lang="ko-KR" altLang="en-US">
                <a:latin typeface="한컴 말랑말랑 Bold"/>
                <a:ea typeface="한컴 말랑말랑 Bold"/>
              </a:rPr>
              <a:t>단계는 추출된 키워드를 가지고 해당 영상의 자막데이터에서 출처검색</a:t>
            </a:r>
            <a:endParaRPr lang="ko-KR" altLang="en-US">
              <a:latin typeface="한컴 말랑말랑 Bold"/>
              <a:ea typeface="한컴 말랑말랑 Bold"/>
            </a:endParaRPr>
          </a:p>
        </p:txBody>
      </p:sp>
      <p:cxnSp>
        <p:nvCxnSpPr>
          <p:cNvPr id="60" name="양방향 화살표 56"/>
          <p:cNvCxnSpPr/>
          <p:nvPr/>
        </p:nvCxnSpPr>
        <p:spPr>
          <a:xfrm flipV="1">
            <a:off x="8305800" y="2781300"/>
            <a:ext cx="3810000" cy="3523298"/>
          </a:xfrm>
          <a:prstGeom prst="bentConnector3">
            <a:avLst>
              <a:gd name="adj1" fmla="val 53455"/>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pic>
        <p:nvPicPr>
          <p:cNvPr id="65" name="그림 64"/>
          <p:cNvPicPr>
            <a:picLocks noChangeAspect="1"/>
          </p:cNvPicPr>
          <p:nvPr/>
        </p:nvPicPr>
        <p:blipFill rotWithShape="1">
          <a:blip r:embed="rId6"/>
          <a:stretch>
            <a:fillRect/>
          </a:stretch>
        </p:blipFill>
        <p:spPr>
          <a:xfrm>
            <a:off x="11057792" y="4305300"/>
            <a:ext cx="5249007" cy="4829849"/>
          </a:xfrm>
          <a:prstGeom prst="rect">
            <a:avLst/>
          </a:prstGeom>
        </p:spPr>
      </p:pic>
      <p:sp>
        <p:nvSpPr>
          <p:cNvPr id="45" name="가로 글상자 44"/>
          <p:cNvSpPr txBox="1"/>
          <p:nvPr/>
        </p:nvSpPr>
        <p:spPr>
          <a:xfrm>
            <a:off x="15011399" y="3848100"/>
            <a:ext cx="3276601" cy="636270"/>
          </a:xfrm>
          <a:prstGeom prst="rect">
            <a:avLst/>
          </a:prstGeom>
        </p:spPr>
        <p:txBody>
          <a:bodyPr wrap="square">
            <a:spAutoFit/>
          </a:bodyPr>
          <a:lstStyle/>
          <a:p>
            <a:pPr lvl="0">
              <a:defRPr/>
            </a:pPr>
            <a:r>
              <a:rPr lang="en-US" altLang="ko-KR">
                <a:latin typeface="한컴 말랑말랑 Bold"/>
                <a:ea typeface="한컴 말랑말랑 Bold"/>
              </a:rPr>
              <a:t>3</a:t>
            </a:r>
            <a:r>
              <a:rPr lang="ko-KR" altLang="en-US">
                <a:latin typeface="한컴 말랑말랑 Bold"/>
                <a:ea typeface="한컴 말랑말랑 Bold"/>
              </a:rPr>
              <a:t>단계는 추출된 키워드를 외부에서 독립적으로 개별 검색후 정보 반환</a:t>
            </a:r>
            <a:endParaRPr lang="ko-KR" altLang="en-US">
              <a:latin typeface="한컴 말랑말랑 Bold"/>
              <a:ea typeface="한컴 말랑말랑 Bold"/>
            </a:endParaRPr>
          </a:p>
        </p:txBody>
      </p:sp>
      <p:cxnSp>
        <p:nvCxnSpPr>
          <p:cNvPr id="66" name="양방향 화살표 56"/>
          <p:cNvCxnSpPr/>
          <p:nvPr/>
        </p:nvCxnSpPr>
        <p:spPr>
          <a:xfrm flipV="1">
            <a:off x="13563600" y="4134802"/>
            <a:ext cx="1295399" cy="703898"/>
          </a:xfrm>
          <a:prstGeom prst="bentConnector3">
            <a:avLst>
              <a:gd name="adj1" fmla="val 1358"/>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768254"/>
      </p:ext>
    </p:extLst>
  </p:cSld>
  <p:clrMapOvr>
    <a:masterClrMapping/>
  </p:clrMapOvr>
</p:sld>
</file>

<file path=ppt/slides/slide2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(AI</a:t>
            </a:r>
            <a:r>
              <a:rPr lang="ko-KR" altLang="en-US" sz="5500" b="1">
                <a:solidFill>
                  <a:srgbClr val="19319d"/>
                </a:solidFill>
                <a:latin typeface="Black Han Sans"/>
                <a:ea typeface="Black Han Sans"/>
                <a:cs typeface="Black Han Sans"/>
                <a:sym typeface="Black Han Sans"/>
              </a:rPr>
              <a:t> 챗봇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cxnSp>
        <p:nvCxnSpPr>
          <p:cNvPr id="60" name="양방향 화살표 56"/>
          <p:cNvCxnSpPr>
            <a:endCxn id="43" idx="1"/>
          </p:cNvCxnSpPr>
          <p:nvPr/>
        </p:nvCxnSpPr>
        <p:spPr>
          <a:xfrm rot="16200000" flipH="1">
            <a:off x="1103948" y="6479858"/>
            <a:ext cx="916305" cy="838198"/>
          </a:xfrm>
          <a:prstGeom prst="bentConnector2">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pic>
        <p:nvPicPr>
          <p:cNvPr id="67" name="그림 66"/>
          <p:cNvPicPr>
            <a:picLocks noChangeAspect="1"/>
          </p:cNvPicPr>
          <p:nvPr/>
        </p:nvPicPr>
        <p:blipFill rotWithShape="1">
          <a:blip r:embed="rId4"/>
          <a:stretch>
            <a:fillRect/>
          </a:stretch>
        </p:blipFill>
        <p:spPr>
          <a:xfrm>
            <a:off x="237436" y="2097405"/>
            <a:ext cx="4944164" cy="4248743"/>
          </a:xfrm>
          <a:prstGeom prst="rect">
            <a:avLst/>
          </a:prstGeom>
        </p:spPr>
      </p:pic>
      <p:pic>
        <p:nvPicPr>
          <p:cNvPr id="68" name="그림 67"/>
          <p:cNvPicPr>
            <a:picLocks noChangeAspect="1"/>
          </p:cNvPicPr>
          <p:nvPr/>
        </p:nvPicPr>
        <p:blipFill rotWithShape="1">
          <a:blip r:embed="rId5"/>
          <a:stretch>
            <a:fillRect/>
          </a:stretch>
        </p:blipFill>
        <p:spPr>
          <a:xfrm>
            <a:off x="5914320" y="2161599"/>
            <a:ext cx="5058480" cy="4124901"/>
          </a:xfrm>
          <a:prstGeom prst="rect">
            <a:avLst/>
          </a:prstGeom>
        </p:spPr>
      </p:pic>
      <p:sp>
        <p:nvSpPr>
          <p:cNvPr id="43" name="가로 글상자 42"/>
          <p:cNvSpPr txBox="1"/>
          <p:nvPr/>
        </p:nvSpPr>
        <p:spPr>
          <a:xfrm>
            <a:off x="1981200" y="6903720"/>
            <a:ext cx="4191000" cy="906780"/>
          </a:xfrm>
          <a:prstGeom prst="rect">
            <a:avLst/>
          </a:prstGeom>
        </p:spPr>
        <p:txBody>
          <a:bodyPr wrap="square">
            <a:spAutoFit/>
          </a:bodyPr>
          <a:lstStyle/>
          <a:p>
            <a:pPr lvl="0">
              <a:defRPr/>
            </a:pPr>
            <a:r>
              <a:rPr lang="ko-KR" altLang="en-US">
                <a:latin typeface="한컴 말랑말랑 Bold"/>
                <a:ea typeface="한컴 말랑말랑 Bold"/>
              </a:rPr>
              <a:t>영상 자막 기반 </a:t>
            </a:r>
            <a:r>
              <a:rPr lang="en-US" altLang="ko-KR">
                <a:latin typeface="한컴 말랑말랑 Bold"/>
                <a:ea typeface="한컴 말랑말랑 Bold"/>
              </a:rPr>
              <a:t>RAG </a:t>
            </a:r>
            <a:r>
              <a:rPr lang="ko-KR" altLang="en-US">
                <a:latin typeface="한컴 말랑말랑 Bold"/>
                <a:ea typeface="한컴 말랑말랑 Bold"/>
              </a:rPr>
              <a:t>클래스 임베더 모델로는 sentence-transformers/all-MiniLM-L6-v2 활용</a:t>
            </a:r>
            <a:endParaRPr lang="ko-KR" altLang="en-US">
              <a:latin typeface="한컴 말랑말랑 Bold"/>
              <a:ea typeface="한컴 말랑말랑 Bold"/>
            </a:endParaRPr>
          </a:p>
        </p:txBody>
      </p:sp>
      <p:cxnSp>
        <p:nvCxnSpPr>
          <p:cNvPr id="69" name="양방향 화살표 56"/>
          <p:cNvCxnSpPr>
            <a:endCxn id="70" idx="1"/>
          </p:cNvCxnSpPr>
          <p:nvPr/>
        </p:nvCxnSpPr>
        <p:spPr>
          <a:xfrm rot="16200000" flipH="1">
            <a:off x="6377941" y="6463666"/>
            <a:ext cx="883920" cy="838198"/>
          </a:xfrm>
          <a:prstGeom prst="bentConnector2">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sp>
        <p:nvSpPr>
          <p:cNvPr id="70" name="가로 글상자 69"/>
          <p:cNvSpPr txBox="1"/>
          <p:nvPr/>
        </p:nvSpPr>
        <p:spPr>
          <a:xfrm>
            <a:off x="7239000" y="7143750"/>
            <a:ext cx="4191000" cy="361949"/>
          </a:xfrm>
          <a:prstGeom prst="rect">
            <a:avLst/>
          </a:prstGeom>
        </p:spPr>
        <p:txBody>
          <a:bodyPr wrap="square">
            <a:spAutoFit/>
          </a:bodyPr>
          <a:lstStyle/>
          <a:p>
            <a:pPr lvl="0">
              <a:defRPr/>
            </a:pPr>
            <a:r>
              <a:rPr lang="ko-KR" altLang="en-US">
                <a:latin typeface="한컴 말랑말랑 Bold"/>
                <a:ea typeface="한컴 말랑말랑 Bold"/>
              </a:rPr>
              <a:t>영상 자막을 벡터형태의 데이터로 변환</a:t>
            </a:r>
            <a:endParaRPr lang="ko-KR" altLang="en-US">
              <a:latin typeface="한컴 말랑말랑 Bold"/>
              <a:ea typeface="한컴 말랑말랑 Bold"/>
            </a:endParaRPr>
          </a:p>
        </p:txBody>
      </p:sp>
      <p:pic>
        <p:nvPicPr>
          <p:cNvPr id="71" name="그림 70"/>
          <p:cNvPicPr>
            <a:picLocks noChangeAspect="1"/>
          </p:cNvPicPr>
          <p:nvPr/>
        </p:nvPicPr>
        <p:blipFill rotWithShape="1">
          <a:blip r:embed="rId6"/>
          <a:stretch>
            <a:fillRect/>
          </a:stretch>
        </p:blipFill>
        <p:spPr>
          <a:xfrm>
            <a:off x="11506200" y="1246838"/>
            <a:ext cx="5372850" cy="6716062"/>
          </a:xfrm>
          <a:prstGeom prst="rect">
            <a:avLst/>
          </a:prstGeom>
        </p:spPr>
      </p:pic>
      <p:cxnSp>
        <p:nvCxnSpPr>
          <p:cNvPr id="72" name="양방향 화살표 56"/>
          <p:cNvCxnSpPr>
            <a:endCxn id="73" idx="1"/>
          </p:cNvCxnSpPr>
          <p:nvPr/>
        </p:nvCxnSpPr>
        <p:spPr>
          <a:xfrm rot="16200000" flipH="1">
            <a:off x="11837667" y="8223884"/>
            <a:ext cx="937262" cy="838200"/>
          </a:xfrm>
          <a:prstGeom prst="bentConnector2">
            <a:avLst/>
          </a:prstGeom>
          <a:ln>
            <a:solidFill>
              <a:schemeClr val="dk2"/>
            </a:solidFill>
            <a:tailEnd type="arrow"/>
          </a:ln>
        </p:spPr>
        <p:style>
          <a:lnRef idx="1">
            <a:schemeClr val="accent1"/>
          </a:lnRef>
          <a:fillRef idx="0">
            <a:schemeClr val="accent1"/>
          </a:fillRef>
          <a:effectRef idx="0">
            <a:schemeClr val="accent1"/>
          </a:effectRef>
          <a:fontRef idx="minor">
            <a:schemeClr val="tx1"/>
          </a:fontRef>
        </p:style>
      </p:cxnSp>
      <p:sp>
        <p:nvSpPr>
          <p:cNvPr id="73" name="가로 글상자 72"/>
          <p:cNvSpPr txBox="1"/>
          <p:nvPr/>
        </p:nvSpPr>
        <p:spPr>
          <a:xfrm>
            <a:off x="12725398" y="8660130"/>
            <a:ext cx="4191002" cy="902970"/>
          </a:xfrm>
          <a:prstGeom prst="rect">
            <a:avLst/>
          </a:prstGeom>
        </p:spPr>
        <p:txBody>
          <a:bodyPr wrap="square">
            <a:spAutoFit/>
          </a:bodyPr>
          <a:lstStyle/>
          <a:p>
            <a:pPr lvl="0">
              <a:defRPr/>
            </a:pPr>
            <a:r>
              <a:rPr lang="ko-KR" altLang="en-US">
                <a:latin typeface="한컴 말랑말랑 Bold"/>
                <a:ea typeface="한컴 말랑말랑 Bold"/>
              </a:rPr>
              <a:t>키워드들 또한 벡터형태의 데이터로 변환후 자막벡터와 </a:t>
            </a:r>
            <a:r>
              <a:rPr lang="en-US" altLang="ko-KR">
                <a:latin typeface="한컴 말랑말랑 Bold"/>
                <a:ea typeface="한컴 말랑말랑 Bold"/>
              </a:rPr>
              <a:t>L2</a:t>
            </a:r>
            <a:r>
              <a:rPr lang="ko-KR" altLang="en-US">
                <a:latin typeface="한컴 말랑말랑 Bold"/>
                <a:ea typeface="한컴 말랑말랑 Bold"/>
              </a:rPr>
              <a:t>거리를 계산하여 거리가 짧은 자막에 대해 출력</a:t>
            </a:r>
            <a:endParaRPr lang="ko-KR" altLang="en-US">
              <a:latin typeface="한컴 말랑말랑 Bold"/>
              <a:ea typeface="한컴 말랑말랑 Bold"/>
            </a:endParaRPr>
          </a:p>
        </p:txBody>
      </p:sp>
    </p:spTree>
    <p:extLst>
      <p:ext uri="{BB962C8B-B14F-4D97-AF65-F5344CB8AC3E}">
        <p14:creationId xmlns:p14="http://schemas.microsoft.com/office/powerpoint/2010/main" val="4124378221"/>
      </p:ext>
    </p:extLst>
  </p:cSld>
  <p:clrMapOvr>
    <a:masterClrMapping/>
  </p:clrMapOvr>
</p:sld>
</file>

<file path=ppt/slides/slide2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53924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주요 서비스 기능 및 소스코드</a:t>
            </a:r>
            <a:r>
              <a:rPr lang="en-US" altLang="ko-KR" sz="5500" b="1">
                <a:solidFill>
                  <a:srgbClr val="19319d"/>
                </a:solidFill>
                <a:latin typeface="Black Han Sans"/>
                <a:ea typeface="Black Han Sans"/>
                <a:cs typeface="Black Han Sans"/>
                <a:sym typeface="Black Han Sans"/>
              </a:rPr>
              <a:t>(</a:t>
            </a:r>
            <a:r>
              <a:rPr lang="ko-KR" altLang="en-US" sz="5500" b="1">
                <a:solidFill>
                  <a:srgbClr val="19319d"/>
                </a:solidFill>
                <a:latin typeface="Black Han Sans"/>
                <a:ea typeface="Black Han Sans"/>
                <a:cs typeface="Black Han Sans"/>
                <a:sym typeface="Black Han Sans"/>
              </a:rPr>
              <a:t>집중도 측정 기능</a:t>
            </a:r>
            <a:r>
              <a:rPr lang="en-US" altLang="ko-KR" sz="5500" b="1">
                <a:solidFill>
                  <a:srgbClr val="19319d"/>
                </a:solidFill>
                <a:latin typeface="Black Han Sans"/>
                <a:ea typeface="Black Han Sans"/>
                <a:cs typeface="Black Han Sans"/>
                <a:sym typeface="Black Han Sans"/>
              </a:rPr>
              <a:t>)</a:t>
            </a:r>
            <a:endParaRPr lang="en-US" altLang="ko-KR" sz="5500" b="1">
              <a:solidFill>
                <a:srgbClr val="19319d"/>
              </a:solidFill>
              <a:latin typeface="Black Han Sans"/>
              <a:ea typeface="Black Han Sans"/>
              <a:cs typeface="Black Han Sans"/>
              <a:sym typeface="Black Han Sans"/>
            </a:endParaRPr>
          </a:p>
        </p:txBody>
      </p:sp>
      <p:sp>
        <p:nvSpPr>
          <p:cNvPr id="43" name="가로 글상자 42"/>
          <p:cNvSpPr txBox="1"/>
          <p:nvPr/>
        </p:nvSpPr>
        <p:spPr>
          <a:xfrm>
            <a:off x="6172200" y="2933700"/>
            <a:ext cx="4191000" cy="638175"/>
          </a:xfrm>
          <a:prstGeom prst="rect">
            <a:avLst/>
          </a:prstGeom>
        </p:spPr>
        <p:txBody>
          <a:bodyPr wrap="square">
            <a:spAutoFit/>
          </a:bodyPr>
          <a:lstStyle/>
          <a:p>
            <a:pPr lvl="0">
              <a:defRPr/>
            </a:pPr>
            <a:r>
              <a:rPr lang="ko-KR" altLang="en-US">
                <a:latin typeface="한컴 말랑말랑 Bold"/>
                <a:ea typeface="한컴 말랑말랑 Bold"/>
              </a:rPr>
              <a:t>MediaPipe FaceMesh 라이브러리 옵션 설정</a:t>
            </a:r>
            <a:endParaRPr lang="ko-KR" altLang="en-US">
              <a:latin typeface="한컴 말랑말랑 Bold"/>
              <a:ea typeface="한컴 말랑말랑 Bold"/>
            </a:endParaRPr>
          </a:p>
        </p:txBody>
      </p:sp>
      <p:sp>
        <p:nvSpPr>
          <p:cNvPr id="73" name="가로 글상자 72"/>
          <p:cNvSpPr txBox="1"/>
          <p:nvPr/>
        </p:nvSpPr>
        <p:spPr>
          <a:xfrm>
            <a:off x="12496798" y="7277100"/>
            <a:ext cx="4191002" cy="636270"/>
          </a:xfrm>
          <a:prstGeom prst="rect">
            <a:avLst/>
          </a:prstGeom>
        </p:spPr>
        <p:txBody>
          <a:bodyPr wrap="square">
            <a:spAutoFit/>
          </a:bodyPr>
          <a:lstStyle/>
          <a:p>
            <a:pPr lvl="0">
              <a:defRPr/>
            </a:pPr>
            <a:r>
              <a:rPr lang="ko-KR" altLang="en-US">
                <a:latin typeface="한컴 말랑말랑 Bold"/>
                <a:ea typeface="한컴 말랑말랑 Bold"/>
              </a:rPr>
              <a:t>코끝과 왼쪽</a:t>
            </a:r>
            <a:r>
              <a:rPr lang="en-US" altLang="ko-KR">
                <a:latin typeface="한컴 말랑말랑 Bold"/>
                <a:ea typeface="한컴 말랑말랑 Bold"/>
              </a:rPr>
              <a:t>,</a:t>
            </a:r>
            <a:r>
              <a:rPr lang="ko-KR" altLang="en-US">
                <a:latin typeface="한컴 말랑말랑 Bold"/>
                <a:ea typeface="한컴 말랑말랑 Bold"/>
              </a:rPr>
              <a:t> 오른쪽 눈을 통해 시선이 화면에 집중되는지 여부 판단</a:t>
            </a:r>
            <a:endParaRPr lang="ko-KR" altLang="en-US">
              <a:latin typeface="한컴 말랑말랑 Bold"/>
              <a:ea typeface="한컴 말랑말랑 Bold"/>
            </a:endParaRPr>
          </a:p>
        </p:txBody>
      </p:sp>
      <p:pic>
        <p:nvPicPr>
          <p:cNvPr id="74" name="그림 73"/>
          <p:cNvPicPr>
            <a:picLocks noChangeAspect="1"/>
          </p:cNvPicPr>
          <p:nvPr/>
        </p:nvPicPr>
        <p:blipFill rotWithShape="1">
          <a:blip r:embed="rId4"/>
          <a:stretch>
            <a:fillRect/>
          </a:stretch>
        </p:blipFill>
        <p:spPr>
          <a:xfrm>
            <a:off x="457200" y="1447103"/>
            <a:ext cx="5201376" cy="4991796"/>
          </a:xfrm>
          <a:prstGeom prst="rect">
            <a:avLst/>
          </a:prstGeom>
        </p:spPr>
      </p:pic>
      <p:cxnSp>
        <p:nvCxnSpPr>
          <p:cNvPr id="75" name="화살표 74"/>
          <p:cNvCxnSpPr/>
          <p:nvPr/>
        </p:nvCxnSpPr>
        <p:spPr>
          <a:xfrm>
            <a:off x="5486400" y="32385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pic>
        <p:nvPicPr>
          <p:cNvPr id="76" name="그림 75"/>
          <p:cNvPicPr>
            <a:picLocks noChangeAspect="1"/>
          </p:cNvPicPr>
          <p:nvPr/>
        </p:nvPicPr>
        <p:blipFill rotWithShape="1">
          <a:blip r:embed="rId5"/>
          <a:stretch>
            <a:fillRect/>
          </a:stretch>
        </p:blipFill>
        <p:spPr>
          <a:xfrm>
            <a:off x="5562600" y="4457700"/>
            <a:ext cx="6030166" cy="4658375"/>
          </a:xfrm>
          <a:prstGeom prst="rect">
            <a:avLst/>
          </a:prstGeom>
        </p:spPr>
      </p:pic>
      <p:sp>
        <p:nvSpPr>
          <p:cNvPr id="70" name="가로 글상자 69"/>
          <p:cNvSpPr txBox="1"/>
          <p:nvPr/>
        </p:nvSpPr>
        <p:spPr>
          <a:xfrm>
            <a:off x="11811000" y="4962525"/>
            <a:ext cx="4191000" cy="361949"/>
          </a:xfrm>
          <a:prstGeom prst="rect">
            <a:avLst/>
          </a:prstGeom>
        </p:spPr>
        <p:txBody>
          <a:bodyPr wrap="square">
            <a:spAutoFit/>
          </a:bodyPr>
          <a:lstStyle/>
          <a:p>
            <a:pPr lvl="0">
              <a:defRPr/>
            </a:pPr>
            <a:r>
              <a:rPr lang="ko-KR" altLang="en-US">
                <a:latin typeface="한컴 말랑말랑 Bold"/>
                <a:ea typeface="한컴 말랑말랑 Bold"/>
              </a:rPr>
              <a:t>얼굴 미감지시 화면에서 벗어났다고 판단</a:t>
            </a:r>
            <a:endParaRPr lang="ko-KR" altLang="en-US">
              <a:latin typeface="한컴 말랑말랑 Bold"/>
              <a:ea typeface="한컴 말랑말랑 Bold"/>
            </a:endParaRPr>
          </a:p>
        </p:txBody>
      </p:sp>
      <p:cxnSp>
        <p:nvCxnSpPr>
          <p:cNvPr id="77" name="화살표 76"/>
          <p:cNvCxnSpPr/>
          <p:nvPr/>
        </p:nvCxnSpPr>
        <p:spPr>
          <a:xfrm>
            <a:off x="10058400" y="5143500"/>
            <a:ext cx="16002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cxnSp>
        <p:nvCxnSpPr>
          <p:cNvPr id="78" name="화살표 77"/>
          <p:cNvCxnSpPr/>
          <p:nvPr/>
        </p:nvCxnSpPr>
        <p:spPr>
          <a:xfrm>
            <a:off x="11734800" y="7658100"/>
            <a:ext cx="609600" cy="0"/>
          </a:xfrm>
          <a:prstGeom prst="straightConnector1">
            <a:avLst/>
          </a:prstGeom>
          <a:ln>
            <a:solidFill>
              <a:srgbClr val="19319d"/>
            </a:solidFill>
            <a:tailEnd type="arrow"/>
          </a:ln>
        </p:spPr>
        <p:style>
          <a:lnRef idx="1">
            <a:schemeClr val="accent1"/>
          </a:lnRef>
          <a:fillRef idx="0">
            <a:schemeClr val="accent1"/>
          </a:fillRef>
          <a:effectRef idx="0">
            <a:schemeClr val="accent1"/>
          </a:effectRef>
          <a:fontRef idx="minor">
            <a:schemeClr val="tx1"/>
          </a:fontRef>
        </p:style>
      </p:cxnSp>
      <p:sp>
        <p:nvSpPr>
          <p:cNvPr id="79" name="오른쪽 대괄호 78"/>
          <p:cNvSpPr/>
          <p:nvPr/>
        </p:nvSpPr>
        <p:spPr>
          <a:xfrm>
            <a:off x="10591800" y="6438900"/>
            <a:ext cx="1143000" cy="2590800"/>
          </a:xfrm>
          <a:prstGeom prst="rightBracket">
            <a:avLst>
              <a:gd name="adj" fmla="val 0"/>
            </a:avLst>
          </a:prstGeom>
          <a:ln cap="sq">
            <a:solidFill>
              <a:srgbClr val="19319d"/>
            </a:solidFill>
            <a:miter/>
          </a:ln>
        </p:spPr>
        <p:style>
          <a:lnRef idx="1">
            <a:schemeClr val="accent1"/>
          </a:lnRef>
          <a:fillRef idx="0">
            <a:schemeClr val="accent1"/>
          </a:fillRef>
          <a:effectRef idx="0">
            <a:schemeClr val="accent1"/>
          </a:effectRef>
          <a:fontRef idx="minor">
            <a:schemeClr val="tx1"/>
          </a:fontRef>
        </p:style>
        <p:txBody>
          <a:bodyPr anchor="ctr"/>
          <a:lstStyle/>
          <a:p>
            <a:pPr lvl="0" algn="ctr">
              <a:defRPr/>
            </a:pPr>
            <a:endParaRPr lang="ko-KR" altLang="en-US">
              <a:solidFill>
                <a:schemeClr val="tx1"/>
              </a:solidFill>
            </a:endParaRPr>
          </a:p>
        </p:txBody>
      </p:sp>
      <p:sp>
        <p:nvSpPr>
          <p:cNvPr id="80" name="가로 글상자 79"/>
          <p:cNvSpPr txBox="1"/>
          <p:nvPr/>
        </p:nvSpPr>
        <p:spPr>
          <a:xfrm>
            <a:off x="12192000" y="1790700"/>
            <a:ext cx="5486400" cy="2827020"/>
          </a:xfrm>
          <a:prstGeom prst="rect">
            <a:avLst/>
          </a:prstGeom>
        </p:spPr>
        <p:txBody>
          <a:bodyPr wrap="square">
            <a:spAutoFit/>
          </a:bodyPr>
          <a:lstStyle/>
          <a:p>
            <a:pPr lvl="0">
              <a:defRPr/>
            </a:pPr>
            <a:r>
              <a:rPr lang="ko-KR" altLang="en-US">
                <a:latin typeface="한컴 말랑말랑 Bold"/>
                <a:ea typeface="한컴 말랑말랑 Bold"/>
              </a:rPr>
              <a:t>집중도는 챕터 단위로 측정되며, 시선 고정 시청 시간 / 구간 전체 시간으로 계산됩니다. 사용자가 챕터를 시청하는 동안 MediaPipe는 초당 여러 프레임을 분석하여 얼굴이 화면을 향하고 있는지 실시간으로 감지합니다.</a:t>
            </a:r>
            <a:endParaRPr lang="ko-KR" altLang="en-US">
              <a:latin typeface="한컴 말랑말랑 Bold"/>
              <a:ea typeface="한컴 말랑말랑 Bold"/>
            </a:endParaRPr>
          </a:p>
          <a:p>
            <a:pPr lvl="0">
              <a:defRPr/>
            </a:pPr>
            <a:endParaRPr lang="ko-KR" altLang="en-US">
              <a:latin typeface="한컴 말랑말랑 Bold"/>
              <a:ea typeface="한컴 말랑말랑 Bold"/>
            </a:endParaRPr>
          </a:p>
          <a:p>
            <a:pPr lvl="0">
              <a:defRPr/>
            </a:pPr>
            <a:r>
              <a:rPr lang="ko-KR" altLang="en-US">
                <a:latin typeface="한컴 말랑말랑 Bold"/>
                <a:ea typeface="한컴 말랑말랑 Bold"/>
              </a:rPr>
              <a:t>측정된 집중도는 Spring Boot 백엔드로 전송되어 데이터베이스에 저장되며, 같은 챕터를 여러 번 시청한 경우 가장 높은 집중도만 유지됩니다. 또한 시스템은 챕터별 평균 집중도를 자동으로 계산하여 관리자가 학습 콘텐츠의 효과를 분석할 수 있도록 지원</a:t>
            </a:r>
            <a:endParaRPr lang="ko-KR" altLang="en-US">
              <a:latin typeface="한컴 말랑말랑 Bold"/>
              <a:ea typeface="한컴 말랑말랑 Bold"/>
            </a:endParaRPr>
          </a:p>
        </p:txBody>
      </p:sp>
    </p:spTree>
    <p:extLst>
      <p:ext uri="{BB962C8B-B14F-4D97-AF65-F5344CB8AC3E}">
        <p14:creationId xmlns:p14="http://schemas.microsoft.com/office/powerpoint/2010/main" val="2183671697"/>
      </p:ext>
    </p:extLst>
  </p:cSld>
  <p:clrMapOvr>
    <a:masterClrMapping/>
  </p:clrMapOvr>
</p:sld>
</file>

<file path=ppt/slides/slide2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소프트웨어 아키테쳐</a:t>
            </a:r>
            <a:endParaRPr lang="ko-KR" altLang="en-US" sz="5500" b="1">
              <a:solidFill>
                <a:srgbClr val="19319d"/>
              </a:solidFill>
              <a:latin typeface="Black Han Sans"/>
              <a:ea typeface="Black Han Sans"/>
              <a:cs typeface="Black Han Sans"/>
              <a:sym typeface="Black Han Sans"/>
            </a:endParaRPr>
          </a:p>
        </p:txBody>
      </p:sp>
      <p:pic>
        <p:nvPicPr>
          <p:cNvPr id="43" name="그림 42"/>
          <p:cNvPicPr>
            <a:picLocks noChangeAspect="1"/>
          </p:cNvPicPr>
          <p:nvPr/>
        </p:nvPicPr>
        <p:blipFill rotWithShape="1">
          <a:blip r:embed="rId4"/>
          <a:stretch>
            <a:fillRect/>
          </a:stretch>
        </p:blipFill>
        <p:spPr>
          <a:xfrm>
            <a:off x="6245843" y="1257300"/>
            <a:ext cx="5796314" cy="8842391"/>
          </a:xfrm>
          <a:prstGeom prst="rect">
            <a:avLst/>
          </a:prstGeom>
        </p:spPr>
      </p:pic>
    </p:spTree>
    <p:extLst>
      <p:ext uri="{BB962C8B-B14F-4D97-AF65-F5344CB8AC3E}">
        <p14:creationId xmlns:p14="http://schemas.microsoft.com/office/powerpoint/2010/main" val="3210449816"/>
      </p:ext>
    </p:extLst>
  </p:cSld>
  <p:clrMapOvr>
    <a:masterClrMapping/>
  </p:clrMapOvr>
</p:sld>
</file>

<file path=ppt/slides/slide2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향후 개발 계획</a:t>
            </a:r>
            <a:endParaRPr lang="ko-KR" altLang="en-US" sz="5500" b="1">
              <a:solidFill>
                <a:srgbClr val="19319d"/>
              </a:solidFill>
              <a:latin typeface="Black Han Sans"/>
              <a:ea typeface="Black Han Sans"/>
              <a:cs typeface="Black Han Sans"/>
              <a:sym typeface="Black Han Sans"/>
            </a:endParaRPr>
          </a:p>
        </p:txBody>
      </p:sp>
      <p:grpSp>
        <p:nvGrpSpPr>
          <p:cNvPr id="43" name="Group 10"/>
          <p:cNvGrpSpPr/>
          <p:nvPr/>
        </p:nvGrpSpPr>
        <p:grpSpPr>
          <a:xfrm rot="0">
            <a:off x="11255023" y="2400300"/>
            <a:ext cx="3356337" cy="5919768"/>
            <a:chOff x="0" y="0"/>
            <a:chExt cx="401558" cy="708251"/>
          </a:xfrm>
        </p:grpSpPr>
        <p:sp>
          <p:nvSpPr>
            <p:cNvPr id="44" name="Freeform 11"/>
            <p:cNvSpPr/>
            <p:nvPr/>
          </p:nvSpPr>
          <p:spPr>
            <a:xfrm>
              <a:off x="0" y="0"/>
              <a:ext cx="401558" cy="708251"/>
            </a:xfrm>
            <a:custGeom>
              <a:avLst/>
              <a:gdLst/>
              <a:rect l="l" t="t" r="r" b="b"/>
              <a:pathLst>
                <a:path w="401558" h="708251">
                  <a:moveTo>
                    <a:pt x="0" y="0"/>
                  </a:moveTo>
                  <a:lnTo>
                    <a:pt x="401558" y="0"/>
                  </a:lnTo>
                  <a:lnTo>
                    <a:pt x="401558" y="708251"/>
                  </a:lnTo>
                  <a:lnTo>
                    <a:pt x="0" y="708251"/>
                  </a:lnTo>
                  <a:close/>
                </a:path>
              </a:pathLst>
            </a:custGeom>
            <a:solidFill>
              <a:srgbClr val="19319d">
                <a:alpha val="9800"/>
              </a:srgbClr>
            </a:solidFill>
            <a:ln cap="sq">
              <a:noFill/>
              <a:prstDash val="solid"/>
              <a:miter/>
            </a:ln>
          </p:spPr>
        </p:sp>
        <p:sp>
          <p:nvSpPr>
            <p:cNvPr id="45" name="TextBox 12"/>
            <p:cNvSpPr txBox="1"/>
            <p:nvPr/>
          </p:nvSpPr>
          <p:spPr>
            <a:xfrm>
              <a:off x="0" y="-47625"/>
              <a:ext cx="401558" cy="755876"/>
            </a:xfrm>
            <a:prstGeom prst="rect">
              <a:avLst/>
            </a:prstGeom>
          </p:spPr>
          <p:txBody>
            <a:bodyPr lIns="50800" tIns="50800" rIns="50800" bIns="50800" anchor="ctr"/>
            <a:lstStyle/>
            <a:p>
              <a:pPr marL="0" lvl="0" indent="0" algn="ctr">
                <a:lnSpc>
                  <a:spcPts val="2659"/>
                </a:lnSpc>
                <a:spcBef>
                  <a:spcPct val="0"/>
                </a:spcBef>
                <a:defRPr/>
              </a:pPr>
              <a:endParaRPr lang="ko-KR" altLang="en-US"/>
            </a:p>
          </p:txBody>
        </p:sp>
      </p:grpSp>
      <p:grpSp>
        <p:nvGrpSpPr>
          <p:cNvPr id="46" name="Group 13"/>
          <p:cNvGrpSpPr/>
          <p:nvPr/>
        </p:nvGrpSpPr>
        <p:grpSpPr>
          <a:xfrm rot="0">
            <a:off x="3200400" y="2400300"/>
            <a:ext cx="3356337" cy="5919768"/>
            <a:chOff x="0" y="0"/>
            <a:chExt cx="401558" cy="708251"/>
          </a:xfrm>
        </p:grpSpPr>
        <p:sp>
          <p:nvSpPr>
            <p:cNvPr id="47" name="Freeform 14"/>
            <p:cNvSpPr/>
            <p:nvPr/>
          </p:nvSpPr>
          <p:spPr>
            <a:xfrm>
              <a:off x="0" y="0"/>
              <a:ext cx="401558" cy="708251"/>
            </a:xfrm>
            <a:custGeom>
              <a:avLst/>
              <a:gdLst/>
              <a:rect l="l" t="t" r="r" b="b"/>
              <a:pathLst>
                <a:path w="401558" h="708251">
                  <a:moveTo>
                    <a:pt x="0" y="0"/>
                  </a:moveTo>
                  <a:lnTo>
                    <a:pt x="401558" y="0"/>
                  </a:lnTo>
                  <a:lnTo>
                    <a:pt x="401558" y="708251"/>
                  </a:lnTo>
                  <a:lnTo>
                    <a:pt x="0" y="708251"/>
                  </a:lnTo>
                  <a:close/>
                </a:path>
              </a:pathLst>
            </a:custGeom>
            <a:solidFill>
              <a:srgbClr val="19319d">
                <a:alpha val="9800"/>
              </a:srgbClr>
            </a:solidFill>
            <a:ln cap="sq">
              <a:noFill/>
              <a:prstDash val="solid"/>
              <a:miter/>
            </a:ln>
          </p:spPr>
        </p:sp>
        <p:sp>
          <p:nvSpPr>
            <p:cNvPr id="48" name="TextBox 15"/>
            <p:cNvSpPr txBox="1"/>
            <p:nvPr/>
          </p:nvSpPr>
          <p:spPr>
            <a:xfrm>
              <a:off x="0" y="-47625"/>
              <a:ext cx="401558" cy="755876"/>
            </a:xfrm>
            <a:prstGeom prst="rect">
              <a:avLst/>
            </a:prstGeom>
          </p:spPr>
          <p:txBody>
            <a:bodyPr lIns="50800" tIns="50800" rIns="50800" bIns="50800" anchor="ctr"/>
            <a:lstStyle/>
            <a:p>
              <a:pPr marL="0" lvl="0" indent="0" algn="ctr">
                <a:lnSpc>
                  <a:spcPts val="2659"/>
                </a:lnSpc>
                <a:spcBef>
                  <a:spcPct val="0"/>
                </a:spcBef>
                <a:defRPr/>
              </a:pPr>
              <a:endParaRPr lang="ko-KR" altLang="en-US"/>
            </a:p>
          </p:txBody>
        </p:sp>
      </p:grpSp>
      <p:grpSp>
        <p:nvGrpSpPr>
          <p:cNvPr id="49" name="Group 16"/>
          <p:cNvGrpSpPr/>
          <p:nvPr/>
        </p:nvGrpSpPr>
        <p:grpSpPr>
          <a:xfrm rot="0">
            <a:off x="7227712" y="2400300"/>
            <a:ext cx="3356337" cy="5919768"/>
            <a:chOff x="0" y="0"/>
            <a:chExt cx="401558" cy="708251"/>
          </a:xfrm>
        </p:grpSpPr>
        <p:sp>
          <p:nvSpPr>
            <p:cNvPr id="50" name="Freeform 17"/>
            <p:cNvSpPr/>
            <p:nvPr/>
          </p:nvSpPr>
          <p:spPr>
            <a:xfrm>
              <a:off x="0" y="0"/>
              <a:ext cx="401558" cy="708251"/>
            </a:xfrm>
            <a:custGeom>
              <a:avLst/>
              <a:gdLst/>
              <a:rect l="l" t="t" r="r" b="b"/>
              <a:pathLst>
                <a:path w="401558" h="708251">
                  <a:moveTo>
                    <a:pt x="0" y="0"/>
                  </a:moveTo>
                  <a:lnTo>
                    <a:pt x="401558" y="0"/>
                  </a:lnTo>
                  <a:lnTo>
                    <a:pt x="401558" y="708251"/>
                  </a:lnTo>
                  <a:lnTo>
                    <a:pt x="0" y="708251"/>
                  </a:lnTo>
                  <a:close/>
                </a:path>
              </a:pathLst>
            </a:custGeom>
            <a:solidFill>
              <a:srgbClr val="19319d">
                <a:alpha val="9800"/>
              </a:srgbClr>
            </a:solidFill>
            <a:ln cap="sq">
              <a:noFill/>
              <a:prstDash val="solid"/>
              <a:miter/>
            </a:ln>
          </p:spPr>
        </p:sp>
        <p:sp>
          <p:nvSpPr>
            <p:cNvPr id="51" name="TextBox 18"/>
            <p:cNvSpPr txBox="1"/>
            <p:nvPr/>
          </p:nvSpPr>
          <p:spPr>
            <a:xfrm>
              <a:off x="0" y="-47625"/>
              <a:ext cx="401558" cy="755876"/>
            </a:xfrm>
            <a:prstGeom prst="rect">
              <a:avLst/>
            </a:prstGeom>
          </p:spPr>
          <p:txBody>
            <a:bodyPr lIns="50800" tIns="50800" rIns="50800" bIns="50800" anchor="ctr"/>
            <a:lstStyle/>
            <a:p>
              <a:pPr marL="0" lvl="0" indent="0" algn="ctr">
                <a:lnSpc>
                  <a:spcPts val="2659"/>
                </a:lnSpc>
                <a:spcBef>
                  <a:spcPct val="0"/>
                </a:spcBef>
                <a:defRPr/>
              </a:pPr>
              <a:endParaRPr lang="ko-KR" altLang="en-US"/>
            </a:p>
          </p:txBody>
        </p:sp>
      </p:grpSp>
      <p:grpSp>
        <p:nvGrpSpPr>
          <p:cNvPr id="52" name="Group 19"/>
          <p:cNvGrpSpPr/>
          <p:nvPr/>
        </p:nvGrpSpPr>
        <p:grpSpPr>
          <a:xfrm rot="0">
            <a:off x="3919886" y="2794791"/>
            <a:ext cx="1917365" cy="1917365"/>
            <a:chOff x="0" y="0"/>
            <a:chExt cx="812800" cy="812800"/>
          </a:xfrm>
        </p:grpSpPr>
        <p:sp>
          <p:nvSpPr>
            <p:cNvPr id="53" name="Freeform 20"/>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dff"/>
            </a:solidFill>
          </p:spPr>
        </p:sp>
        <p:sp>
          <p:nvSpPr>
            <p:cNvPr id="54" name="TextBox 21"/>
            <p:cNvSpPr txBox="1"/>
            <p:nvPr/>
          </p:nvSpPr>
          <p:spPr>
            <a:xfrm>
              <a:off x="76200" y="0"/>
              <a:ext cx="660400" cy="736600"/>
            </a:xfrm>
            <a:prstGeom prst="rect">
              <a:avLst/>
            </a:prstGeom>
          </p:spPr>
          <p:txBody>
            <a:bodyPr lIns="50800" tIns="50800" rIns="50800" bIns="50800" anchor="ctr"/>
            <a:lstStyle/>
            <a:p>
              <a:pPr lvl="0" algn="ctr">
                <a:lnSpc>
                  <a:spcPts val="3213"/>
                </a:lnSpc>
                <a:defRPr/>
              </a:pPr>
              <a:endParaRPr lang="ko-KR" altLang="en-US"/>
            </a:p>
          </p:txBody>
        </p:sp>
      </p:grpSp>
      <p:grpSp>
        <p:nvGrpSpPr>
          <p:cNvPr id="55" name="Group 22"/>
          <p:cNvGrpSpPr/>
          <p:nvPr/>
        </p:nvGrpSpPr>
        <p:grpSpPr>
          <a:xfrm rot="0">
            <a:off x="7947197" y="2755026"/>
            <a:ext cx="1917365" cy="1917365"/>
            <a:chOff x="0" y="0"/>
            <a:chExt cx="812800" cy="812800"/>
          </a:xfrm>
        </p:grpSpPr>
        <p:sp>
          <p:nvSpPr>
            <p:cNvPr id="56" name="Freeform 23"/>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dff"/>
            </a:solidFill>
          </p:spPr>
        </p:sp>
        <p:sp>
          <p:nvSpPr>
            <p:cNvPr id="57" name="TextBox 24"/>
            <p:cNvSpPr txBox="1"/>
            <p:nvPr/>
          </p:nvSpPr>
          <p:spPr>
            <a:xfrm>
              <a:off x="76200" y="0"/>
              <a:ext cx="660400" cy="736600"/>
            </a:xfrm>
            <a:prstGeom prst="rect">
              <a:avLst/>
            </a:prstGeom>
          </p:spPr>
          <p:txBody>
            <a:bodyPr lIns="50800" tIns="50800" rIns="50800" bIns="50800" anchor="ctr"/>
            <a:lstStyle/>
            <a:p>
              <a:pPr lvl="0" algn="ctr">
                <a:lnSpc>
                  <a:spcPts val="3213"/>
                </a:lnSpc>
                <a:defRPr/>
              </a:pPr>
              <a:endParaRPr lang="ko-KR" altLang="en-US"/>
            </a:p>
          </p:txBody>
        </p:sp>
      </p:grpSp>
      <p:grpSp>
        <p:nvGrpSpPr>
          <p:cNvPr id="58" name="Group 25"/>
          <p:cNvGrpSpPr/>
          <p:nvPr/>
        </p:nvGrpSpPr>
        <p:grpSpPr>
          <a:xfrm rot="0">
            <a:off x="11974698" y="2755026"/>
            <a:ext cx="1917365" cy="1917365"/>
            <a:chOff x="0" y="0"/>
            <a:chExt cx="812800" cy="812800"/>
          </a:xfrm>
        </p:grpSpPr>
        <p:sp>
          <p:nvSpPr>
            <p:cNvPr id="59" name="Freeform 2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dff"/>
            </a:solidFill>
          </p:spPr>
        </p:sp>
        <p:sp>
          <p:nvSpPr>
            <p:cNvPr id="60" name="TextBox 27"/>
            <p:cNvSpPr txBox="1"/>
            <p:nvPr/>
          </p:nvSpPr>
          <p:spPr>
            <a:xfrm>
              <a:off x="76200" y="0"/>
              <a:ext cx="660400" cy="736600"/>
            </a:xfrm>
            <a:prstGeom prst="rect">
              <a:avLst/>
            </a:prstGeom>
          </p:spPr>
          <p:txBody>
            <a:bodyPr lIns="50800" tIns="50800" rIns="50800" bIns="50800" anchor="ctr"/>
            <a:lstStyle/>
            <a:p>
              <a:pPr lvl="0" algn="ctr">
                <a:lnSpc>
                  <a:spcPts val="3213"/>
                </a:lnSpc>
                <a:defRPr/>
              </a:pPr>
              <a:endParaRPr lang="ko-KR" altLang="en-US"/>
            </a:p>
          </p:txBody>
        </p:sp>
      </p:grpSp>
      <p:sp>
        <p:nvSpPr>
          <p:cNvPr id="61" name="Freeform 28"/>
          <p:cNvSpPr/>
          <p:nvPr/>
        </p:nvSpPr>
        <p:spPr>
          <a:xfrm>
            <a:off x="4278640" y="3145951"/>
            <a:ext cx="1156113" cy="1166719"/>
          </a:xfrm>
          <a:custGeom>
            <a:avLst/>
            <a:gdLst/>
            <a:rect l="l" t="t" r="r" b="b"/>
            <a:pathLst>
              <a:path w="1156113" h="1166719">
                <a:moveTo>
                  <a:pt x="0" y="0"/>
                </a:moveTo>
                <a:lnTo>
                  <a:pt x="1156113" y="0"/>
                </a:lnTo>
                <a:lnTo>
                  <a:pt x="1156113" y="1166720"/>
                </a:lnTo>
                <a:lnTo>
                  <a:pt x="0" y="1166720"/>
                </a:lnTo>
                <a:lnTo>
                  <a:pt x="0" y="0"/>
                </a:lnTo>
                <a:close/>
              </a:path>
            </a:pathLst>
          </a:custGeom>
          <a:blipFill rotWithShape="1">
            <a:blip r:embed="rId4"/>
            <a:stretch>
              <a:fillRect/>
            </a:stretch>
          </a:blipFill>
        </p:spPr>
        <p:txBody>
          <a:bodyPr anchor="ctr"/>
          <a:p>
            <a:pPr lvl="0" algn="ctr">
              <a:defRPr/>
            </a:pPr>
            <a:endParaRPr lang="ko-KR" altLang="en-US">
              <a:solidFill>
                <a:srgbClr val="19319d"/>
              </a:solidFill>
            </a:endParaRPr>
          </a:p>
        </p:txBody>
      </p:sp>
      <p:sp>
        <p:nvSpPr>
          <p:cNvPr id="62" name="Freeform 29"/>
          <p:cNvSpPr/>
          <p:nvPr/>
        </p:nvSpPr>
        <p:spPr>
          <a:xfrm>
            <a:off x="8274165" y="3087873"/>
            <a:ext cx="1263431" cy="1331201"/>
          </a:xfrm>
          <a:custGeom>
            <a:avLst/>
            <a:gdLst/>
            <a:rect l="l" t="t" r="r" b="b"/>
            <a:pathLst>
              <a:path w="1263431" h="1331201">
                <a:moveTo>
                  <a:pt x="0" y="0"/>
                </a:moveTo>
                <a:lnTo>
                  <a:pt x="1263430" y="0"/>
                </a:lnTo>
                <a:lnTo>
                  <a:pt x="1263430" y="1331201"/>
                </a:lnTo>
                <a:lnTo>
                  <a:pt x="0" y="1331201"/>
                </a:lnTo>
                <a:lnTo>
                  <a:pt x="0" y="0"/>
                </a:lnTo>
                <a:close/>
              </a:path>
            </a:pathLst>
          </a:custGeom>
          <a:blipFill rotWithShape="1">
            <a:blip r:embed="rId5"/>
            <a:stretch>
              <a:fillRect/>
            </a:stretch>
          </a:blipFill>
        </p:spPr>
        <p:txBody>
          <a:bodyPr anchor="ctr"/>
          <a:p>
            <a:pPr lvl="0" algn="ctr">
              <a:defRPr/>
            </a:pPr>
            <a:endParaRPr lang="ko-KR" altLang="en-US">
              <a:solidFill>
                <a:srgbClr val="19319d"/>
              </a:solidFill>
            </a:endParaRPr>
          </a:p>
        </p:txBody>
      </p:sp>
      <p:sp>
        <p:nvSpPr>
          <p:cNvPr id="63" name="Freeform 30"/>
          <p:cNvSpPr/>
          <p:nvPr/>
        </p:nvSpPr>
        <p:spPr>
          <a:xfrm>
            <a:off x="12277537" y="3099617"/>
            <a:ext cx="1311308" cy="1307712"/>
          </a:xfrm>
          <a:custGeom>
            <a:avLst/>
            <a:gdLst/>
            <a:rect l="l" t="t" r="r" b="b"/>
            <a:pathLst>
              <a:path w="1311308" h="1307712">
                <a:moveTo>
                  <a:pt x="0" y="0"/>
                </a:moveTo>
                <a:lnTo>
                  <a:pt x="1311308" y="0"/>
                </a:lnTo>
                <a:lnTo>
                  <a:pt x="1311308" y="1307712"/>
                </a:lnTo>
                <a:lnTo>
                  <a:pt x="0" y="1307712"/>
                </a:lnTo>
                <a:lnTo>
                  <a:pt x="0" y="0"/>
                </a:lnTo>
                <a:close/>
              </a:path>
            </a:pathLst>
          </a:custGeom>
          <a:blipFill rotWithShape="1">
            <a:blip r:embed="rId6"/>
            <a:stretch>
              <a:fillRect/>
            </a:stretch>
          </a:blipFill>
        </p:spPr>
        <p:txBody>
          <a:bodyPr anchor="ctr"/>
          <a:p>
            <a:pPr lvl="0" algn="ctr">
              <a:defRPr/>
            </a:pPr>
            <a:endParaRPr lang="ko-KR" altLang="en-US">
              <a:solidFill>
                <a:srgbClr val="19319d"/>
              </a:solidFill>
            </a:endParaRPr>
          </a:p>
        </p:txBody>
      </p:sp>
      <p:sp>
        <p:nvSpPr>
          <p:cNvPr id="64" name="AutoShape 31"/>
          <p:cNvSpPr/>
          <p:nvPr/>
        </p:nvSpPr>
        <p:spPr>
          <a:xfrm>
            <a:off x="4531303" y="5699658"/>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65" name="AutoShape 32"/>
          <p:cNvSpPr/>
          <p:nvPr/>
        </p:nvSpPr>
        <p:spPr>
          <a:xfrm>
            <a:off x="8558614" y="5699658"/>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66" name="AutoShape 33"/>
          <p:cNvSpPr/>
          <p:nvPr/>
        </p:nvSpPr>
        <p:spPr>
          <a:xfrm>
            <a:off x="12585926" y="5699658"/>
            <a:ext cx="694532" cy="0"/>
          </a:xfrm>
          <a:prstGeom prst="line">
            <a:avLst/>
          </a:prstGeom>
          <a:ln w="28575" cap="flat">
            <a:solidFill>
              <a:srgbClr val="19319d"/>
            </a:solidFill>
            <a:prstDash val="solid"/>
            <a:headEnd w="sm" len="sm"/>
            <a:tailEnd w="sm" len="sm"/>
          </a:ln>
        </p:spPr>
        <p:txBody>
          <a:bodyPr wrap="square" anchor="ctr"/>
          <a:p>
            <a:pPr lvl="0" algn="ctr">
              <a:defRPr/>
            </a:pPr>
            <a:endParaRPr lang="ko-KR" altLang="en-US"/>
          </a:p>
        </p:txBody>
      </p:sp>
      <p:sp>
        <p:nvSpPr>
          <p:cNvPr id="70" name="TextBox 40"/>
          <p:cNvSpPr txBox="1"/>
          <p:nvPr/>
        </p:nvSpPr>
        <p:spPr>
          <a:xfrm>
            <a:off x="3200400" y="4994131"/>
            <a:ext cx="3356337" cy="408216"/>
          </a:xfrm>
          <a:prstGeom prst="rect">
            <a:avLst/>
          </a:prstGeom>
        </p:spPr>
        <p:txBody>
          <a:bodyPr lIns="0" tIns="0" rIns="0" bIns="0" anchor="t">
            <a:spAutoFit/>
          </a:bodyPr>
          <a:lstStyle/>
          <a:p>
            <a:pPr lvl="0" algn="ctr">
              <a:lnSpc>
                <a:spcPts val="3213"/>
              </a:lnSpc>
              <a:spcBef>
                <a:spcPct val="0"/>
              </a:spcBef>
              <a:defRPr/>
            </a:pPr>
            <a:r>
              <a:rPr lang="en-US" altLang="ko-KR" sz="2400">
                <a:solidFill>
                  <a:srgbClr val="0b1544"/>
                </a:solidFill>
                <a:latin typeface="210 디딤고딕 Light"/>
                <a:ea typeface="210 디딤고딕 Light"/>
                <a:cs typeface="210 디딤고딕 Light"/>
                <a:sym typeface="210 디딤고딕 Light"/>
              </a:rPr>
              <a:t>LLM</a:t>
            </a:r>
            <a:r>
              <a:rPr lang="ko-KR" altLang="en-US" sz="2400">
                <a:solidFill>
                  <a:srgbClr val="0b1544"/>
                </a:solidFill>
                <a:latin typeface="210 디딤고딕 Light"/>
                <a:ea typeface="210 디딤고딕 Light"/>
                <a:cs typeface="210 디딤고딕 Light"/>
                <a:sym typeface="210 디딤고딕 Light"/>
              </a:rPr>
              <a:t>모델 교체</a:t>
            </a:r>
            <a:endParaRPr lang="en-US" sz="2400">
              <a:solidFill>
                <a:srgbClr val="0b1544"/>
              </a:solidFill>
              <a:latin typeface="210 디딤고딕 Bold"/>
              <a:ea typeface="210 디딤고딕 Bold"/>
              <a:cs typeface="210 디딤고딕 Bold"/>
              <a:sym typeface="210 디딤고딕 Bold"/>
            </a:endParaRPr>
          </a:p>
        </p:txBody>
      </p:sp>
      <p:sp>
        <p:nvSpPr>
          <p:cNvPr id="71" name="TextBox 41"/>
          <p:cNvSpPr txBox="1"/>
          <p:nvPr/>
        </p:nvSpPr>
        <p:spPr>
          <a:xfrm>
            <a:off x="7227711" y="4994131"/>
            <a:ext cx="3356337" cy="465366"/>
          </a:xfrm>
          <a:prstGeom prst="rect">
            <a:avLst/>
          </a:prstGeom>
        </p:spPr>
        <p:txBody>
          <a:bodyPr lIns="0" tIns="0" rIns="0" bIns="0" anchor="t">
            <a:spAutoFit/>
          </a:bodyPr>
          <a:lstStyle/>
          <a:p>
            <a:pPr marL="0" lvl="0" indent="0" algn="ctr">
              <a:lnSpc>
                <a:spcPts val="3672"/>
              </a:lnSpc>
              <a:spcBef>
                <a:spcPct val="0"/>
              </a:spcBef>
              <a:defRPr/>
            </a:pPr>
            <a:r>
              <a:rPr lang="ko-KR" altLang="en-US" sz="2400">
                <a:solidFill>
                  <a:srgbClr val="0b1544"/>
                </a:solidFill>
                <a:latin typeface="210 디딤고딕 Bold"/>
                <a:ea typeface="210 디딤고딕 Bold"/>
                <a:cs typeface="210 디딤고딕 Bold"/>
                <a:sym typeface="210 디딤고딕 Bold"/>
              </a:rPr>
              <a:t>집중도 데이터 적극 활용</a:t>
            </a:r>
            <a:endParaRPr lang="ko-KR" altLang="en-US" sz="2400">
              <a:solidFill>
                <a:srgbClr val="0b1544"/>
              </a:solidFill>
              <a:latin typeface="210 디딤고딕 Bold"/>
              <a:ea typeface="210 디딤고딕 Bold"/>
              <a:cs typeface="210 디딤고딕 Bold"/>
              <a:sym typeface="210 디딤고딕 Bold"/>
            </a:endParaRPr>
          </a:p>
        </p:txBody>
      </p:sp>
      <p:sp>
        <p:nvSpPr>
          <p:cNvPr id="72" name="TextBox 42"/>
          <p:cNvSpPr txBox="1"/>
          <p:nvPr/>
        </p:nvSpPr>
        <p:spPr>
          <a:xfrm>
            <a:off x="11255023" y="4994131"/>
            <a:ext cx="3356337" cy="465366"/>
          </a:xfrm>
          <a:prstGeom prst="rect">
            <a:avLst/>
          </a:prstGeom>
        </p:spPr>
        <p:txBody>
          <a:bodyPr lIns="0" tIns="0" rIns="0" bIns="0" anchor="t">
            <a:spAutoFit/>
          </a:bodyPr>
          <a:lstStyle/>
          <a:p>
            <a:pPr marL="0" lvl="0" indent="0" algn="ctr">
              <a:lnSpc>
                <a:spcPts val="3672"/>
              </a:lnSpc>
              <a:spcBef>
                <a:spcPct val="0"/>
              </a:spcBef>
              <a:defRPr/>
            </a:pPr>
            <a:r>
              <a:rPr lang="ko-KR" altLang="en-US" sz="2400">
                <a:solidFill>
                  <a:srgbClr val="0b1544"/>
                </a:solidFill>
                <a:latin typeface="210 디딤고딕 Bold"/>
                <a:ea typeface="210 디딤고딕 Bold"/>
                <a:cs typeface="210 디딤고딕 Bold"/>
                <a:sym typeface="210 디딤고딕 Bold"/>
              </a:rPr>
              <a:t>클라우드 서버 도입</a:t>
            </a:r>
            <a:endParaRPr lang="ko-KR" altLang="en-US" sz="2400">
              <a:solidFill>
                <a:srgbClr val="0b1544"/>
              </a:solidFill>
              <a:latin typeface="210 디딤고딕 Bold"/>
              <a:ea typeface="210 디딤고딕 Bold"/>
              <a:cs typeface="210 디딤고딕 Bold"/>
              <a:sym typeface="210 디딤고딕 Bold"/>
            </a:endParaRPr>
          </a:p>
        </p:txBody>
      </p:sp>
      <p:sp>
        <p:nvSpPr>
          <p:cNvPr id="106" name="가로 글상자 105"/>
          <p:cNvSpPr txBox="1"/>
          <p:nvPr/>
        </p:nvSpPr>
        <p:spPr>
          <a:xfrm>
            <a:off x="3489964" y="5973847"/>
            <a:ext cx="2825116" cy="636270"/>
          </a:xfrm>
          <a:prstGeom prst="rect">
            <a:avLst/>
          </a:prstGeom>
        </p:spPr>
        <p:txBody>
          <a:bodyPr wrap="square">
            <a:spAutoFit/>
          </a:bodyPr>
          <a:p>
            <a:pPr lvl="0">
              <a:defRPr/>
            </a:pPr>
            <a:r>
              <a:rPr lang="ko-KR" altLang="en-US"/>
              <a:t>성능 향상을 위한 </a:t>
            </a:r>
            <a:r>
              <a:rPr lang="en-US" altLang="ko-KR"/>
              <a:t>LLM</a:t>
            </a:r>
            <a:r>
              <a:rPr lang="ko-KR" altLang="en-US"/>
              <a:t>모델 교체 및 프롬프트 수정</a:t>
            </a:r>
            <a:endParaRPr lang="ko-KR" altLang="en-US"/>
          </a:p>
        </p:txBody>
      </p:sp>
      <p:sp>
        <p:nvSpPr>
          <p:cNvPr id="107" name="가로 글상자 106"/>
          <p:cNvSpPr txBox="1"/>
          <p:nvPr/>
        </p:nvSpPr>
        <p:spPr>
          <a:xfrm>
            <a:off x="7493322" y="6023377"/>
            <a:ext cx="2825116" cy="1739265"/>
          </a:xfrm>
          <a:prstGeom prst="rect">
            <a:avLst/>
          </a:prstGeom>
        </p:spPr>
        <p:txBody>
          <a:bodyPr wrap="square">
            <a:spAutoFit/>
          </a:bodyPr>
          <a:lstStyle/>
          <a:p>
            <a:pPr lvl="0">
              <a:defRPr/>
            </a:pPr>
            <a:r>
              <a:rPr lang="ko-KR" altLang="en-US"/>
              <a:t>지금처럼 집중도 데이터를 소극적으로 활용하지 않고 </a:t>
            </a:r>
            <a:r>
              <a:rPr lang="en-US" altLang="ko-KR"/>
              <a:t>AI-agent</a:t>
            </a:r>
            <a:r>
              <a:rPr lang="ko-KR" altLang="en-US"/>
              <a:t>등을 활용해 적극적으로 교육에 활용할수 있도록 컨텐츠 개발</a:t>
            </a:r>
            <a:endParaRPr lang="ko-KR" altLang="en-US"/>
          </a:p>
        </p:txBody>
      </p:sp>
      <p:sp>
        <p:nvSpPr>
          <p:cNvPr id="108" name="가로 글상자 107"/>
          <p:cNvSpPr txBox="1"/>
          <p:nvPr/>
        </p:nvSpPr>
        <p:spPr>
          <a:xfrm>
            <a:off x="11420480" y="6055762"/>
            <a:ext cx="3053716" cy="908685"/>
          </a:xfrm>
          <a:prstGeom prst="rect">
            <a:avLst/>
          </a:prstGeom>
        </p:spPr>
        <p:txBody>
          <a:bodyPr wrap="square">
            <a:spAutoFit/>
          </a:bodyPr>
          <a:lstStyle/>
          <a:p>
            <a:pPr lvl="0">
              <a:defRPr/>
            </a:pPr>
            <a:r>
              <a:rPr lang="en-US" altLang="ko-KR"/>
              <a:t>LLM</a:t>
            </a:r>
            <a:r>
              <a:rPr lang="ko-KR" altLang="en-US"/>
              <a:t>모델 교체 및 사용자들의 안정적인 이용을 위해 클라우드 서버 도입</a:t>
            </a:r>
            <a:endParaRPr lang="ko-KR" altLang="en-US"/>
          </a:p>
        </p:txBody>
      </p:sp>
    </p:spTree>
    <p:extLst>
      <p:ext uri="{BB962C8B-B14F-4D97-AF65-F5344CB8AC3E}">
        <p14:creationId xmlns:p14="http://schemas.microsoft.com/office/powerpoint/2010/main" val="2798306800"/>
      </p:ext>
    </p:extLst>
  </p:cSld>
  <p:clrMapOvr>
    <a:masterClrMapping/>
  </p:clrMapOvr>
</p:sld>
</file>

<file path=ppt/slides/slide2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5" name="Group 5"/>
          <p:cNvGrpSpPr/>
          <p:nvPr/>
        </p:nvGrpSpPr>
        <p:grpSpPr>
          <a:xfrm rot="0">
            <a:off x="16743892" y="8813315"/>
            <a:ext cx="2710668" cy="2710668"/>
            <a:chOff x="0" y="0"/>
            <a:chExt cx="812800" cy="812800"/>
          </a:xfrm>
        </p:grpSpPr>
        <p:sp>
          <p:nvSpPr>
            <p:cNvPr id="6" name="Freeform 6"/>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sp>
        <p:nvSpPr>
          <p:cNvPr id="8" name="AutoShape 8"/>
          <p:cNvSpPr/>
          <p:nvPr/>
        </p:nvSpPr>
        <p:spPr>
          <a:xfrm>
            <a:off x="1028700" y="1147265"/>
            <a:ext cx="16230600" cy="0"/>
          </a:xfrm>
          <a:prstGeom prst="line">
            <a:avLst/>
          </a:prstGeom>
          <a:ln w="28575" cap="flat">
            <a:solidFill>
              <a:srgbClr val="19319d"/>
            </a:solidFill>
            <a:prstDash val="solid"/>
            <a:headEnd w="sm" len="sm"/>
            <a:tailEnd w="sm" len="sm"/>
          </a:ln>
        </p:spPr>
      </p:sp>
      <p:sp>
        <p:nvSpPr>
          <p:cNvPr id="9" name="Freeform 9"/>
          <p:cNvSpPr/>
          <p:nvPr/>
        </p:nvSpPr>
        <p:spPr>
          <a:xfrm>
            <a:off x="16283740" y="8037559"/>
            <a:ext cx="1372131" cy="1357163"/>
          </a:xfrm>
          <a:custGeom>
            <a:avLst/>
            <a:gdLst/>
            <a:rect l="l" t="t" r="r" b="b"/>
            <a:pathLst>
              <a:path w="1372131" h="1357163">
                <a:moveTo>
                  <a:pt x="0" y="0"/>
                </a:moveTo>
                <a:lnTo>
                  <a:pt x="1372131" y="0"/>
                </a:lnTo>
                <a:lnTo>
                  <a:pt x="1372131" y="1357163"/>
                </a:lnTo>
                <a:lnTo>
                  <a:pt x="0" y="1357163"/>
                </a:lnTo>
                <a:lnTo>
                  <a:pt x="0" y="0"/>
                </a:lnTo>
                <a:close/>
              </a:path>
            </a:pathLst>
          </a:custGeom>
          <a:blipFill rotWithShape="1">
            <a:blip r:embed="rId3"/>
            <a:stretch>
              <a:fillRect/>
            </a:stretch>
          </a:blipFill>
        </p:spPr>
      </p:sp>
      <p:sp>
        <p:nvSpPr>
          <p:cNvPr id="23" name="TextBox 13"/>
          <p:cNvSpPr txBox="1"/>
          <p:nvPr/>
        </p:nvSpPr>
        <p:spPr>
          <a:xfrm>
            <a:off x="457200" y="209548"/>
            <a:ext cx="10591800" cy="895352"/>
          </a:xfrm>
          <a:prstGeom prst="rect">
            <a:avLst/>
          </a:prstGeom>
        </p:spPr>
        <p:txBody>
          <a:bodyPr wrap="square" lIns="0" tIns="0" rIns="0" bIns="0" anchor="t">
            <a:spAutoFit/>
          </a:bodyPr>
          <a:lstStyle/>
          <a:p>
            <a:pPr lvl="0">
              <a:lnSpc>
                <a:spcPts val="7055"/>
              </a:lnSpc>
              <a:defRPr/>
            </a:pPr>
            <a:r>
              <a:rPr lang="ko-KR" altLang="en-US" sz="5500" b="1">
                <a:solidFill>
                  <a:srgbClr val="19319d"/>
                </a:solidFill>
                <a:latin typeface="Black Han Sans"/>
                <a:ea typeface="Black Han Sans"/>
                <a:cs typeface="Black Han Sans"/>
                <a:sym typeface="Black Han Sans"/>
              </a:rPr>
              <a:t>프로젝트 수행 소감</a:t>
            </a:r>
            <a:endParaRPr lang="ko-KR" altLang="en-US" sz="5500" b="1">
              <a:solidFill>
                <a:srgbClr val="19319d"/>
              </a:solidFill>
              <a:latin typeface="Black Han Sans"/>
              <a:ea typeface="Black Han Sans"/>
              <a:cs typeface="Black Han Sans"/>
              <a:sym typeface="Black Han Sans"/>
            </a:endParaRPr>
          </a:p>
        </p:txBody>
      </p:sp>
      <p:sp>
        <p:nvSpPr>
          <p:cNvPr id="109" name="가로 글상자 108"/>
          <p:cNvSpPr txBox="1"/>
          <p:nvPr/>
        </p:nvSpPr>
        <p:spPr>
          <a:xfrm>
            <a:off x="990600" y="2095500"/>
            <a:ext cx="7391400" cy="6996114"/>
          </a:xfrm>
          <a:prstGeom prst="rect">
            <a:avLst/>
          </a:prstGeom>
        </p:spPr>
        <p:txBody>
          <a:bodyPr wrap="square">
            <a:spAutoFit/>
          </a:bodyPr>
          <a:p>
            <a:pPr lvl="0">
              <a:defRPr/>
            </a:pPr>
            <a:r>
              <a:rPr lang="ko-KR" altLang="en-US" sz="3300" b="1">
                <a:solidFill>
                  <a:srgbClr val="19319d"/>
                </a:solidFill>
              </a:rPr>
              <a:t>1. 기술적 도전</a:t>
            </a:r>
            <a:endParaRPr lang="ko-KR" altLang="en-US" sz="2100"/>
          </a:p>
          <a:p>
            <a:pPr lvl="0">
              <a:defRPr/>
            </a:pPr>
            <a:endParaRPr lang="ko-KR" altLang="en-US" sz="2100"/>
          </a:p>
          <a:p>
            <a:pPr lvl="0">
              <a:defRPr/>
            </a:pPr>
            <a:endParaRPr lang="ko-KR" altLang="en-US" sz="2100"/>
          </a:p>
          <a:p>
            <a:pPr lvl="0">
              <a:defRPr/>
            </a:pPr>
            <a:r>
              <a:rPr lang="ko-KR" altLang="en-US" sz="2100" b="1"/>
              <a:t>마이크로서비스 아키텍처 구현</a:t>
            </a:r>
            <a:r>
              <a:rPr lang="ko-KR" altLang="en-US" sz="2100"/>
              <a:t>으로 Spring Boot(비즈니스 로직)와 Flask(AI 처리)를 분리하여 각 기술 스택의 장점을 살렸습니다. 여러 AI 모델(Whisper, Llama, FAISS, MediaPipe)을 하나의 워크플로우로 통합하면서 메모리 관리, 모델 캐싱, 4bit 양자화 등 최적화 작업을 수행했습니다.</a:t>
            </a:r>
            <a:endParaRPr lang="ko-KR" altLang="en-US" sz="2100"/>
          </a:p>
          <a:p>
            <a:pPr lvl="0">
              <a:defRPr/>
            </a:pPr>
            <a:endParaRPr lang="ko-KR" altLang="en-US" sz="2100"/>
          </a:p>
          <a:p>
            <a:pPr lvl="0">
              <a:defRPr/>
            </a:pPr>
            <a:r>
              <a:rPr lang="ko-KR" altLang="en-US" sz="2100"/>
              <a:t> 프로젝트에서 특히 도전적이었던 부분은 여러 AI 모델을 하나의 시스템에 통합하는 것이었습니다. Whisper 모델의 다국어 자막 생성, Llama-3.2-3B-Instruct 모델의 챕터 분석 및 설명 생성, Sentence Transformer와 FAISS를 활용한 RAG 시스템, 그리고 MediaPipe FaceMesh의 실시간 시선 추적까지 각각 독립적으로는 잘 작동하지만, 이들을 하나의 워크플로우로 연결하는 과정에서 메모리 관리, 응답 속도, 모델 캐싱 등 다양한 최적화 과제를 해결해야 했습니다.</a:t>
            </a:r>
            <a:endParaRPr lang="ko-KR" altLang="en-US" sz="2100"/>
          </a:p>
          <a:p>
            <a:pPr lvl="0">
              <a:defRPr/>
            </a:pPr>
            <a:r>
              <a:rPr lang="ko-KR" altLang="en-US" sz="2100"/>
              <a:t>특히 LLM의 불완전한 JSON 응답을 처리하기 위한 다층 파싱 로직, 반복 문장 제거, 미완성 문장 정리 등 실전에서 발생하는 예외 상황들을 하나씩 해결하면서 견고한 시스템을 구축할 수 있었습니다.</a:t>
            </a:r>
            <a:endParaRPr lang="ko-KR" altLang="en-US" sz="2100"/>
          </a:p>
        </p:txBody>
      </p:sp>
      <p:cxnSp>
        <p:nvCxnSpPr>
          <p:cNvPr id="110" name="선 109"/>
          <p:cNvCxnSpPr/>
          <p:nvPr/>
        </p:nvCxnSpPr>
        <p:spPr>
          <a:xfrm rot="16200000" flipH="1">
            <a:off x="4886242" y="5515058"/>
            <a:ext cx="7296316" cy="0"/>
          </a:xfrm>
          <a:prstGeom prst="line">
            <a:avLst/>
          </a:prstGeom>
          <a:ln w="50800">
            <a:solidFill>
              <a:srgbClr val="19319d"/>
            </a:solidFill>
            <a:prstDash val="sysDot"/>
          </a:ln>
        </p:spPr>
        <p:style>
          <a:lnRef idx="1">
            <a:schemeClr val="accent1"/>
          </a:lnRef>
          <a:fillRef idx="0">
            <a:schemeClr val="accent1"/>
          </a:fillRef>
          <a:effectRef idx="0">
            <a:schemeClr val="accent1"/>
          </a:effectRef>
          <a:fontRef idx="minor">
            <a:schemeClr val="tx1"/>
          </a:fontRef>
        </p:style>
      </p:cxnSp>
      <p:sp>
        <p:nvSpPr>
          <p:cNvPr id="111" name="가로 글상자 110"/>
          <p:cNvSpPr txBox="1"/>
          <p:nvPr/>
        </p:nvSpPr>
        <p:spPr>
          <a:xfrm>
            <a:off x="9144000" y="2095499"/>
            <a:ext cx="7391400" cy="5065395"/>
          </a:xfrm>
          <a:prstGeom prst="rect">
            <a:avLst/>
          </a:prstGeom>
        </p:spPr>
        <p:txBody>
          <a:bodyPr wrap="square">
            <a:spAutoFit/>
          </a:bodyPr>
          <a:lstStyle/>
          <a:p>
            <a:pPr lvl="0">
              <a:defRPr/>
            </a:pPr>
            <a:r>
              <a:rPr lang="en-US" altLang="ko-KR" sz="3300" b="1">
                <a:solidFill>
                  <a:srgbClr val="19319d"/>
                </a:solidFill>
              </a:rPr>
              <a:t>2</a:t>
            </a:r>
            <a:r>
              <a:rPr lang="ko-KR" altLang="en-US" sz="3300" b="1">
                <a:solidFill>
                  <a:srgbClr val="19319d"/>
                </a:solidFill>
              </a:rPr>
              <a:t>. 핵심 학습</a:t>
            </a:r>
            <a:endParaRPr lang="ko-KR" altLang="en-US" sz="2100">
              <a:solidFill>
                <a:srgbClr val="19319d"/>
              </a:solidFill>
            </a:endParaRPr>
          </a:p>
          <a:p>
            <a:pPr lvl="0">
              <a:defRPr/>
            </a:pPr>
            <a:endParaRPr lang="ko-KR" altLang="en-US" sz="2100"/>
          </a:p>
          <a:p>
            <a:pPr lvl="0">
              <a:defRPr/>
            </a:pPr>
            <a:endParaRPr lang="ko-KR" altLang="en-US" sz="2100"/>
          </a:p>
          <a:p>
            <a:pPr lvl="0">
              <a:defRPr/>
            </a:pPr>
            <a:r>
              <a:rPr lang="ko-KR" altLang="en-US" sz="2100" b="1"/>
              <a:t>프롬프트 엔지니어링</a:t>
            </a:r>
            <a:r>
              <a:rPr lang="ko-KR" altLang="en-US" sz="2100"/>
              <a:t>과 </a:t>
            </a:r>
            <a:r>
              <a:rPr lang="ko-KR" altLang="en-US" sz="2100" b="1"/>
              <a:t>파라미터 튜닝</a:t>
            </a:r>
            <a:r>
              <a:rPr lang="ko-KR" altLang="en-US" sz="2100"/>
              <a:t>의 중요성을 체감했습니다. LLM을 활용한 챕터 분석과 설명 생성 과정에서 프롬프트 엔지니어링의 중요성을 깊이 체감했습니다. 단순히 "챕터를 생성해줘"라는 요청이 아니라, 구체적인 제약 조건을 명시하고, 출력 형식을 엄격하게 지정하며, 언어별로 최적화된 프롬프트를 작성함으로써 품질을 크게 향상시킬 수 있었습니다.</a:t>
            </a:r>
            <a:endParaRPr lang="ko-KR" altLang="en-US" sz="2100"/>
          </a:p>
          <a:p>
            <a:pPr lvl="0">
              <a:defRPr/>
            </a:pPr>
            <a:endParaRPr lang="ko-KR" altLang="en-US" sz="2100"/>
          </a:p>
          <a:p>
            <a:pPr lvl="0">
              <a:defRPr/>
            </a:pPr>
            <a:r>
              <a:rPr lang="ko-KR" altLang="en-US" sz="2100"/>
              <a:t> 특히 한글 요약 생성 시 영어 단어 혼재를 방지하기 위해 "반드시 순수 한글만 사용", "외래어도 한글로 풀어쓰기" 등의 강력한 제약을 추가했고, temperature와 repetition_penalty 파라미터를 미세 조정하여 반복을 최소화했습니다.</a:t>
            </a:r>
            <a:endParaRPr lang="ko-KR" altLang="en-US" sz="2100"/>
          </a:p>
        </p:txBody>
      </p:sp>
    </p:spTree>
    <p:extLst>
      <p:ext uri="{BB962C8B-B14F-4D97-AF65-F5344CB8AC3E}">
        <p14:creationId xmlns:p14="http://schemas.microsoft.com/office/powerpoint/2010/main" val="3633763561"/>
      </p:ext>
    </p:extLst>
  </p:cSld>
  <p:clrMapOvr>
    <a:masterClrMapping/>
  </p:clrMapOvr>
</p:sld>
</file>

<file path=ppt/slides/slide2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bfdff"/>
        </a:solidFill>
      </p:bgPr>
    </p:bg>
    <p:spTree>
      <p:nvGrpSpPr>
        <p:cNvPr id="1" name=""/>
        <p:cNvGrpSpPr/>
        <p:nvPr/>
      </p:nvGrpSpPr>
      <p:grpSpPr>
        <a:xfrm>
          <a:off x="0" y="0"/>
          <a:ext cx="0" cy="0"/>
          <a:chOff x="0" y="0"/>
          <a:chExt cx="0" cy="0"/>
        </a:xfrm>
      </p:grpSpPr>
      <p:grpSp>
        <p:nvGrpSpPr>
          <p:cNvPr id="2" name="Group 2"/>
          <p:cNvGrpSpPr/>
          <p:nvPr/>
        </p:nvGrpSpPr>
        <p:grpSpPr>
          <a:xfrm rot="0">
            <a:off x="16295847" y="7423337"/>
            <a:ext cx="2863663" cy="2863663"/>
            <a:chOff x="0" y="0"/>
            <a:chExt cx="812800" cy="812800"/>
          </a:xfrm>
        </p:grpSpPr>
        <p:sp>
          <p:nvSpPr>
            <p:cNvPr id="3" name="Freeform 3"/>
            <p:cNvSpPr/>
            <p:nvPr/>
          </p:nvSpPr>
          <p:spPr>
            <a:xfrm>
              <a:off x="0" y="0"/>
              <a:ext cx="812800" cy="812800"/>
            </a:xfrm>
            <a:custGeom>
              <a:avLst/>
              <a:gd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9319d">
                  <a:alpha val="9800"/>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anchor="ctr"/>
            <a:lstStyle/>
            <a:p>
              <a:pPr lvl="0" algn="ctr">
                <a:lnSpc>
                  <a:spcPts val="2659"/>
                </a:lnSpc>
                <a:defRPr/>
              </a:pPr>
              <a:endParaRPr lang="ko-KR" altLang="en-US"/>
            </a:p>
          </p:txBody>
        </p:sp>
      </p:grpSp>
      <p:grpSp>
        <p:nvGrpSpPr>
          <p:cNvPr id="5" name="Group 5"/>
          <p:cNvGrpSpPr/>
          <p:nvPr/>
        </p:nvGrpSpPr>
        <p:grpSpPr>
          <a:xfrm rot="0">
            <a:off x="0" y="9258300"/>
            <a:ext cx="18288000" cy="1028700"/>
            <a:chOff x="0" y="0"/>
            <a:chExt cx="4816593" cy="270933"/>
          </a:xfrm>
        </p:grpSpPr>
        <p:sp>
          <p:nvSpPr>
            <p:cNvPr id="6" name="Freeform 6"/>
            <p:cNvSpPr/>
            <p:nvPr/>
          </p:nvSpPr>
          <p:spPr>
            <a:xfrm>
              <a:off x="0" y="0"/>
              <a:ext cx="4816592" cy="270933"/>
            </a:xfrm>
            <a:custGeom>
              <a:avLst/>
              <a:gdLst/>
              <a:rect l="l" t="t" r="r" b="b"/>
              <a:pathLst>
                <a:path w="4816592" h="270933">
                  <a:moveTo>
                    <a:pt x="0" y="0"/>
                  </a:moveTo>
                  <a:lnTo>
                    <a:pt x="4816592" y="0"/>
                  </a:lnTo>
                  <a:lnTo>
                    <a:pt x="4816592" y="270933"/>
                  </a:lnTo>
                  <a:lnTo>
                    <a:pt x="0" y="270933"/>
                  </a:lnTo>
                  <a:close/>
                </a:path>
              </a:pathLst>
            </a:custGeom>
            <a:solidFill>
              <a:srgbClr val="19319d"/>
            </a:solidFill>
            <a:ln cap="sq">
              <a:noFill/>
              <a:prstDash val="solid"/>
              <a:miter/>
            </a:ln>
          </p:spPr>
        </p:sp>
        <p:sp>
          <p:nvSpPr>
            <p:cNvPr id="7" name="TextBox 7"/>
            <p:cNvSpPr txBox="1"/>
            <p:nvPr/>
          </p:nvSpPr>
          <p:spPr>
            <a:xfrm>
              <a:off x="0" y="-47625"/>
              <a:ext cx="4816593" cy="318558"/>
            </a:xfrm>
            <a:prstGeom prst="rect">
              <a:avLst/>
            </a:prstGeom>
          </p:spPr>
          <p:txBody>
            <a:bodyPr lIns="50800" tIns="50800" rIns="50800" bIns="50800" anchor="ctr"/>
            <a:lstStyle/>
            <a:p>
              <a:pPr lvl="0" algn="ctr">
                <a:lnSpc>
                  <a:spcPts val="2659"/>
                </a:lnSpc>
                <a:spcBef>
                  <a:spcPct val="0"/>
                </a:spcBef>
                <a:defRPr/>
              </a:pPr>
              <a:endParaRPr lang="ko-KR" altLang="en-US"/>
            </a:p>
          </p:txBody>
        </p:sp>
      </p:grpSp>
      <p:grpSp>
        <p:nvGrpSpPr>
          <p:cNvPr id="8" name="Group 8"/>
          <p:cNvGrpSpPr/>
          <p:nvPr/>
        </p:nvGrpSpPr>
        <p:grpSpPr>
          <a:xfrm rot="0">
            <a:off x="-1716351" y="1942816"/>
            <a:ext cx="3432702" cy="3432702"/>
            <a:chOff x="0" y="0"/>
            <a:chExt cx="812800" cy="812800"/>
          </a:xfrm>
        </p:grpSpPr>
        <p:sp>
          <p:nvSpPr>
            <p:cNvPr id="9" name="Freeform 9"/>
            <p:cNvSpPr/>
            <p:nvPr/>
          </p:nvSpPr>
          <p:spPr>
            <a:xfrm>
              <a:off x="0" y="0"/>
              <a:ext cx="812800" cy="812800"/>
            </a:xfrm>
            <a:custGeom>
              <a:avLst/>
              <a:gdLst/>
              <a:rect l="l" t="t" r="r" b="b"/>
              <a:pathLst>
                <a:path w="812800" h="812800">
                  <a:moveTo>
                    <a:pt x="406400" y="0"/>
                  </a:moveTo>
                  <a:lnTo>
                    <a:pt x="812800" y="406400"/>
                  </a:lnTo>
                  <a:lnTo>
                    <a:pt x="406400" y="812800"/>
                  </a:lnTo>
                  <a:lnTo>
                    <a:pt x="0" y="406400"/>
                  </a:lnTo>
                  <a:lnTo>
                    <a:pt x="406400" y="0"/>
                  </a:lnTo>
                  <a:close/>
                </a:path>
              </a:pathLst>
            </a:custGeom>
            <a:solidFill>
              <a:srgbClr val="000000">
                <a:alpha val="0"/>
              </a:srgbClr>
            </a:solidFill>
            <a:ln w="571500" cap="sq">
              <a:solidFill>
                <a:srgbClr val="19319d">
                  <a:alpha val="9800"/>
                </a:srgbClr>
              </a:solidFill>
              <a:prstDash val="solid"/>
              <a:miter/>
            </a:ln>
          </p:spPr>
        </p:sp>
        <p:sp>
          <p:nvSpPr>
            <p:cNvPr id="10" name="TextBox 10"/>
            <p:cNvSpPr txBox="1"/>
            <p:nvPr/>
          </p:nvSpPr>
          <p:spPr>
            <a:xfrm>
              <a:off x="139700" y="101600"/>
              <a:ext cx="533400" cy="571500"/>
            </a:xfrm>
            <a:prstGeom prst="rect">
              <a:avLst/>
            </a:prstGeom>
          </p:spPr>
          <p:txBody>
            <a:bodyPr lIns="50800" tIns="50800" rIns="50800" bIns="50800" anchor="ctr"/>
            <a:lstStyle/>
            <a:p>
              <a:pPr lvl="0" algn="ctr">
                <a:lnSpc>
                  <a:spcPts val="2659"/>
                </a:lnSpc>
                <a:defRPr/>
              </a:pPr>
              <a:endParaRPr lang="ko-KR" altLang="en-US"/>
            </a:p>
          </p:txBody>
        </p:sp>
      </p:grpSp>
      <p:sp>
        <p:nvSpPr>
          <p:cNvPr id="11" name="AutoShape 11"/>
          <p:cNvSpPr/>
          <p:nvPr/>
        </p:nvSpPr>
        <p:spPr>
          <a:xfrm>
            <a:off x="1028700" y="1147265"/>
            <a:ext cx="16230600" cy="0"/>
          </a:xfrm>
          <a:prstGeom prst="line">
            <a:avLst/>
          </a:prstGeom>
          <a:ln w="28575" cap="flat">
            <a:solidFill>
              <a:srgbClr val="19319d"/>
            </a:solidFill>
            <a:prstDash val="solid"/>
            <a:headEnd w="sm" len="sm"/>
            <a:tailEnd w="sm" len="sm"/>
          </a:ln>
        </p:spPr>
      </p:sp>
      <p:sp>
        <p:nvSpPr>
          <p:cNvPr id="12" name="AutoShape 12"/>
          <p:cNvSpPr/>
          <p:nvPr/>
        </p:nvSpPr>
        <p:spPr>
          <a:xfrm>
            <a:off x="8686384" y="9643898"/>
            <a:ext cx="0" cy="249374"/>
          </a:xfrm>
          <a:prstGeom prst="line">
            <a:avLst/>
          </a:prstGeom>
          <a:ln w="19050" cap="flat">
            <a:solidFill>
              <a:srgbClr val="fbfdff"/>
            </a:solidFill>
            <a:prstDash val="solid"/>
            <a:headEnd w="sm" len="sm"/>
            <a:tailEnd w="sm" len="sm"/>
          </a:ln>
        </p:spPr>
      </p:sp>
      <p:sp>
        <p:nvSpPr>
          <p:cNvPr id="15" name="AutoShape 15"/>
          <p:cNvSpPr/>
          <p:nvPr/>
        </p:nvSpPr>
        <p:spPr>
          <a:xfrm>
            <a:off x="8796734" y="3643651"/>
            <a:ext cx="694532" cy="0"/>
          </a:xfrm>
          <a:prstGeom prst="line">
            <a:avLst/>
          </a:prstGeom>
          <a:ln w="28575" cap="flat">
            <a:solidFill>
              <a:srgbClr val="19319d"/>
            </a:solidFill>
            <a:prstDash val="solid"/>
            <a:headEnd w="sm" len="sm"/>
            <a:tailEnd w="sm" len="sm"/>
          </a:ln>
        </p:spPr>
      </p:sp>
      <p:sp>
        <p:nvSpPr>
          <p:cNvPr id="16" name="Freeform 16"/>
          <p:cNvSpPr/>
          <p:nvPr/>
        </p:nvSpPr>
        <p:spPr>
          <a:xfrm>
            <a:off x="15809723" y="6603796"/>
            <a:ext cx="1449577" cy="1433763"/>
          </a:xfrm>
          <a:custGeom>
            <a:avLst/>
            <a:gdLst/>
            <a:rect l="l" t="t" r="r" b="b"/>
            <a:pathLst>
              <a:path w="1449577" h="1433763">
                <a:moveTo>
                  <a:pt x="0" y="0"/>
                </a:moveTo>
                <a:lnTo>
                  <a:pt x="1449577" y="0"/>
                </a:lnTo>
                <a:lnTo>
                  <a:pt x="1449577" y="1433763"/>
                </a:lnTo>
                <a:lnTo>
                  <a:pt x="0" y="1433763"/>
                </a:lnTo>
                <a:lnTo>
                  <a:pt x="0" y="0"/>
                </a:lnTo>
                <a:close/>
              </a:path>
            </a:pathLst>
          </a:custGeom>
          <a:blipFill rotWithShape="1">
            <a:blip r:embed="rId2"/>
            <a:stretch>
              <a:fillRect/>
            </a:stretch>
          </a:blipFill>
        </p:spPr>
      </p:sp>
      <p:sp>
        <p:nvSpPr>
          <p:cNvPr id="17" name="TextBox 17"/>
          <p:cNvSpPr txBox="1"/>
          <p:nvPr/>
        </p:nvSpPr>
        <p:spPr>
          <a:xfrm>
            <a:off x="2860922" y="4463623"/>
            <a:ext cx="12566156" cy="1289477"/>
          </a:xfrm>
          <a:prstGeom prst="rect">
            <a:avLst/>
          </a:prstGeom>
        </p:spPr>
        <p:txBody>
          <a:bodyPr lIns="0" tIns="0" rIns="0" bIns="0" anchor="t">
            <a:spAutoFit/>
          </a:bodyPr>
          <a:lstStyle/>
          <a:p>
            <a:pPr lvl="0" algn="ctr">
              <a:lnSpc>
                <a:spcPts val="10173"/>
              </a:lnSpc>
              <a:defRPr/>
            </a:pPr>
            <a:r>
              <a:rPr lang="ko-KR" altLang="en-US" sz="8000" b="1">
                <a:solidFill>
                  <a:srgbClr val="19319d"/>
                </a:solidFill>
                <a:latin typeface="Black Han Sans"/>
                <a:ea typeface="Black Han Sans"/>
                <a:cs typeface="Black Han Sans"/>
                <a:sym typeface="Black Han Sans"/>
              </a:rPr>
              <a:t>감사합니다</a:t>
            </a:r>
            <a:endParaRPr lang="ko-KR" altLang="en-US" sz="8000" b="1">
              <a:solidFill>
                <a:srgbClr val="19319d"/>
              </a:solidFill>
              <a:latin typeface="Black Han Sans"/>
              <a:ea typeface="Black Han Sans"/>
              <a:cs typeface="Black Han Sans"/>
              <a:sym typeface="Black Han Sans"/>
            </a:endParaRPr>
          </a:p>
        </p:txBody>
      </p:sp>
      <p:sp>
        <p:nvSpPr>
          <p:cNvPr id="18" name="TextBox 18"/>
          <p:cNvSpPr txBox="1"/>
          <p:nvPr/>
        </p:nvSpPr>
        <p:spPr>
          <a:xfrm>
            <a:off x="1028700" y="476747"/>
            <a:ext cx="4457297" cy="409078"/>
          </a:xfrm>
          <a:prstGeom prst="rect">
            <a:avLst/>
          </a:prstGeom>
        </p:spPr>
        <p:txBody>
          <a:bodyPr lIns="0" tIns="0" rIns="0" bIns="0" anchor="t">
            <a:spAutoFit/>
          </a:bodyPr>
          <a:lstStyle/>
          <a:p>
            <a:pPr marL="0" lvl="0" indent="0" algn="l">
              <a:lnSpc>
                <a:spcPts val="3213"/>
              </a:lnSpc>
              <a:spcBef>
                <a:spcPct val="0"/>
              </a:spcBef>
              <a:defRPr/>
            </a:pPr>
            <a:r>
              <a:rPr lang="en-US" sz="2100">
                <a:solidFill>
                  <a:srgbClr val="19319d"/>
                </a:solidFill>
                <a:latin typeface="210 디딤고딕 Light"/>
                <a:ea typeface="210 디딤고딕 Light"/>
                <a:cs typeface="210 디딤고딕 Light"/>
                <a:sym typeface="210 디딤고딕 Light"/>
              </a:rPr>
              <a:t>Project Report</a:t>
            </a:r>
            <a:endParaRPr lang="en-US" sz="2100">
              <a:solidFill>
                <a:srgbClr val="19319d"/>
              </a:solidFill>
              <a:latin typeface="210 디딤고딕 Light"/>
              <a:ea typeface="210 디딤고딕 Light"/>
              <a:cs typeface="210 디딤고딕 Light"/>
              <a:sym typeface="210 디딤고딕 Light"/>
            </a:endParaRPr>
          </a:p>
        </p:txBody>
      </p:sp>
      <p:sp>
        <p:nvSpPr>
          <p:cNvPr id="19" name="TextBox 19"/>
          <p:cNvSpPr txBox="1"/>
          <p:nvPr/>
        </p:nvSpPr>
        <p:spPr>
          <a:xfrm>
            <a:off x="8762584" y="9557702"/>
            <a:ext cx="3124616" cy="386398"/>
          </a:xfrm>
          <a:prstGeom prst="rect">
            <a:avLst/>
          </a:prstGeom>
        </p:spPr>
        <p:txBody>
          <a:bodyPr lIns="0" tIns="0" rIns="0" bIns="0" anchor="t">
            <a:spAutoFit/>
          </a:bodyPr>
          <a:lstStyle/>
          <a:p>
            <a:pPr lvl="0" algn="l">
              <a:lnSpc>
                <a:spcPts val="3079"/>
              </a:lnSpc>
              <a:defRPr/>
            </a:pPr>
            <a:r>
              <a:rPr lang="en-US" altLang="ko-KR" sz="2199">
                <a:solidFill>
                  <a:srgbClr val="fbfdff"/>
                </a:solidFill>
                <a:latin typeface="210 디딤고딕 Light"/>
                <a:ea typeface="210 디딤고딕 Light"/>
                <a:cs typeface="210 디딤고딕 Light"/>
                <a:sym typeface="210 디딤고딕 Light"/>
              </a:rPr>
              <a:t>sdjadygks@naver.com</a:t>
            </a:r>
            <a:endParaRPr lang="en-US" sz="2199">
              <a:solidFill>
                <a:srgbClr val="fbfdff"/>
              </a:solidFill>
              <a:latin typeface="210 디딤고딕 Light"/>
              <a:ea typeface="210 디딤고딕 Light"/>
              <a:cs typeface="210 디딤고딕 Light"/>
              <a:sym typeface="210 디딤고딕 Light"/>
            </a:endParaRPr>
          </a:p>
        </p:txBody>
      </p:sp>
      <p:sp>
        <p:nvSpPr>
          <p:cNvPr id="22" name="TextBox 22"/>
          <p:cNvSpPr txBox="1"/>
          <p:nvPr/>
        </p:nvSpPr>
        <p:spPr>
          <a:xfrm>
            <a:off x="7467184" y="9557702"/>
            <a:ext cx="1128632" cy="386398"/>
          </a:xfrm>
          <a:prstGeom prst="rect">
            <a:avLst/>
          </a:prstGeom>
        </p:spPr>
        <p:txBody>
          <a:bodyPr wrap="square" lIns="0" tIns="0" rIns="0" bIns="0" anchor="t">
            <a:spAutoFit/>
          </a:bodyPr>
          <a:lstStyle/>
          <a:p>
            <a:pPr marL="0" lvl="0" indent="0" algn="r">
              <a:lnSpc>
                <a:spcPts val="3079"/>
              </a:lnSpc>
              <a:spcBef>
                <a:spcPct val="0"/>
              </a:spcBef>
              <a:defRPr/>
            </a:pPr>
            <a:r>
              <a:rPr lang="ko-KR" altLang="en-US" sz="2199" u="none" strike="noStrike">
                <a:solidFill>
                  <a:srgbClr val="fbfdff"/>
                </a:solidFill>
                <a:latin typeface="210 디딤고딕 Light"/>
                <a:ea typeface="210 디딤고딕 Light"/>
                <a:cs typeface="210 디딤고딕 Light"/>
                <a:sym typeface="210 디딤고딕 Light"/>
              </a:rPr>
              <a:t>엄요한</a:t>
            </a:r>
            <a:endParaRPr lang="ko-KR" altLang="en-US" sz="2199" u="none" strike="noStrike">
              <a:solidFill>
                <a:srgbClr val="fbfdff"/>
              </a:solidFill>
              <a:latin typeface="210 디딤고딕 Light"/>
              <a:ea typeface="210 디딤고딕 Light"/>
              <a:cs typeface="210 디딤고딕 Light"/>
              <a:sym typeface="210 디딤고딕 Light"/>
            </a:endParaRPr>
          </a:p>
        </p:txBody>
      </p:sp>
      <p:sp>
        <p:nvSpPr>
          <p:cNvPr id="23" name="TextBox 23"/>
          <p:cNvSpPr txBox="1"/>
          <p:nvPr/>
        </p:nvSpPr>
        <p:spPr>
          <a:xfrm>
            <a:off x="12802003" y="476747"/>
            <a:ext cx="4457296" cy="409078"/>
          </a:xfrm>
          <a:prstGeom prst="rect">
            <a:avLst/>
          </a:prstGeom>
        </p:spPr>
        <p:txBody>
          <a:bodyPr lIns="0" tIns="0" rIns="0" bIns="0" anchor="t">
            <a:spAutoFit/>
          </a:bodyPr>
          <a:lstStyle/>
          <a:p>
            <a:pPr marL="0" lvl="0" indent="0" algn="r">
              <a:lnSpc>
                <a:spcPts val="3213"/>
              </a:lnSpc>
              <a:spcBef>
                <a:spcPct val="0"/>
              </a:spcBef>
              <a:defRPr/>
            </a:pPr>
            <a:r>
              <a:rPr lang="en-US" sz="2100">
                <a:solidFill>
                  <a:srgbClr val="19319d"/>
                </a:solidFill>
                <a:latin typeface="210 디딤고딕 Light"/>
                <a:ea typeface="210 디딤고딕 Light"/>
                <a:cs typeface="210 디딤고딕 Light"/>
                <a:sym typeface="210 디딤고딕 Light"/>
              </a:rPr>
              <a:t>Date. 20</a:t>
            </a:r>
            <a:r>
              <a:rPr lang="en-US" altLang="ko-KR" sz="2100">
                <a:solidFill>
                  <a:srgbClr val="19319d"/>
                </a:solidFill>
                <a:latin typeface="210 디딤고딕 Light"/>
                <a:ea typeface="210 디딤고딕 Light"/>
                <a:cs typeface="210 디딤고딕 Light"/>
                <a:sym typeface="210 디딤고딕 Light"/>
              </a:rPr>
              <a:t>25</a:t>
            </a:r>
            <a:r>
              <a:rPr lang="en-US" sz="2100">
                <a:solidFill>
                  <a:srgbClr val="19319d"/>
                </a:solidFill>
                <a:latin typeface="210 디딤고딕 Light"/>
                <a:ea typeface="210 디딤고딕 Light"/>
                <a:cs typeface="210 디딤고딕 Light"/>
                <a:sym typeface="210 디딤고딕 Light"/>
              </a:rPr>
              <a:t>.</a:t>
            </a:r>
            <a:r>
              <a:rPr lang="en-US" altLang="ko-KR" sz="2100">
                <a:solidFill>
                  <a:srgbClr val="19319d"/>
                </a:solidFill>
                <a:latin typeface="210 디딤고딕 Light"/>
                <a:ea typeface="210 디딤고딕 Light"/>
                <a:cs typeface="210 디딤고딕 Light"/>
                <a:sym typeface="210 디딤고딕 Light"/>
              </a:rPr>
              <a:t>10</a:t>
            </a:r>
            <a:r>
              <a:rPr lang="en-US" sz="2100">
                <a:solidFill>
                  <a:srgbClr val="19319d"/>
                </a:solidFill>
                <a:latin typeface="210 디딤고딕 Light"/>
                <a:ea typeface="210 디딤고딕 Light"/>
                <a:cs typeface="210 디딤고딕 Light"/>
                <a:sym typeface="210 디딤고딕 Light"/>
              </a:rPr>
              <a:t>.</a:t>
            </a:r>
            <a:r>
              <a:rPr lang="en-US" altLang="ko-KR" sz="2100">
                <a:solidFill>
                  <a:srgbClr val="19319d"/>
                </a:solidFill>
                <a:latin typeface="210 디딤고딕 Light"/>
                <a:ea typeface="210 디딤고딕 Light"/>
                <a:cs typeface="210 디딤고딕 Light"/>
                <a:sym typeface="210 디딤고딕 Light"/>
              </a:rPr>
              <a:t>12</a:t>
            </a:r>
            <a:endParaRPr lang="en-US" altLang="ko-KR" sz="2100">
              <a:solidFill>
                <a:srgbClr val="19319d"/>
              </a:solidFill>
              <a:latin typeface="210 디딤고딕 Light"/>
              <a:ea typeface="210 디딤고딕 Light"/>
              <a:cs typeface="210 디딤고딕 Light"/>
              <a:sym typeface="210 디딤고딕 Light"/>
            </a:endParaRPr>
          </a:p>
        </p:txBody>
      </p:sp>
      <p:sp>
        <p:nvSpPr>
          <p:cNvPr id="24" name="TextBox 24"/>
          <p:cNvSpPr txBox="1"/>
          <p:nvPr/>
        </p:nvSpPr>
        <p:spPr>
          <a:xfrm>
            <a:off x="4790349" y="2792392"/>
            <a:ext cx="8707300" cy="503258"/>
          </a:xfrm>
          <a:prstGeom prst="rect">
            <a:avLst/>
          </a:prstGeom>
        </p:spPr>
        <p:txBody>
          <a:bodyPr lIns="0" tIns="0" rIns="0" bIns="0" anchor="t">
            <a:spAutoFit/>
          </a:bodyPr>
          <a:lstStyle/>
          <a:p>
            <a:pPr marL="0" lvl="0" indent="0" algn="ctr">
              <a:lnSpc>
                <a:spcPts val="3971"/>
              </a:lnSpc>
              <a:spcBef>
                <a:spcPct val="0"/>
              </a:spcBef>
              <a:defRPr/>
            </a:pPr>
            <a:r>
              <a:rPr lang="ko-KR" altLang="en-US" sz="2837">
                <a:solidFill>
                  <a:srgbClr val="19319d"/>
                </a:solidFill>
                <a:latin typeface="210 디딤고딕 Bold"/>
                <a:ea typeface="210 디딤고딕 Bold"/>
                <a:cs typeface="210 디딤고딕 Bold"/>
                <a:sym typeface="210 디딤고딕 Bold"/>
              </a:rPr>
              <a:t>프로젝트 수행 보고서</a:t>
            </a:r>
            <a:endParaRPr lang="ko-KR" altLang="en-US" sz="2837">
              <a:solidFill>
                <a:srgbClr val="19319d"/>
              </a:solidFill>
              <a:latin typeface="210 디딤고딕 Bold"/>
              <a:ea typeface="210 디딤고딕 Bold"/>
              <a:cs typeface="210 디딤고딕 Bold"/>
              <a:sym typeface="210 디딤고딕 Bold"/>
            </a:endParaRPr>
          </a:p>
        </p:txBody>
      </p:sp>
    </p:spTree>
    <p:extLst>
      <p:ext uri="{BB962C8B-B14F-4D97-AF65-F5344CB8AC3E}">
        <p14:creationId xmlns:p14="http://schemas.microsoft.com/office/powerpoint/2010/main" val="4006283416"/>
      </p:ext>
    </p:extLst>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95959"/>
        </a:solidFill>
        <a:ln>
          <a:solidFill>
            <a:srgbClr val="595959"/>
          </a:solidFill>
        </a:ln>
      </a:spPr>
      <a:bodyPr anchor="ctr"/>
      <a:lstStyle>
        <a:defPPr lvl="0" algn="ctr">
          <a:defRPr lang="ko-KR" altLang="en-US">
            <a:solidFill>
              <a:srgbClr val="19319d"/>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body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921</ep:Words>
  <ep:PresentationFormat>On-screen Show (4:3)</ep:PresentationFormat>
  <ep:Paragraphs>149</ep:Paragraphs>
  <ep:Slides>29</ep:Slides>
  <ep:Notes>26</ep:Notes>
  <ep:TotalTime>0</ep:TotalTime>
  <ep:HiddenSlides>0</ep:HiddenSlides>
  <ep:MMClips>0</ep:MMClips>
  <ep:HeadingPairs>
    <vt:vector size="4" baseType="variant">
      <vt:variant>
        <vt:lpstr>테마</vt:lpstr>
      </vt:variant>
      <vt:variant>
        <vt:i4>1</vt:i4>
      </vt:variant>
      <vt:variant>
        <vt:lpstr>슬라이드 제목</vt:lpstr>
      </vt:variant>
      <vt:variant>
        <vt:i4>29</vt:i4>
      </vt:variant>
    </vt:vector>
  </ep:HeadingPairs>
  <ep:TitlesOfParts>
    <vt:vector size="30"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lpstr>슬라이드 25</vt:lpstr>
      <vt:lpstr>슬라이드 26</vt:lpstr>
      <vt:lpstr>슬라이드 27</vt:lpstr>
      <vt:lpstr>슬라이드 28</vt:lpstr>
      <vt:lpstr>슬라이드 29</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2006-08-16T00:00:00.000</dcterms:created>
  <cp:lastModifiedBy>user</cp:lastModifiedBy>
  <dcterms:modified xsi:type="dcterms:W3CDTF">2025-10-12T15:41:53.823</dcterms:modified>
  <cp:revision>118</cp:revision>
  <dc:title>파란색 흰색 심플한 마케팅 비즈니스 제안서 프레젠테이션</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